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Jensen Huang started Nvidia in 1993. Today he owns about three and a half percent of it.</a:t>
            </a:r>
          </a:p>
          <a:p/>
          <a:p>
            <a:r>
              <a:t>Visual: Ink portrait of Jensen in a leather jacket beside a share-of-company bar filling to 3.5%.</a:t>
            </a:r>
          </a:p>
          <a:p/>
          <a:p>
            <a:r>
              <a:t>On-screen: JENSEN HUANG: ~3.5%</a:t>
            </a:r>
          </a:p>
          <a:p/>
          <a:p>
            <a:r>
              <a:t>Animation: Ink portrait fades up; the share bar fills from 0 to 3.5% with a counter; light tick SFX.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company that owns more than twice that. About eight percent. It never designed a single chip.</a:t>
            </a:r>
          </a:p>
          <a:p/>
          <a:p>
            <a:r>
              <a:t>Visual: A second bar, labeled with a dark tower silhouette, fills past Jensen's to ~8%.</a:t>
            </a:r>
          </a:p>
          <a:p/>
          <a:p>
            <a:r>
              <a:t>On-screen: BLACKROCK: ~8%</a:t>
            </a:r>
          </a:p>
          <a:p/>
          <a:p>
            <a:r>
              <a:t>Animation: A second bar topped with a tower silhouette fills past his, slowly, to about 8%; low string swell.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holds roughly seven to eight percent of Apple and Microsoft too, and a stake in almost every big company in America.</a:t>
            </a:r>
          </a:p>
          <a:p/>
          <a:p>
            <a:r>
              <a:t>Visual: Grid of plain company tiles (APPLE, MICROSOFT, AMAZON, ALPHABET...) each getting a small dark ownership wedge.</a:t>
            </a:r>
          </a:p>
          <a:p/>
          <a:p>
            <a:r>
              <a:t>On-screen: -</a:t>
            </a:r>
          </a:p>
          <a:p/>
          <a:p>
            <a:r>
              <a:t>Animation: Company tiles pop in on a stagger; a dark wedge grows in the corner of each, one after another.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Its name is BlackRock. It has no factory, no product you can hold, and no shop.</a:t>
            </a:r>
          </a:p>
          <a:p/>
          <a:p>
            <a:r>
              <a:t>Visual: Night skyline of Manhattan; a black glass tower; the camera pushes in on the lit top floors.</a:t>
            </a:r>
          </a:p>
          <a:p/>
          <a:p>
            <a:r>
              <a:t>On-screen: BLACKROCK</a:t>
            </a:r>
          </a:p>
          <a:p/>
          <a:p>
            <a:r>
              <a:t>Animation: Night skyline with parallax layers; slow push in on the lit top floors of the black tower; city hum.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yet by the middle of 2026 it was managing fifteen point three trillion dollars of other people's money.</a:t>
            </a:r>
          </a:p>
          <a:p/>
          <a:p>
            <a:r>
              <a:t>Visual: AUM meter coin stack shoots up to $15.3T.</a:t>
            </a:r>
          </a:p>
          <a:p/>
          <a:p>
            <a:r>
              <a:t>On-screen: $15.3 TRILLION</a:t>
            </a:r>
          </a:p>
          <a:p/>
          <a:p>
            <a:r>
              <a:t>Animation: Coin stack shoots up with eased overshoot as the counter races to $15.3T; coin cascade SFX.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more than the yearly economic output of India, Japan and France put together.</a:t>
            </a:r>
          </a:p>
          <a:p/>
          <a:p>
            <a:r>
              <a:t>Visual: World map: India, Japan and France light up; their GDP bars stack beside BlackRock's single taller bar.</a:t>
            </a:r>
          </a:p>
          <a:p/>
          <a:p>
            <a:r>
              <a:t>On-screen: &gt; INDIA + JAPAN + FRANCE</a:t>
            </a:r>
          </a:p>
          <a:p/>
          <a:p>
            <a:r>
              <a:t>Animation: India, Japan, France light up in turn; their GDP bars stack beside one taller BlackRock bar.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Politicians on the right accuse it of pushing a climate agenda. Critics on the left call it a symbol of Wall Street's reach. States have taken it to court.</a:t>
            </a:r>
          </a:p>
          <a:p/>
          <a:p>
            <a:r>
              <a:t>Visual: Split frame of two podiums with silhouetted speakers, then a courthouse.</a:t>
            </a:r>
          </a:p>
          <a:p/>
          <a:p>
            <a:r>
              <a:t>On-screen: -</a:t>
            </a:r>
          </a:p>
          <a:p/>
          <a:p>
            <a:r>
              <a:t>Animation: Two podium silhouettes argue (talk mouths, pointing); pan right to the courthouse steps.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how does a company that makes nothing end up owning a piece of everything? It starts with one banker losing a hundred million dollars.</a:t>
            </a:r>
          </a:p>
          <a:p/>
          <a:p>
            <a:r>
              <a:t>Visual: A trading screen in 1980s green text flashes a red loss; push into a worried face.</a:t>
            </a:r>
          </a:p>
          <a:p/>
          <a:p>
            <a:r>
              <a:t>On-screen: -$100,000,000</a:t>
            </a:r>
          </a:p>
          <a:p/>
          <a:p>
            <a:r>
              <a:t>Animation: Green-text screen flashes a red loss; push into a worried face; a phone keeps ringing.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t>
            </a:r>
          </a:p>
          <a:p/>
          <a:p>
            <a:r>
              <a:t>Visual: Title card over the black tower at night.</a:t>
            </a:r>
          </a:p>
          <a:p/>
          <a:p>
            <a:r>
              <a:t>On-screen: THE COMPANY THAT OWNS EVERYTHING</a:t>
            </a:r>
          </a:p>
          <a:p/>
          <a:p>
            <a:r>
              <a:t>Animation: Title scales in over the tower at night; window lights flicker on; deep hit.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New York, the early 1980s. Larry Fink is a young bond trader at the investment bank First Boston, and he is a star.</a:t>
            </a:r>
          </a:p>
          <a:p/>
          <a:p>
            <a:r>
              <a:t>Visual: Smoky 1980s trading floor, phones, paper tickets; young Fink in shirt sleeves at the center desk.</a:t>
            </a:r>
          </a:p>
          <a:p/>
          <a:p>
            <a:r>
              <a:t>On-screen: FIRST BOSTON · 1980s</a:t>
            </a:r>
          </a:p>
          <a:p/>
          <a:p>
            <a:r>
              <a:t>Animation: Smoky 1980s floor; traders gesture and shout on phones (looping arm moves); paper slips flutter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His desk helps build a new kind of product out of something very ordinary: home loans.</a:t>
            </a:r>
          </a:p>
          <a:p/>
          <a:p>
            <a:r>
              <a:t>Visual: A suburban street of houses; each house drops a small loan document into a funnel.</a:t>
            </a:r>
          </a:p>
          <a:p/>
          <a:p>
            <a:r>
              <a:t>On-screen: -</a:t>
            </a:r>
          </a:p>
          <a:p/>
          <a:p>
            <a:r>
              <a:t>Animation: Each house drops a loan document that slides along a path into a funnel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bank that lends out a hundred million dollars in mortgages has to wait up to thirty years to get it all back.</a:t>
            </a:r>
          </a:p>
          <a:p/>
          <a:p>
            <a:r>
              <a:t>Visual: Bank clerk stares at a 30-year calendar that unrolls across the floor.</a:t>
            </a:r>
          </a:p>
          <a:p/>
          <a:p>
            <a:r>
              <a:t>On-screen: 30 YEARS</a:t>
            </a:r>
          </a:p>
          <a:p/>
          <a:p>
            <a:r>
              <a:t>Animation: The calendar unrolls across the floor with a paper whoosh; the clerk's head follows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Wall Street buys those loans, pools them, and sells bonds backed by the monthly payments. Investors get the interest; the bank gets its cash back today.</a:t>
            </a:r>
          </a:p>
          <a:p/>
          <a:p>
            <a:r>
              <a:t>Visual: Diagram: houses → pool → bond certificates → investors; money flows back to the bank.</a:t>
            </a:r>
          </a:p>
          <a:p/>
          <a:p>
            <a:r>
              <a:t>On-screen: MORTGAGE-BACKED BONDS</a:t>
            </a:r>
          </a:p>
          <a:p/>
          <a:p>
            <a:r>
              <a:t>Animation: Diagram draws left to right on each word; arrows animate; coins loop back to the bank.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 simplified version of the trick that made it so profitable.</a:t>
            </a:r>
          </a:p>
          <a:p/>
          <a:p>
            <a:r>
              <a:t>Visual: Ledger-paper card titled 'SIMPLIFIED EXAMPLE'.</a:t>
            </a:r>
          </a:p>
          <a:p/>
          <a:p>
            <a:r>
              <a:t>On-screen: SIMPLIFIED EXAMPLE</a:t>
            </a:r>
          </a:p>
          <a:p/>
          <a:p>
            <a:r>
              <a:t>Animation: Ledger card slides up with a paper SFX and holds.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a hundred million dollars of home loans paying nine percent. That's about nine million dollars of interest in the first year.</a:t>
            </a:r>
          </a:p>
          <a:p/>
          <a:p>
            <a:r>
              <a:t>Visual: Pool block labeled $100M at 9% with $9M of coins dripping out.</a:t>
            </a:r>
          </a:p>
          <a:p/>
          <a:p>
            <a:r>
              <a:t>On-screen: $100M · 9%</a:t>
            </a:r>
          </a:p>
          <a:p/>
          <a:p>
            <a:r>
              <a:t>Animation: Coins drip out of the pool block and pile up below, counter to $9M.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cut the pool into three bonds that stand in a queue. When homeowners pay back their loans, bond A is paid first, then B, then C.</a:t>
            </a:r>
          </a:p>
          <a:p/>
          <a:p>
            <a:r>
              <a:t>Visual: Three stacked blocks A, B, C form a queue; principal coins flow to A first.</a:t>
            </a:r>
          </a:p>
          <a:p/>
          <a:p>
            <a:r>
              <a:t>On-screen: A → B → C</a:t>
            </a:r>
          </a:p>
          <a:p/>
          <a:p>
            <a:r>
              <a:t>Animation: Blocks stack into a queue; principal coins flow to A first, then B, then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is safest, so it gets the lowest rate, say six percent. B gets seven. C takes the most risk and gets eight.</a:t>
            </a:r>
          </a:p>
          <a:p/>
          <a:p>
            <a:r>
              <a:t>Visual: Blocks resize: A $50M 6%, B $30M 7%, C $20M 8%.</a:t>
            </a:r>
          </a:p>
          <a:p/>
          <a:p>
            <a:r>
              <a:t>On-screen: A 6% · B 7% · C 8%</a:t>
            </a:r>
          </a:p>
          <a:p/>
          <a:p>
            <a:r>
              <a:t>Animation: Blocks resize smoothly to their amounts; labels type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Add it up and the three bonds pay out about six point seven million. The homeowners still pay nine. The gap, more than two million a year, is the packager's to share out.</a:t>
            </a:r>
          </a:p>
          <a:p/>
          <a:p>
            <a:r>
              <a:t>Visual: Two coin stacks compared: $9M in, $6.7M out; the $2.3M difference glows gold.</a:t>
            </a:r>
          </a:p>
          <a:p/>
          <a:p>
            <a:r>
              <a:t>On-screen: $2.3M GAP</a:t>
            </a:r>
          </a:p>
          <a:p/>
          <a:p>
            <a:r>
              <a:t>Animation: Two stacks compared side by side; the $2.3M gap glows gold and pulses.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was built. The same payments were just sliced and arranged. Fink's desk made First Boston a fortune doing it.</a:t>
            </a:r>
          </a:p>
          <a:p/>
          <a:p>
            <a:r>
              <a:t>Visual: Fink smiles as gold ticker tape rains on the trading floor.</a:t>
            </a:r>
          </a:p>
          <a:p/>
          <a:p>
            <a:r>
              <a:t>On-screen: -</a:t>
            </a:r>
          </a:p>
          <a:p/>
          <a:p>
            <a:r>
              <a:t>Animation: Fink smiles; gold ticker tape rains down; a crowd cheer under the music.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in 1986, it went wrong in a way most people wouldn't expect.</a:t>
            </a:r>
          </a:p>
          <a:p/>
          <a:p>
            <a:r>
              <a:t>Visual: The trading floor lights shift from gold to cold blue.</a:t>
            </a:r>
          </a:p>
          <a:p/>
          <a:p>
            <a:r>
              <a:t>On-screen: 1986</a:t>
            </a:r>
          </a:p>
          <a:p/>
          <a:p>
            <a:r>
              <a:t>Animation: Light grade shifts from warm gold to cold blue over 2 s; the room slows down.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danger everyone watched for was homeowners who stopped paying. Fink's problem was the opposite. Rates fell, and homeowners paid back early.</a:t>
            </a:r>
          </a:p>
          <a:p/>
          <a:p>
            <a:r>
              <a:t>Visual: A family at a kitchen table reads a bank ad: NEW LOANS AT 7%.</a:t>
            </a:r>
          </a:p>
          <a:p/>
          <a:p>
            <a:r>
              <a:t>On-screen: -</a:t>
            </a:r>
          </a:p>
          <a:p/>
          <a:p>
            <a:r>
              <a:t>Animation: Family at the table reads the ad; they look at each other; ad text circles in red.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a family with a two hundred thousand dollar loan at nine percent. Their payment is about sixteen hundred dollars a month for thirty years.</a:t>
            </a:r>
          </a:p>
          <a:p/>
          <a:p>
            <a:r>
              <a:t>Visual: Loan card: $200,000 · 9% · $1,609/month.</a:t>
            </a:r>
          </a:p>
          <a:p/>
          <a:p>
            <a:r>
              <a:t>On-screen: $1,609 / MONTH</a:t>
            </a:r>
          </a:p>
          <a:p/>
          <a:p>
            <a:r>
              <a:t>Animation: Loan card slides in; numbers type on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 bank down the road offers seven percent, they take a new loan, pay off the old one, and walk out.</a:t>
            </a:r>
          </a:p>
          <a:p/>
          <a:p>
            <a:r>
              <a:t>Visual: The family walks from one bank to another with a briefcase; the old loan document is stamped PAID.</a:t>
            </a:r>
          </a:p>
          <a:p/>
          <a:p>
            <a:r>
              <a:t>On-screen: -</a:t>
            </a:r>
          </a:p>
          <a:p/>
          <a:p>
            <a:r>
              <a:t>Animation: Family walks bank to bank (walk cycles); the old document gets a PAID stamp slam.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whoever owned that old loan, thirty years of nine percent interest simply disappears.</a:t>
            </a:r>
          </a:p>
          <a:p/>
          <a:p>
            <a:r>
              <a:t>Visual: The 30-year calendar from Act 1 burns away from the end.</a:t>
            </a:r>
          </a:p>
          <a:p/>
          <a:p>
            <a:r>
              <a:t>On-screen: -</a:t>
            </a:r>
          </a:p>
          <a:p/>
          <a:p>
            <a:r>
              <a:t>Animation: The calendar burns from the end toward the start (ember edge, smoke).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Fink's desk had bet the wrong way on rates. It lost about a hundred million dollars.</a:t>
            </a:r>
          </a:p>
          <a:p/>
          <a:p>
            <a:r>
              <a:t>Visual: The red loss figure from the cold open, now full screen.</a:t>
            </a:r>
          </a:p>
          <a:p/>
          <a:p>
            <a:r>
              <a:t>On-screen: -$100M</a:t>
            </a:r>
          </a:p>
          <a:p/>
          <a:p>
            <a:r>
              <a:t>Animation: Red loss number fills the screen; quick shake on impact; alarm drone.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star became the man who lost a hundred million. Within two years, he left First Boston.</a:t>
            </a:r>
          </a:p>
          <a:p/>
          <a:p>
            <a:r>
              <a:t>Visual: Fink walks out of the building alone with a box under his arm, rain on the street.</a:t>
            </a:r>
          </a:p>
          <a:p/>
          <a:p>
            <a:r>
              <a:t>On-screen: 1988</a:t>
            </a:r>
          </a:p>
          <a:p/>
          <a:p>
            <a:r>
              <a:t>Animation: Rain falls; Fink walks out with a box, alone; puddle reflections; slow.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 later said the lesson was simple. His team had been brilliant at making money and had no real idea how much risk it was carrying.</a:t>
            </a:r>
          </a:p>
          <a:p/>
          <a:p>
            <a:r>
              <a:t>Visual: Close on Fink in a dim office, looking at a blank notepad.</a:t>
            </a:r>
          </a:p>
          <a:p/>
          <a:p>
            <a:r>
              <a:t>On-screen: RISK</a:t>
            </a:r>
          </a:p>
          <a:p/>
          <a:p>
            <a:r>
              <a:t>Animation: Dim office, slow push in; he stares at a blank notepad; a pen taps.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1988, Fink and a small group of partners set up a new firm inside the offices of the private equity company Blackstone.</a:t>
            </a:r>
          </a:p>
          <a:p/>
          <a:p>
            <a:r>
              <a:t>Visual: Late-80s office with boxes still packed; eight founders around a table.</a:t>
            </a:r>
          </a:p>
          <a:p/>
          <a:p>
            <a:r>
              <a:t>On-screen: 1988 · NEW YORK</a:t>
            </a:r>
          </a:p>
          <a:p/>
          <a:p>
            <a:r>
              <a:t>Animation: Eight founders around a table; heads turn to each speaker; boxes still taped.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was called Blackstone Financial Management. A few years later it took a new name: BlackRock.</a:t>
            </a:r>
          </a:p>
          <a:p/>
          <a:p>
            <a:r>
              <a:t>Visual: Name plate on a door; 'BLACKSTONE FINANCIAL MANAGEMENT' is painted over with 'BLACKROCK'.</a:t>
            </a:r>
          </a:p>
          <a:p/>
          <a:p>
            <a:r>
              <a:t>On-screen: BLACKROCK · 1992</a:t>
            </a:r>
          </a:p>
          <a:p/>
          <a:p>
            <a:r>
              <a:t>Animation: Painter's brush wipes the old name off the door; BLACKROCK paints 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pitch to clients was about protection more than prediction: we will show you what could go wrong with your money before it happens.</a:t>
            </a:r>
          </a:p>
          <a:p/>
          <a:p>
            <a:r>
              <a:t>Visual: Fink at a client meeting, sliding a printed risk report across the table.</a:t>
            </a:r>
          </a:p>
          <a:p/>
          <a:p>
            <a:r>
              <a:t>On-screen: -</a:t>
            </a:r>
          </a:p>
          <a:p/>
          <a:p>
            <a:r>
              <a:t>Animation: Fink slides the report across; the client picks it up and reads.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To do that, they built software that ran on a single workstation at first. They called it Aladdin.</a:t>
            </a:r>
          </a:p>
          <a:p/>
          <a:p>
            <a:r>
              <a:t>Visual: 3D early computer workstation on a desk, green text scrolling; then it multiplies into a modern server hall.</a:t>
            </a:r>
          </a:p>
          <a:p/>
          <a:p>
            <a:r>
              <a:t>On-screen: ALADDIN</a:t>
            </a:r>
          </a:p>
          <a:p/>
          <a:p>
            <a:r>
              <a:t>Animation: Workstation rotates in 3D; green text scrolls; pull back as it multiplies into rows of servers.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Aladdin asks 'what if?' across every holding. What if interest rates jump? What if oil collapses? What if borrowers stop paying?</a:t>
            </a:r>
          </a:p>
          <a:p/>
          <a:p>
            <a:r>
              <a:t>Visual: Three what-if cards orbit a portfolio pie; each card makes a slice shrink or grow.</a:t>
            </a:r>
          </a:p>
          <a:p/>
          <a:p>
            <a:r>
              <a:t>On-screen: WHAT IF?</a:t>
            </a:r>
          </a:p>
          <a:p/>
          <a:p>
            <a:r>
              <a:t>Animation: Three what-if cards orbit the pie; each touch makes a slice shrink or grow.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runs thousands of scenarios and shows how each one would hit a portfolio, loan by loan and bond by bond.</a:t>
            </a:r>
          </a:p>
          <a:p/>
          <a:p>
            <a:r>
              <a:t>Visual: A grid of tiny scenario tiles lights up, feeding a single risk gauge.</a:t>
            </a:r>
          </a:p>
          <a:p/>
          <a:p>
            <a:r>
              <a:t>On-screen: -</a:t>
            </a:r>
          </a:p>
          <a:p/>
          <a:p>
            <a:r>
              <a:t>Animation: Hundreds of tiny tiles light up in waves and feed the gauge, whose needle swings.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Over time BlackRock began renting Aladdin to other investors: pension funds, insurers, even rival asset managers.</a:t>
            </a:r>
          </a:p>
          <a:p/>
          <a:p>
            <a:r>
              <a:t>Visual: Lines spread from the server hall to buildings labeled PENSION FUND, INSURER, BANK.</a:t>
            </a:r>
          </a:p>
          <a:p/>
          <a:p>
            <a:r>
              <a:t>On-screen: -</a:t>
            </a:r>
          </a:p>
          <a:p/>
          <a:p>
            <a:r>
              <a:t>Animation: Glowing lines spread from the server hall to each building, one by one.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Today it helps watch over trillions of dollars, much of it not BlackRock's own.</a:t>
            </a:r>
          </a:p>
          <a:p/>
          <a:p>
            <a:r>
              <a:t>Visual: The server hall glows; the AUM meter adds a separate translucent stack for 'monitored'.</a:t>
            </a:r>
          </a:p>
          <a:p/>
          <a:p>
            <a:r>
              <a:t>On-screen: TRILLIONS MONITORED</a:t>
            </a:r>
          </a:p>
          <a:p/>
          <a:p>
            <a:r>
              <a:t>Animation: The hall glows; a translucent second stack rises next to the AUM meter.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2008, the same family of products Fink had helped pioneer blew up the world's banks.</a:t>
            </a:r>
          </a:p>
          <a:p/>
          <a:p>
            <a:r>
              <a:t>Visual: Wall Street at dusk; screens across a trading floor flash red.</a:t>
            </a:r>
          </a:p>
          <a:p/>
          <a:p>
            <a:r>
              <a:t>On-screen: 2008</a:t>
            </a:r>
          </a:p>
          <a:p/>
          <a:p>
            <a:r>
              <a:t>Animation: Screens flip to red in a cascade left to right; alarm tones; dusk light.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Millions of American mortgages had been pooled, sliced and resold, many of them to borrowers who couldn't keep paying.</a:t>
            </a:r>
          </a:p>
          <a:p/>
          <a:p>
            <a:r>
              <a:t>Visual: Houses with FORECLOSURE signs; the pool funnel from Act 1 now pours out torn certificates.</a:t>
            </a:r>
          </a:p>
          <a:p/>
          <a:p>
            <a:r>
              <a:t>On-screen: -</a:t>
            </a:r>
          </a:p>
          <a:p/>
          <a:p>
            <a:r>
              <a:t>Animation: Signs pop up house by house; the funnel now spits out torn certificates.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house prices fell, nobody could tell which slices were still worth something and which were worthless.</a:t>
            </a:r>
          </a:p>
          <a:p/>
          <a:p>
            <a:r>
              <a:t>Visual: Bankers rifle through mountains of identical bond papers with magnifying glasses.</a:t>
            </a:r>
          </a:p>
          <a:p/>
          <a:p>
            <a:r>
              <a:t>On-screen: WHAT IS IT WORTH?</a:t>
            </a:r>
          </a:p>
          <a:p/>
          <a:p>
            <a:r>
              <a:t>Animation: Bankers dig through paper mountains with magnifiers; paper flies.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BlackRock had something almost nobody else had: twenty years of data and a machine built to answer exactly that question.</a:t>
            </a:r>
          </a:p>
          <a:p/>
          <a:p>
            <a:r>
              <a:t>Visual: The Aladdin server hall hums; one screen shows a loan-by-loan breakdown.</a:t>
            </a:r>
          </a:p>
          <a:p/>
          <a:p>
            <a:r>
              <a:t>On-screen: -</a:t>
            </a:r>
          </a:p>
          <a:p/>
          <a:p>
            <a:r>
              <a:t>Animation: One screen zooms to a loan-by-loan list scrolling fast; hum SFX.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US government hired it. The Federal Reserve and the Treasury brought BlackRock in to value and manage the toxic assets of Bear Stearns and AIG, and to advise on others.</a:t>
            </a:r>
          </a:p>
          <a:p/>
          <a:p>
            <a:r>
              <a:t>Visual: Painted Federal Reserve building; a phone rings on Fink's desk.</a:t>
            </a:r>
          </a:p>
          <a:p/>
          <a:p>
            <a:r>
              <a:t>On-screen: HIRED BY WASHINGTON</a:t>
            </a:r>
          </a:p>
          <a:p/>
          <a:p>
            <a:r>
              <a:t>Animation: Painted Fed building; cut to the phone on Fink's desk ringing and shaking.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firm that had grown out of one banker's loss became the firm Washington called to clean up the losses.</a:t>
            </a:r>
          </a:p>
          <a:p/>
          <a:p>
            <a:r>
              <a:t>Visual: Fink walks up the steps of a federal building.</a:t>
            </a:r>
          </a:p>
          <a:p/>
          <a:p>
            <a:r>
              <a:t>On-screen: -</a:t>
            </a:r>
          </a:p>
          <a:p/>
          <a:p>
            <a:r>
              <a:t>Animation: Fink walks up the steps; tilt up with him to the columns.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happened again in 2020. When Covid froze the markets, the Federal Reserve hired BlackRock to run its emergency programme for buying corporate bonds.</a:t>
            </a:r>
          </a:p>
          <a:p/>
          <a:p>
            <a:r>
              <a:t>Visual: 2020 empty city streets; a Fed memo with 'BLACKROCK' as manager; masks on the trading floor.</a:t>
            </a:r>
          </a:p>
          <a:p/>
          <a:p>
            <a:r>
              <a:t>On-screen: 2020</a:t>
            </a:r>
          </a:p>
          <a:p/>
          <a:p>
            <a:r>
              <a:t>Animation: Empty streets; a memo slides in with BLACKROCK highlighted; masked traders.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Some of that buying went into BlackRock's own bond ETFs, under rules the Fed had approved. Critics noticed.</a:t>
            </a:r>
          </a:p>
          <a:p/>
          <a:p>
            <a:r>
              <a:t>Visual: A thin line connects the Fed's shopping cart to a BlackRock ETF tile; a raised-eyebrow cartoon reporter.</a:t>
            </a:r>
          </a:p>
          <a:p/>
          <a:p>
            <a:r>
              <a:t>On-screen: -</a:t>
            </a:r>
          </a:p>
          <a:p/>
          <a:p>
            <a:r>
              <a:t>Animation: A thin line draws from the cart to the ETF tile; a cartoon reporter raises one eyebrow.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in 2009, while most of Wall Street was still on its knees, BlackRock made the biggest bet in its history.</a:t>
            </a:r>
          </a:p>
          <a:p/>
          <a:p>
            <a:r>
              <a:t>Visual: Empty trading floors; BlackRock's tower is the only one lit.</a:t>
            </a:r>
          </a:p>
          <a:p/>
          <a:p>
            <a:r>
              <a:t>On-screen: 2009</a:t>
            </a:r>
          </a:p>
          <a:p/>
          <a:p>
            <a:r>
              <a:t>Animation: Other towers go dark one by one; only BlackRock stays lit.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bought Barclays Global Investors from the British bank Barclays for about thirteen and a half billion dollars.</a:t>
            </a:r>
          </a:p>
          <a:p/>
          <a:p>
            <a:r>
              <a:t>Visual: Two negotiating tables join; a contract with '$13.5B' is signed.</a:t>
            </a:r>
          </a:p>
          <a:p/>
          <a:p>
            <a:r>
              <a:t>On-screen: $13.5 BILLION</a:t>
            </a:r>
          </a:p>
          <a:p/>
          <a:p>
            <a:r>
              <a:t>Animation: Two tables slide together; a pen signs the contract; signature draws 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that deal was a business called iShares, the biggest maker of exchange-traded funds, or ETFs, in the world.</a:t>
            </a:r>
          </a:p>
          <a:p/>
          <a:p>
            <a:r>
              <a:t>Visual: A 3D box labeled ISHARES opens to reveal rows of ETF tiles.</a:t>
            </a:r>
          </a:p>
          <a:p/>
          <a:p>
            <a:r>
              <a:t>On-screen: iSHARES</a:t>
            </a:r>
          </a:p>
          <a:p/>
          <a:p>
            <a:r>
              <a:t>Animation: 3D box lid opens; ETF tiles rise out in rows.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Overnight, BlackRock went from managing about one point three trillion dollars to more than three trillion.</a:t>
            </a:r>
          </a:p>
          <a:p/>
          <a:p>
            <a:r>
              <a:t>Visual: AUM meter jumps from ~$1.3T to $3T+.</a:t>
            </a:r>
          </a:p>
          <a:p/>
          <a:p>
            <a:r>
              <a:t>On-screen: $3 TRILLION</a:t>
            </a:r>
          </a:p>
          <a:p/>
          <a:p>
            <a:r>
              <a:t>Animation: AUM meter jumps with a big counter roll; coin rush SFX.</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To see why that mattered so much, you need to understand what an ETF actually is.</a:t>
            </a:r>
          </a:p>
          <a:p/>
          <a:p>
            <a:r>
              <a:t>Visual: Push into a single ETF tile.</a:t>
            </a:r>
          </a:p>
          <a:p/>
          <a:p>
            <a:r>
              <a:t>On-screen: -</a:t>
            </a:r>
          </a:p>
          <a:p/>
          <a:p>
            <a:r>
              <a:t>Animation: Push into a single ETF tile until it fills the frame (transition).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decades, the normal way to invest was to hand your savings to a fund manager who picked stocks for you.</a:t>
            </a:r>
          </a:p>
          <a:p/>
          <a:p>
            <a:r>
              <a:t>Visual: An investor hands a jar of coins to a fund manager in a suit behind a big desk.</a:t>
            </a:r>
          </a:p>
          <a:p/>
          <a:p>
            <a:r>
              <a:t>On-screen: -</a:t>
            </a:r>
          </a:p>
          <a:p/>
          <a:p>
            <a:r>
              <a:t>Animation: Investor hands the coin jar over the desk; manager takes it with a smile.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paid a yearly fee, often around one percent or more, whether the manager did well or not.</a:t>
            </a:r>
          </a:p>
          <a:p/>
          <a:p>
            <a:r>
              <a:t>Visual: A fee meter takes a slice off the coin jar every year.</a:t>
            </a:r>
          </a:p>
          <a:p/>
          <a:p>
            <a:r>
              <a:t>On-screen: ~1%+ A YEAR</a:t>
            </a:r>
          </a:p>
          <a:p/>
          <a:p>
            <a:r>
              <a:t>Animation: A slice is cut out of the jar each year; a calendar ticks 1, 2, 3.</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most managers didn't beat the market. Over fifteen years, around nine in ten large US stock funds did worse than the S&amp;P 500 index.</a:t>
            </a:r>
          </a:p>
          <a:p/>
          <a:p>
            <a:r>
              <a:t>Visual: Ten little fund-manager figures race a line labeled S&amp;P 500; nine fall behind.</a:t>
            </a:r>
          </a:p>
          <a:p/>
          <a:p>
            <a:r>
              <a:t>On-screen: ~9 IN 10 LOSE</a:t>
            </a:r>
          </a:p>
          <a:p/>
          <a:p>
            <a:r>
              <a:t>Animation: Ten managers run beside the index line; nine slow and drop behind (run cycles).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someone asked an obvious question. If the index is so hard to beat, why not just buy the index?</a:t>
            </a:r>
          </a:p>
          <a:p/>
          <a:p>
            <a:r>
              <a:t>Visual: A light bulb over a figure holding a list of 500 companies.</a:t>
            </a:r>
          </a:p>
          <a:p/>
          <a:p>
            <a:r>
              <a:t>On-screen: -</a:t>
            </a:r>
          </a:p>
          <a:p/>
          <a:p>
            <a:r>
              <a:t>Animation: A bulb flicks on above his head; he holds up the list.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S&amp;P 500 is a list of five hundred of the biggest US companies, each with a weight. Bigger companies get a bigger share.</a:t>
            </a:r>
          </a:p>
          <a:p/>
          <a:p>
            <a:r>
              <a:t>Visual: A tall list scrolls; the top entries have the widest bars.</a:t>
            </a:r>
          </a:p>
          <a:p/>
          <a:p>
            <a:r>
              <a:t>On-screen: S&amp;P 500</a:t>
            </a:r>
          </a:p>
          <a:p/>
          <a:p>
            <a:r>
              <a:t>Animation: A tall list scrolls upward; top entries have the widest bars.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index fund copies that list exactly. Put in ten thousand dollars, and a program splits it by those weights. No meetings. No stock picking.</a:t>
            </a:r>
          </a:p>
          <a:p/>
          <a:p>
            <a:r>
              <a:t>Visual: $10,000 pours into a funnel and splits into 500 thin streams of different widths.</a:t>
            </a:r>
          </a:p>
          <a:p/>
          <a:p>
            <a:r>
              <a:t>On-screen: $10,000 → 500 COMPANIES</a:t>
            </a:r>
          </a:p>
          <a:p/>
          <a:p>
            <a:r>
              <a:t>Animation: Money pours into the funnel and splits into 500 thin streams.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the market rises five percent, you rise five percent. If it falls, everyone falls with you.</a:t>
            </a:r>
          </a:p>
          <a:p/>
          <a:p>
            <a:r>
              <a:t>Visual: The investor's jar rises and falls in lockstep with the index line.</a:t>
            </a:r>
          </a:p>
          <a:p/>
          <a:p>
            <a:r>
              <a:t>On-screen: -</a:t>
            </a:r>
          </a:p>
          <a:p/>
          <a:p>
            <a:r>
              <a:t>Animation: The jar rises and falls in step with the index line.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Because there's no star manager to pay, the fee can be tiny. BlackRock's main S&amp;P 500 ETF charges about three hundredths of one percent.</a:t>
            </a:r>
          </a:p>
          <a:p/>
          <a:p>
            <a:r>
              <a:t>Visual: Fee comparison: 1% vs 0.03%; at $1 million, $10,000 a year vs $300.</a:t>
            </a:r>
          </a:p>
          <a:p/>
          <a:p>
            <a:r>
              <a:t>On-screen: 1% vs 0.03%</a:t>
            </a:r>
          </a:p>
          <a:p/>
          <a:p>
            <a:r>
              <a:t>Animation: Two fee bars grow; the cheap one stays tiny; numbers count.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That's the whole product. Cheap, simple, and very hard to argue with.</a:t>
            </a:r>
          </a:p>
          <a:p/>
          <a:p>
            <a:r>
              <a:t>Visual: The ETF tile glows; a line of ordinary savers forms behind it.</a:t>
            </a:r>
          </a:p>
          <a:p/>
          <a:p>
            <a:r>
              <a:t>On-screen: -</a:t>
            </a:r>
          </a:p>
          <a:p/>
          <a:p>
            <a:r>
              <a:t>Animation: The tile glows; ordinary savers walk in and form a line behind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Over the next fifteen years, Americans moved trillions of dollars into index funds. A big share of it went to BlackRock.</a:t>
            </a:r>
          </a:p>
          <a:p/>
          <a:p>
            <a:r>
              <a:t>Visual: Rivers of coins flow from houses, pension funds and phones into the black tower.</a:t>
            </a:r>
          </a:p>
          <a:p/>
          <a:p>
            <a:r>
              <a:t>On-screen: -</a:t>
            </a:r>
          </a:p>
          <a:p/>
          <a:p>
            <a:r>
              <a:t>Animation: Rivers of coins flow from houses, funds and phones into the tower (particle streams).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By 2026, iShares alone held more than six trillion dollars.</a:t>
            </a:r>
          </a:p>
          <a:p/>
          <a:p>
            <a:r>
              <a:t>Visual: AUM meter: the iShares portion fills to $6T+.</a:t>
            </a:r>
          </a:p>
          <a:p/>
          <a:p>
            <a:r>
              <a:t>On-screen: iSHARES: $6T+</a:t>
            </a:r>
          </a:p>
          <a:p/>
          <a:p>
            <a:r>
              <a:t>Animation: The iShares slice of the meter fills to $6T+.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fee is tiny. But a tiny fee on trillions of dollars, running automatically every day, is an enormous business.</a:t>
            </a:r>
          </a:p>
          <a:p/>
          <a:p>
            <a:r>
              <a:t>Visual: A single small coin multiplies into a mountain.</a:t>
            </a:r>
          </a:p>
          <a:p/>
          <a:p>
            <a:r>
              <a:t>On-screen: -</a:t>
            </a:r>
          </a:p>
          <a:p/>
          <a:p>
            <a:r>
              <a:t>Animation: One coin multiplies, doubling on beats, into a mountain.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here's the part that matters. Every dollar that goes into an index fund buys a slice of every company in the index.</a:t>
            </a:r>
          </a:p>
          <a:p/>
          <a:p>
            <a:r>
              <a:t>Visual: One dollar splits into 500 slivers that fly into company tiles.</a:t>
            </a:r>
          </a:p>
          <a:p/>
          <a:p>
            <a:r>
              <a:t>On-screen: -</a:t>
            </a:r>
          </a:p>
          <a:p/>
          <a:p>
            <a:r>
              <a:t>Animation: A dollar splits into slivers that fly into company tiles.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That's how BlackRock ends up holding around seven to eight percent of Nvidia, Microsoft and Apple. Nobody at BlackRock chose those stocks. The index did.</a:t>
            </a:r>
          </a:p>
          <a:p/>
          <a:p>
            <a:r>
              <a:t>Visual: Ownership wedges grow on the three tiles from the cold open.</a:t>
            </a:r>
          </a:p>
          <a:p/>
          <a:p>
            <a:r>
              <a:t>On-screen: ~7-8% EACH</a:t>
            </a:r>
          </a:p>
          <a:p/>
          <a:p>
            <a:r>
              <a:t>Animation: The ownership wedges from the cold open grow bigger.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isn't alone. Two other giants, Vanguard and State Street, grew the same way. Together they're called the Big Three.</a:t>
            </a:r>
          </a:p>
          <a:p/>
          <a:p>
            <a:r>
              <a:t>Visual: Three towers stand side by side on the skyline.</a:t>
            </a:r>
          </a:p>
          <a:p/>
          <a:p>
            <a:r>
              <a:t>On-screen: THE BIG THREE</a:t>
            </a:r>
          </a:p>
          <a:p/>
          <a:p>
            <a:r>
              <a:t>Animation: Three towers rise from the ground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Researchers at the University of Amsterdam found that, taken together, the Big Three were the largest shareholder in about nine out of ten companies in the S&amp;P 500.</a:t>
            </a:r>
          </a:p>
          <a:p/>
          <a:p>
            <a:r>
              <a:t>Visual: S&amp;P 500 grid of 500 dots; about 88% turn dark.</a:t>
            </a:r>
          </a:p>
          <a:p/>
          <a:p>
            <a:r>
              <a:t>On-screen: ~88% OF THE S&amp;P 500</a:t>
            </a:r>
          </a:p>
          <a:p/>
          <a:p>
            <a:r>
              <a:t>Animation: Grid of 500 dots; about 88% turn dark in a ripple.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shareholders get votes. On who sits on company boards, on how executives are paid, on big strategy questions.</a:t>
            </a:r>
          </a:p>
          <a:p/>
          <a:p>
            <a:r>
              <a:t>Visual: A shareholder meeting hall; a giant ballot box; the Big Three drop in thick stacks of ballots.</a:t>
            </a:r>
          </a:p>
          <a:p/>
          <a:p>
            <a:r>
              <a:t>On-screen: VOTES</a:t>
            </a:r>
          </a:p>
          <a:p/>
          <a:p>
            <a:r>
              <a:t>Animation: Three thick ballot stacks drop into the box with heavy thuds.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January, Larry Fink writes a public letter to the bosses of the companies BlackRock invests in.</a:t>
            </a:r>
          </a:p>
          <a:p/>
          <a:p>
            <a:r>
              <a:t>Visual: Fink at a desk writing; envelopes fly out to hundreds of company towers.</a:t>
            </a:r>
          </a:p>
          <a:p/>
          <a:p>
            <a:r>
              <a:t>On-screen: THE ANNUAL LETTER</a:t>
            </a:r>
          </a:p>
          <a:p/>
          <a:p>
            <a:r>
              <a:t>Animation: Fink writes; envelopes fly out to hundreds of tiny towers.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2020, the letter said that climate risk is investment risk, and that BlackRock would put sustainability at the centre of how it invests.</a:t>
            </a:r>
          </a:p>
          <a:p/>
          <a:p>
            <a:r>
              <a:t>Visual: Letter page close-up with that line highlighted.</a:t>
            </a:r>
          </a:p>
          <a:p/>
          <a:p>
            <a:r>
              <a:t>On-screen: CLIMATE RISK IS INVESTMENT RISK</a:t>
            </a:r>
          </a:p>
          <a:p/>
          <a:p>
            <a:r>
              <a:t>Animation: Letter close-up; a highlighter sweeps the key line.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biggest owner in the market says that, every boardroom listens.</a:t>
            </a:r>
          </a:p>
          <a:p/>
          <a:p>
            <a:r>
              <a:t>Visual: Boardroom of executives reading the letter, nervous glances.</a:t>
            </a:r>
          </a:p>
          <a:p/>
          <a:p>
            <a:r>
              <a:t>On-screen: -</a:t>
            </a:r>
          </a:p>
          <a:p/>
          <a:p>
            <a:r>
              <a:t>Animation: Executives read and glance at each other nervously.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backlash came from the other side. Republican-led states called it political, and some pulled money out. Florida alone moved about two billion dollars away in 2022.</a:t>
            </a:r>
          </a:p>
          <a:p/>
          <a:p>
            <a:r>
              <a:t>Visual: A state treasurer's office; coins flow out of the black tower back to a state building.</a:t>
            </a:r>
          </a:p>
          <a:p/>
          <a:p>
            <a:r>
              <a:t>On-screen: FLORIDA: -$2B</a:t>
            </a:r>
          </a:p>
          <a:p/>
          <a:p>
            <a:r>
              <a:t>Animation: Coins flow out of the tower back to the state building.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BlackRock changed its tone. It let more of its fund investors cast their own votes, and in 2025 it left the climate alliance Net Zero Asset Managers.</a:t>
            </a:r>
          </a:p>
          <a:p/>
          <a:p>
            <a:r>
              <a:t>Visual: A voting slip passes from BlackRock's hand to many small hands; a NET ZERO banner is rolled up.</a:t>
            </a:r>
          </a:p>
          <a:p/>
          <a:p>
            <a:r>
              <a:t>On-screen: 2025</a:t>
            </a:r>
          </a:p>
          <a:p/>
          <a:p>
            <a:r>
              <a:t>Animation: Voting slip passes to many small hands; the banner rolls up.</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Attacked from the left for not doing enough, and from the right for doing too much. That's what happens when you own a slice of everyone.</a:t>
            </a:r>
          </a:p>
          <a:p/>
          <a:p>
            <a:r>
              <a:t>Visual: The tower stands between two crowds holding opposite signs.</a:t>
            </a:r>
          </a:p>
          <a:p/>
          <a:p>
            <a:r>
              <a:t>On-screen: -</a:t>
            </a:r>
          </a:p>
          <a:p/>
          <a:p>
            <a:r>
              <a:t>Animation: Two crowds with opposite signs; the tower stands between them; slow push.</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voting power is where the trouble starts. In late 2024, Texas and ten other states sued BlackRock, Vanguard and State Street.</a:t>
            </a:r>
          </a:p>
          <a:p/>
          <a:p>
            <a:r>
              <a:t>Visual: Painted Texas courthouse; a thick complaint lands on a judge's bench.</a:t>
            </a:r>
          </a:p>
          <a:p/>
          <a:p>
            <a:r>
              <a:t>On-screen: TEXAS v. BLACKROCK · 2024</a:t>
            </a:r>
          </a:p>
          <a:p/>
          <a:p>
            <a:r>
              <a:t>Animation: Painted Texas courthouse; the thick complaint lands on the bench with a thud.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states pointed out that the three firms held big stakes in America's largest coal producers, in the power companies that burn coal, and in the tech giants that buy the electricity.</a:t>
            </a:r>
          </a:p>
          <a:p/>
          <a:p>
            <a:r>
              <a:t>Visual: Three columns of tiles: MINERS, BURNERS, BUYERS, each with Big Three wedges.</a:t>
            </a:r>
          </a:p>
          <a:p/>
          <a:p>
            <a:r>
              <a:t>On-screen: MINERS · BURNERS · BUYERS</a:t>
            </a:r>
          </a:p>
          <a:p/>
          <a:p>
            <a:r>
              <a:t>Animation: Three columns build; Big Three wedges appear on each tile.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At the same time, the firms had joined climate groups that pushed companies to cut emissions.</a:t>
            </a:r>
          </a:p>
          <a:p/>
          <a:p>
            <a:r>
              <a:t>Visual: Conference room with a banner 'NET ZERO 2050'; Big Three logos replaced by plain name cards.</a:t>
            </a:r>
          </a:p>
          <a:p/>
          <a:p>
            <a:r>
              <a:t>On-screen: -</a:t>
            </a:r>
          </a:p>
          <a:p/>
          <a:p>
            <a:r>
              <a:t>Animation: Banner unfurls; plain name cards slide onto the table.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lawsuit argues that this worked like a cartel: owners of competing coal companies using their influence to cut output, which pushed up prices for everyone.</a:t>
            </a:r>
          </a:p>
          <a:p/>
          <a:p>
            <a:r>
              <a:t>Visual: Coal output line dips; coal price and electricity bill lines rise.</a:t>
            </a:r>
          </a:p>
          <a:p/>
          <a:p>
            <a:r>
              <a:t>On-screen: THE CLAIM</a:t>
            </a:r>
          </a:p>
          <a:p/>
          <a:p>
            <a:r>
              <a:t>Animation: Coal output line dips while price and bill lines rise.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firms deny it. They say index funds simply own what the index holds and don't run the companies.</a:t>
            </a:r>
          </a:p>
          <a:p/>
          <a:p>
            <a:r>
              <a:t>Visual: A spokesperson figure at a podium with a printed statement.</a:t>
            </a:r>
          </a:p>
          <a:p/>
          <a:p>
            <a:r>
              <a:t>On-screen: THE DEFENSE</a:t>
            </a:r>
          </a:p>
          <a:p/>
          <a:p>
            <a:r>
              <a:t>Animation: Spokesperson reads the statement; camera flashes.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February 2026, Vanguard settled for twenty-nine and a half million dollars without admitting wrongdoing. BlackRock and State Street are still fighting the case.</a:t>
            </a:r>
          </a:p>
          <a:p/>
          <a:p>
            <a:r>
              <a:t>Visual: Two document cards: VANGUARD: SETTLED $29.5M · BLACKROCK &amp; STATE STREET: ONGOING.</a:t>
            </a:r>
          </a:p>
          <a:p/>
          <a:p>
            <a:r>
              <a:t>On-screen: VANGUARD SETTLED $29.5M</a:t>
            </a:r>
          </a:p>
          <a:p/>
          <a:p>
            <a:r>
              <a:t>Animation: Two document cards slide in; SETTLED stamp on the first.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Whoever wins, the case asks a real question. What happens when the same few investors own a slice of every competitor in an industry?</a:t>
            </a:r>
          </a:p>
          <a:p/>
          <a:p>
            <a:r>
              <a:t>Visual: The three towers cast long shadows over the whole board of company tiles.</a:t>
            </a:r>
          </a:p>
          <a:p/>
          <a:p>
            <a:r>
              <a:t>On-screen: WHO OWNS THE COMPETITION?</a:t>
            </a:r>
          </a:p>
          <a:p/>
          <a:p>
            <a:r>
              <a:t>Animation: Long shadows from three towers sweep over a board of company tiles.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It's easy to tell this as a villain story. It's more complicated than that.</a:t>
            </a:r>
          </a:p>
          <a:p/>
          <a:p>
            <a:r>
              <a:t>Visual: The black tower in daylight now, ordinary people walking past.</a:t>
            </a:r>
          </a:p>
          <a:p/>
          <a:p>
            <a:r>
              <a:t>On-screen: -</a:t>
            </a:r>
          </a:p>
          <a:p/>
          <a:p>
            <a:r>
              <a:t>Animation: Daylight; ordinary people walk past (walk cycles); calm.</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Index funds have saved ordinary savers huge amounts in fees. A teacher's pension can now own the whole market for almost nothing.</a:t>
            </a:r>
          </a:p>
          <a:p/>
          <a:p>
            <a:r>
              <a:t>Visual: A teacher figure watches her savings jar keep a much bigger share as the fee slice shrinks.</a:t>
            </a:r>
          </a:p>
          <a:p/>
          <a:p>
            <a:r>
              <a:t>On-screen: LOW FEES FOR SAVERS</a:t>
            </a:r>
          </a:p>
          <a:p/>
          <a:p>
            <a:r>
              <a:t>Animation: Teacher watches her jar; the fee slice shrinks and she keeps more.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But the same money that makes investing cheap also gathers ownership into a very small number of hands.</a:t>
            </a:r>
          </a:p>
          <a:p/>
          <a:p>
            <a:r>
              <a:t>Visual: Coins from millions of jars flow into just three towers.</a:t>
            </a:r>
          </a:p>
          <a:p/>
          <a:p>
            <a:r>
              <a:t>On-screen: -</a:t>
            </a:r>
          </a:p>
          <a:p/>
          <a:p>
            <a:r>
              <a:t>Animation: Coins from millions of jars flow into three towers.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began with a young banker who lost a hundred million dollars because he didn't understand his own risk.</a:t>
            </a:r>
          </a:p>
          <a:p/>
          <a:p>
            <a:r>
              <a:t>Visual: Flashback: 1986 trading floor, red loss.</a:t>
            </a:r>
          </a:p>
          <a:p/>
          <a:p>
            <a:r>
              <a:t>On-screen: -</a:t>
            </a:r>
          </a:p>
          <a:p/>
          <a:p>
            <a:r>
              <a:t>Animation: Flashback grade (sepia); the red loss flashes.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 built a machine to measure risk, used it to win Washington's trust in 2008, and bought the right business at exactly the right moment.</a:t>
            </a:r>
          </a:p>
          <a:p/>
          <a:p>
            <a:r>
              <a:t>Visual: Quick recap: Aladdin hall, Federal Reserve steps, the iShares box opening.</a:t>
            </a:r>
          </a:p>
          <a:p/>
          <a:p>
            <a:r>
              <a:t>On-screen: -</a:t>
            </a:r>
          </a:p>
          <a:p/>
          <a:p>
            <a:r>
              <a:t>Animation: Quick recap montage, 1 s each: Aladdin hall, Fed steps, the iShares box.</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question isn't how BlackRock got so big. It's who should keep watch over a company that owns a piece of everything.</a:t>
            </a:r>
          </a:p>
          <a:p/>
          <a:p>
            <a:r>
              <a:t>Visual: Final shot: the AUM meter at $15.3T beside the skyline at night.</a:t>
            </a:r>
          </a:p>
          <a:p/>
          <a:p>
            <a:r>
              <a:t>On-screen: $15.3 TRILLION</a:t>
            </a:r>
          </a:p>
          <a:p/>
          <a:p>
            <a:r>
              <a:t>Animation: The AUM meter at $15.3T beside the night skyline; slow pull back.</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you want to see what happens when one company's product does change the world, watch our story on how Nvidia was built next.</a:t>
            </a:r>
          </a:p>
          <a:p/>
          <a:p>
            <a:r>
              <a:t>Visual: End card with the channel name.</a:t>
            </a:r>
          </a:p>
          <a:p/>
          <a:p>
            <a:r>
              <a:t>On-screen: STROMHELL</a:t>
            </a:r>
          </a:p>
          <a:p/>
          <a:p>
            <a:r>
              <a:t>Animation: End card; music resolves.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6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6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7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notesSlide" Target="../notesSlides/notesSlide7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notesSlide" Target="../notesSlides/notesSlide7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7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notesSlide" Target="../notesSlides/notesSlide7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notesSlide" Target="../notesSlides/notesSlide7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notesSlide" Target="../notesSlides/notesSlide7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notesSlide" Target="../notesSlides/notesSlide7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notesSlide" Target="../notesSlides/notesSlide7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notesSlide" Target="../notesSlides/notesSlide7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notesSlide" Target="../notesSlides/notesSlide8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notesSlide" Target="../notesSlides/notesSlide8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notesSlide" Target="../notesSlides/notesSlide8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notesSlide" Target="../notesSlides/notesSlide8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notesSlide" Target="../notesSlides/notesSlide8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TextBox 1"/>
          <p:cNvSpPr txBox="1"/>
          <p:nvPr/>
        </p:nvSpPr>
        <p:spPr>
          <a:xfrm>
            <a:off x="731520" y="822960"/>
            <a:ext cx="10698480" cy="457200"/>
          </a:xfrm>
          <a:prstGeom prst="rect">
            <a:avLst/>
          </a:prstGeom>
          <a:noFill/>
        </p:spPr>
        <p:txBody>
          <a:bodyPr wrap="square" lIns="45720" rIns="45720" tIns="18288" bIns="18288">
            <a:spAutoFit/>
          </a:bodyPr>
          <a:lstStyle/>
          <a:p>
            <a:pPr>
              <a:spcAft>
                <a:spcPts val="200"/>
              </a:spcAft>
            </a:pPr>
            <a:r>
              <a:rPr sz="1400" b="1">
                <a:solidFill>
                  <a:srgbClr val="B44A1E"/>
                </a:solidFill>
                <a:latin typeface="Calibri"/>
              </a:rPr>
              <a:t>STORYBOARD · BR</a:t>
            </a:r>
          </a:p>
        </p:txBody>
      </p:sp>
      <p:sp>
        <p:nvSpPr>
          <p:cNvPr id="3" name="TextBox 2"/>
          <p:cNvSpPr txBox="1"/>
          <p:nvPr/>
        </p:nvSpPr>
        <p:spPr>
          <a:xfrm>
            <a:off x="731520" y="1280160"/>
            <a:ext cx="10698480" cy="1280160"/>
          </a:xfrm>
          <a:prstGeom prst="rect">
            <a:avLst/>
          </a:prstGeom>
          <a:noFill/>
        </p:spPr>
        <p:txBody>
          <a:bodyPr wrap="square" lIns="45720" rIns="45720" tIns="18288" bIns="18288">
            <a:spAutoFit/>
          </a:bodyPr>
          <a:lstStyle/>
          <a:p>
            <a:pPr>
              <a:spcAft>
                <a:spcPts val="200"/>
              </a:spcAft>
            </a:pPr>
            <a:r>
              <a:rPr sz="4000" b="1">
                <a:solidFill>
                  <a:srgbClr val="1E1B18"/>
                </a:solidFill>
                <a:latin typeface="Calibri"/>
              </a:rPr>
              <a:t>How BlackRock Came to Own a Piece of Everything</a:t>
            </a:r>
          </a:p>
        </p:txBody>
      </p:sp>
      <p:sp>
        <p:nvSpPr>
          <p:cNvPr id="4" name="TextBox 3"/>
          <p:cNvSpPr txBox="1"/>
          <p:nvPr/>
        </p:nvSpPr>
        <p:spPr>
          <a:xfrm>
            <a:off x="731520" y="2560320"/>
            <a:ext cx="10698480" cy="731520"/>
          </a:xfrm>
          <a:prstGeom prst="rect">
            <a:avLst/>
          </a:prstGeom>
          <a:noFill/>
        </p:spPr>
        <p:txBody>
          <a:bodyPr wrap="square" lIns="45720" rIns="45720" tIns="18288" bIns="18288">
            <a:spAutoFit/>
          </a:bodyPr>
          <a:lstStyle/>
          <a:p>
            <a:pPr>
              <a:spcAft>
                <a:spcPts val="200"/>
              </a:spcAft>
            </a:pPr>
            <a:r>
              <a:rPr sz="1600" b="0">
                <a:solidFill>
                  <a:srgbClr val="6B635A"/>
                </a:solidFill>
                <a:latin typeface="Calibri"/>
              </a:rPr>
              <a:t>Working title: The Company That Owns Everything but Makes Nothing</a:t>
            </a:r>
          </a:p>
        </p:txBody>
      </p:sp>
      <p:sp>
        <p:nvSpPr>
          <p:cNvPr id="5" name="TextBox 4"/>
          <p:cNvSpPr txBox="1"/>
          <p:nvPr/>
        </p:nvSpPr>
        <p:spPr>
          <a:xfrm>
            <a:off x="731520" y="3383280"/>
            <a:ext cx="10698480" cy="457200"/>
          </a:xfrm>
          <a:prstGeom prst="rect">
            <a:avLst/>
          </a:prstGeom>
          <a:noFill/>
        </p:spPr>
        <p:txBody>
          <a:bodyPr wrap="square" lIns="45720" rIns="45720" tIns="18288" bIns="18288">
            <a:spAutoFit/>
          </a:bodyPr>
          <a:lstStyle/>
          <a:p>
            <a:pPr>
              <a:spcAft>
                <a:spcPts val="200"/>
              </a:spcAft>
            </a:pPr>
            <a:r>
              <a:rPr sz="1600" b="1">
                <a:solidFill>
                  <a:srgbClr val="1E1B18"/>
                </a:solidFill>
                <a:latin typeface="Calibri"/>
              </a:rPr>
              <a:t>85 frames · 11 acts · 1752 words · runtime 12:08</a:t>
            </a:r>
          </a:p>
        </p:txBody>
      </p:sp>
      <p:sp>
        <p:nvSpPr>
          <p:cNvPr id="6" name="TextBox 5"/>
          <p:cNvSpPr txBox="1"/>
          <p:nvPr/>
        </p:nvSpPr>
        <p:spPr>
          <a:xfrm>
            <a:off x="731520" y="4023360"/>
            <a:ext cx="10698480" cy="2377440"/>
          </a:xfrm>
          <a:prstGeom prst="rect">
            <a:avLst/>
          </a:prstGeom>
          <a:noFill/>
        </p:spPr>
        <p:txBody>
          <a:bodyPr wrap="square" lIns="45720" rIns="45720" tIns="18288" bIns="18288">
            <a:spAutoFit/>
          </a:bodyPr>
          <a:lstStyle/>
          <a:p>
            <a:pPr>
              <a:spcAft>
                <a:spcPts val="200"/>
              </a:spcAft>
            </a:pPr>
            <a:r>
              <a:rPr sz="1300" b="1">
                <a:solidFill>
                  <a:srgbClr val="1E1B18"/>
                </a:solidFill>
                <a:latin typeface="Calibri"/>
              </a:rPr>
              <a:t>Running device: </a:t>
            </a:r>
            <a:r>
              <a:rPr sz="1300" b="0">
                <a:solidFill>
                  <a:srgbClr val="1E1B18"/>
                </a:solidFill>
                <a:latin typeface="Calibri"/>
              </a:rPr>
              <a:t>An 'AUM METER' (assets under management) in the corner: a stack of gold coins that grows from $0 in 1988 to $15.3 trillion, with a date tag that ticks as the story moves through the years.</a:t>
            </a:r>
          </a:p>
          <a:p>
            <a:pPr>
              <a:spcAft>
                <a:spcPts val="200"/>
              </a:spcAft>
            </a:pPr>
            <a:r>
              <a:rPr sz="1300" b="1">
                <a:solidFill>
                  <a:srgbClr val="1E1B18"/>
                </a:solidFill>
                <a:latin typeface="Calibri"/>
              </a:rPr>
              <a:t>Style: </a:t>
            </a:r>
            <a:r>
              <a:rPr sz="1300" b="0">
                <a:solidFill>
                  <a:srgbClr val="1E1B18"/>
                </a:solidFill>
                <a:latin typeface="Calibri"/>
              </a:rPr>
              <a:t>Calm serious business documentary in the house 2D style. Night-time Manhattan painted plates, 1980s trading floors in smoky amber, clean ledger-paper charts for the money mechanics, 3D props (bond certificates, a server rack for Aladdin, coin stacks, a courthouse). Real people drawn as round-headed ink characters; company names shown as plain text tiles, no logos.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0 · COLD OPEN</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9 frames · 1:11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0.01</a:t>
            </a:r>
            <a:r>
              <a:rPr sz="1400" b="0">
                <a:solidFill>
                  <a:srgbClr val="D8CFC2"/>
                </a:solidFill>
                <a:latin typeface="Calibri"/>
              </a:rPr>
              <a:t>   CU   ·   7.2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Jensen Huang started Nvidia in 1993. Today he owns about three and a half percent of it.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Ink portrait of Jensen in a leather jacket beside a share-of-company bar filling to 3.5%.</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JENSEN HUANG: ~3.5%</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Ink portrait fades up; the share bar fills from 0 to 3.5% with a counter; light tick SFX.</a:t>
            </a:r>
          </a:p>
          <a:p>
            <a:pPr>
              <a:spcAft>
                <a:spcPts val="200"/>
              </a:spcAft>
            </a:pPr>
            <a:r>
              <a:rPr sz="600" b="0">
                <a:solidFill>
                  <a:srgbClr val="1E1B18"/>
                </a:solidFill>
                <a:latin typeface="Calibri"/>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0.02</a:t>
            </a:r>
            <a:r>
              <a:rPr sz="1400" b="0">
                <a:solidFill>
                  <a:srgbClr val="D8CFC2"/>
                </a:solidFill>
                <a:latin typeface="Calibri"/>
              </a:rPr>
              <a:t>   CU   ·   7.9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There is a company that owns more than twice that. About eight percent. It never designed a single chip.</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second bar, labeled with a dark tower silhouette, fills past Jensen's to ~8%.</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BLACKROCK: ~8%</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A second bar topped with a tower silhouette fills past his, slowly, to about 8%; low string swell.</a:t>
            </a:r>
          </a:p>
          <a:p>
            <a:pPr>
              <a:spcAft>
                <a:spcPts val="200"/>
              </a:spcAft>
            </a:pPr>
            <a:r>
              <a:rPr sz="600" b="0">
                <a:solidFill>
                  <a:srgbClr val="1E1B18"/>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0.03</a:t>
            </a:r>
            <a:r>
              <a:rPr sz="1400" b="0">
                <a:solidFill>
                  <a:srgbClr val="D8CFC2"/>
                </a:solidFill>
                <a:latin typeface="Calibri"/>
              </a:rPr>
              <a:t>   MED   ·   9.1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 holds roughly seven to eight percent of Apple and Microsoft too, and a stake in almost every big company in America.</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Grid of plain company tiles (APPLE, MICROSOFT, AMAZON, ALPHABET...) each getting a small dark ownership wedge.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Company tiles pop in on a stagger; a dark wedge grows in the corner of each, one after another.</a:t>
            </a:r>
          </a:p>
          <a:p>
            <a:pPr>
              <a:spcAft>
                <a:spcPts val="200"/>
              </a:spcAft>
            </a:pPr>
            <a:r>
              <a:rPr sz="600" b="0">
                <a:solidFill>
                  <a:srgbClr val="1E1B18"/>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0.04</a:t>
            </a:r>
            <a:r>
              <a:rPr sz="1400" b="0">
                <a:solidFill>
                  <a:srgbClr val="D8CFC2"/>
                </a:solidFill>
                <a:latin typeface="Calibri"/>
              </a:rPr>
              <a:t>   WIDE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Its name is BlackRock. It has no factory, no product you can hold, and no shop.</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Night skyline of Manhattan; a black glass tower; the camera pushes in on the lit top floors.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BLACKROCK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Night skyline with parallax layers; slow push in on the lit top floors of the black tower; city hum.</a:t>
            </a:r>
          </a:p>
          <a:p>
            <a:pPr>
              <a:spcAft>
                <a:spcPts val="200"/>
              </a:spcAft>
            </a:pPr>
            <a:r>
              <a:rPr sz="600" b="0">
                <a:solidFill>
                  <a:srgbClr val="1E1B18"/>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0.05</a:t>
            </a:r>
            <a:r>
              <a:rPr sz="1400" b="0">
                <a:solidFill>
                  <a:srgbClr val="D8CFC2"/>
                </a:solidFill>
                <a:latin typeface="Calibri"/>
              </a:rPr>
              <a:t>   CHART   ·   7.9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And yet by the middle of 2026 it was managing fifteen point three trillion dollars of other people's money.</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AUM meter coin stack shoots up to $15.3T.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$15.3 TRILLION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Coin stack shoots up with eased overshoot as the counter races to $15.3T; coin cascade SFX.</a:t>
            </a:r>
          </a:p>
          <a:p>
            <a:pPr>
              <a:spcAft>
                <a:spcPts val="200"/>
              </a:spcAft>
            </a:pPr>
            <a:r>
              <a:rPr sz="600" b="0">
                <a:solidFill>
                  <a:srgbClr val="1E1B18"/>
                </a:solidFill>
                <a:latin typeface="Calibri"/>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0.06</a:t>
            </a:r>
            <a:r>
              <a:rPr sz="1400" b="0">
                <a:solidFill>
                  <a:srgbClr val="D8CFC2"/>
                </a:solidFill>
                <a:latin typeface="Calibri"/>
              </a:rPr>
              <a:t>   MAP   ·   6.4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That is more than the yearly economic output of India, Japan and France put together.</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World map: India, Japan and France light up; their GDP bars stack beside BlackRock's single taller bar.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&gt; INDIA + JAPAN + FRANCE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India, Japan, France light up in turn; their GDP bars stack beside one taller BlackRock bar.</a:t>
            </a:r>
          </a:p>
          <a:p>
            <a:pPr>
              <a:spcAft>
                <a:spcPts val="200"/>
              </a:spcAft>
            </a:pPr>
            <a:r>
              <a:rPr sz="600" b="0">
                <a:solidFill>
                  <a:srgbClr val="1E1B18"/>
                </a:solidFill>
                <a:latin typeface="Calibr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0.07</a:t>
            </a:r>
            <a:r>
              <a:rPr sz="1400" b="0">
                <a:solidFill>
                  <a:srgbClr val="D8CFC2"/>
                </a:solidFill>
                <a:latin typeface="Calibri"/>
              </a:rPr>
              <a:t>   MED   ·   11.7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Politicians on the right accuse it of pushing a climate agenda. Critics on the left call it a symbol of Wall Street's reach. States have taken it to court.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Split frame of two podiums with silhouetted speakers, then a courthouse.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Two podium silhouettes argue (talk mouths, pointing); pan right to the courthouse steps.</a:t>
            </a:r>
          </a:p>
          <a:p>
            <a:pPr>
              <a:spcAft>
                <a:spcPts val="200"/>
              </a:spcAft>
            </a:pPr>
            <a:r>
              <a:rPr sz="600" b="0">
                <a:solidFill>
                  <a:srgbClr val="1E1B18"/>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0.08</a:t>
            </a:r>
            <a:r>
              <a:rPr sz="1400" b="0">
                <a:solidFill>
                  <a:srgbClr val="D8CFC2"/>
                </a:solidFill>
                <a:latin typeface="Calibri"/>
              </a:rPr>
              <a:t>   CU   ·   10.2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So how does a company that makes nothing end up owning a piece of everything? It starts with one banker losing a hundred million dollars.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trading screen in 1980s green text flashes a red loss; push into a worried face.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-$100,000,000</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Green-text screen flashes a red loss; push into a worried face; a phone keeps ringing.</a:t>
            </a:r>
          </a:p>
          <a:p>
            <a:pPr>
              <a:spcAft>
                <a:spcPts val="200"/>
              </a:spcAft>
            </a:pPr>
            <a:r>
              <a:rPr sz="600" b="0">
                <a:solidFill>
                  <a:srgbClr val="1E1B18"/>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0.09</a:t>
            </a:r>
            <a:r>
              <a:rPr sz="1400" b="0">
                <a:solidFill>
                  <a:srgbClr val="D8CFC2"/>
                </a:solidFill>
                <a:latin typeface="Calibri"/>
              </a:rPr>
              <a:t>   TITLE   ·   4.0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0 · Cold open</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Title card over the black tower at night.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THE COMPANY THAT OWNS EVERYTHING</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Title scales in over the tower at night; window lights flicker on; deep hit.</a:t>
            </a:r>
          </a:p>
          <a:p>
            <a:pPr>
              <a:spcAft>
                <a:spcPts val="200"/>
              </a:spcAft>
            </a:pPr>
            <a:r>
              <a:rPr sz="600" b="0">
                <a:solidFill>
                  <a:srgbClr val="1E1B18"/>
                </a:solidFill>
                <a:latin typeface="Calibr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1 · ACT 1: THE MONEY MACHINE</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10 frames · 1:33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1.01</a:t>
            </a:r>
            <a:r>
              <a:rPr sz="1400" b="0">
                <a:solidFill>
                  <a:srgbClr val="D8CFC2"/>
                </a:solidFill>
                <a:latin typeface="Calibri"/>
              </a:rPr>
              <a:t>   WIDE   ·   9.4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New York, the early 1980s. Larry Fink is a young bond trader at the investment bank First Boston, and he is a star.</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Smoky 1980s trading floor, phones, paper tickets; young Fink in shirt sleeves at the center desk.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FIRST BOSTON · 1980s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Smoky 1980s floor; traders gesture and shout on phones (looping arm moves); paper slips flutter down.</a:t>
            </a:r>
          </a:p>
          <a:p>
            <a:pPr>
              <a:spcAft>
                <a:spcPts val="200"/>
              </a:spcAft>
            </a:pPr>
            <a:r>
              <a:rPr sz="600" b="0">
                <a:solidFill>
                  <a:srgbClr val="1E1B18"/>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1.02</a:t>
            </a:r>
            <a:r>
              <a:rPr sz="1400" b="0">
                <a:solidFill>
                  <a:srgbClr val="D8CFC2"/>
                </a:solidFill>
                <a:latin typeface="Calibri"/>
              </a:rPr>
              <a:t>   MED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His desk helps build a new kind of product out of something very ordinary: home loans.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suburban street of houses; each house drops a small loan document into a funnel.</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Each house drops a loan document that slides along a path into a funnel at the bottom.</a:t>
            </a:r>
          </a:p>
          <a:p>
            <a:pPr>
              <a:spcAft>
                <a:spcPts val="200"/>
              </a:spcAft>
            </a:pPr>
            <a:r>
              <a:rPr sz="600" b="0">
                <a:solidFill>
                  <a:srgbClr val="1E1B18"/>
                </a:solidFill>
                <a:latin typeface="Calibri"/>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1.03</a:t>
            </a:r>
            <a:r>
              <a:rPr sz="1400" b="0">
                <a:solidFill>
                  <a:srgbClr val="D8CFC2"/>
                </a:solidFill>
                <a:latin typeface="Calibri"/>
              </a:rPr>
              <a:t>   MED   ·   9.4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 bank that lends out a hundred million dollars in mortgages has to wait up to thirty years to get it all back.</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Bank clerk stares at a 30-year calendar that unrolls across the floor.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30 YEARS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calendar unrolls across the floor with a paper whoosh; the clerk's head follows it.</a:t>
            </a:r>
          </a:p>
          <a:p>
            <a:pPr>
              <a:spcAft>
                <a:spcPts val="200"/>
              </a:spcAft>
            </a:pPr>
            <a:r>
              <a:rPr sz="600" b="0">
                <a:solidFill>
                  <a:srgbClr val="1E1B18"/>
                </a:solidFill>
                <a:latin typeface="Calibri"/>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1.04</a:t>
            </a:r>
            <a:r>
              <a:rPr sz="1400" b="0">
                <a:solidFill>
                  <a:srgbClr val="D8CFC2"/>
                </a:solidFill>
                <a:latin typeface="Calibri"/>
              </a:rPr>
              <a:t>   CHART   ·   10.9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So Wall Street buys those loans, pools them, and sells bonds backed by the monthly payments. Investors get the interest; the bank gets its cash back today.</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Diagram: houses → pool → bond certificates → investors; money flows back to the bank.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MORTGAGE-BACKED BONDS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Diagram draws left to right on each word; arrows animate; coins loop back to the bank.</a:t>
            </a:r>
          </a:p>
          <a:p>
            <a:pPr>
              <a:spcAft>
                <a:spcPts val="200"/>
              </a:spcAft>
            </a:pPr>
            <a:r>
              <a:rPr sz="600" b="0">
                <a:solidFill>
                  <a:srgbClr val="1E1B18"/>
                </a:solidFill>
                <a:latin typeface="Calibri"/>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1.05</a:t>
            </a:r>
            <a:r>
              <a:rPr sz="1400" b="0">
                <a:solidFill>
                  <a:srgbClr val="D8CFC2"/>
                </a:solidFill>
                <a:latin typeface="Calibri"/>
              </a:rPr>
              <a:t>   CARD   ·   5.7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Here is a simplified version of the trick that made it so profitable.</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Ledger-paper card titled 'SIMPLIFIED EXAMPLE'.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SIMPLIFIED EXAMPLE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Ledger card slides up with a paper SFX and holds.</a:t>
            </a:r>
          </a:p>
          <a:p>
            <a:pPr>
              <a:spcAft>
                <a:spcPts val="200"/>
              </a:spcAft>
            </a:pPr>
            <a:r>
              <a:rPr sz="600" b="0">
                <a:solidFill>
                  <a:srgbClr val="1E1B18"/>
                </a:solidFill>
                <a:latin typeface="Calibri"/>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1.06</a:t>
            </a:r>
            <a:r>
              <a:rPr sz="1400" b="0">
                <a:solidFill>
                  <a:srgbClr val="D8CFC2"/>
                </a:solidFill>
                <a:latin typeface="Calibri"/>
              </a:rPr>
              <a:t>   CHART   ·   9.1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Take a hundred million dollars of home loans paying nine percent. That's about nine million dollars of interest in the first year.</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Pool block labeled $100M at 9% with $9M of coins dripping out.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$100M · 9%</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Coins drip out of the pool block and pile up below, counter to $9M.</a:t>
            </a:r>
          </a:p>
          <a:p>
            <a:pPr>
              <a:spcAft>
                <a:spcPts val="200"/>
              </a:spcAft>
            </a:pPr>
            <a:r>
              <a:rPr sz="600" b="0">
                <a:solidFill>
                  <a:srgbClr val="1E1B18"/>
                </a:solidFill>
                <a:latin typeface="Calibri"/>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1.07</a:t>
            </a:r>
            <a:r>
              <a:rPr sz="1400" b="0">
                <a:solidFill>
                  <a:srgbClr val="D8CFC2"/>
                </a:solidFill>
                <a:latin typeface="Calibri"/>
              </a:rPr>
              <a:t>   CHART   ·   10.9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Now cut the pool into three bonds that stand in a queue. When homeowners pay back their loans, bond A is paid first, then B, then C.</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Three stacked blocks A, B, C form a queue; principal coins flow to A first.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 → B → C</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Blocks stack into a queue; principal coins flow to A first, then B, then C.</a:t>
            </a:r>
          </a:p>
          <a:p>
            <a:pPr>
              <a:spcAft>
                <a:spcPts val="200"/>
              </a:spcAft>
            </a:pPr>
            <a:r>
              <a:rPr sz="600" b="0">
                <a:solidFill>
                  <a:srgbClr val="1E1B18"/>
                </a:solidFill>
                <a:latin typeface="Calibri"/>
              </a:rPr>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1.08</a:t>
            </a:r>
            <a:r>
              <a:rPr sz="1400" b="0">
                <a:solidFill>
                  <a:srgbClr val="D8CFC2"/>
                </a:solidFill>
                <a:latin typeface="Calibri"/>
              </a:rPr>
              <a:t>   CHART   ·   9.4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 is safest, so it gets the lowest rate, say six percent. B gets seven. C takes the most risk and gets eight.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Blocks resize: A $50M 6%, B $30M 7%, C $20M 8%.</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 6% · B 7% · C 8%</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Blocks resize smoothly to their amounts; labels type on.</a:t>
            </a:r>
          </a:p>
          <a:p>
            <a:pPr>
              <a:spcAft>
                <a:spcPts val="200"/>
              </a:spcAft>
            </a:pPr>
            <a:r>
              <a:rPr sz="600" b="0">
                <a:solidFill>
                  <a:srgbClr val="1E1B18"/>
                </a:solidFill>
                <a:latin typeface="Calibri"/>
              </a:rPr>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1.09</a:t>
            </a:r>
            <a:r>
              <a:rPr sz="1400" b="0">
                <a:solidFill>
                  <a:srgbClr val="D8CFC2"/>
                </a:solidFill>
                <a:latin typeface="Calibri"/>
              </a:rPr>
              <a:t>   CHART   ·   13.2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Add it up and the three bonds pay out about six point seven million. The homeowners still pay nine. The gap, more than two million a year, is the packager's to share out.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Two coin stacks compared: $9M in, $6.7M out; the $2.3M difference glows gold.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$2.3M GAP</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Two stacks compared side by side; the $2.3M gap glows gold and pulses.</a:t>
            </a:r>
          </a:p>
          <a:p>
            <a:pPr>
              <a:spcAft>
                <a:spcPts val="200"/>
              </a:spcAft>
            </a:pPr>
            <a:r>
              <a:rPr sz="600" b="0">
                <a:solidFill>
                  <a:srgbClr val="1E1B18"/>
                </a:solidFill>
                <a:latin typeface="Calibri"/>
              </a:rPr>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1.10</a:t>
            </a:r>
            <a:r>
              <a:rPr sz="1400" b="0">
                <a:solidFill>
                  <a:srgbClr val="D8CFC2"/>
                </a:solidFill>
                <a:latin typeface="Calibri"/>
              </a:rPr>
              <a:t>   CU   ·   8.3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 · Act 1: The Money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Nothing was built. The same payments were just sliced and arranged. Fink's desk made First Boston a fortune doing it.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Fink smiles as gold ticker tape rains on the trading floor.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Fink smiles; gold ticker tape rains down; a crowd cheer under the music.</a:t>
            </a:r>
          </a:p>
          <a:p>
            <a:pPr>
              <a:spcAft>
                <a:spcPts val="200"/>
              </a:spcAft>
            </a:pPr>
            <a:r>
              <a:rPr sz="600" b="0">
                <a:solidFill>
                  <a:srgbClr val="1E1B18"/>
                </a:solidFill>
                <a:latin typeface="Calibri"/>
              </a:rPr>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2 · ACT 2: THE LOSS</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8 frames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2.01</a:t>
            </a:r>
            <a:r>
              <a:rPr sz="1400" b="0">
                <a:solidFill>
                  <a:srgbClr val="D8CFC2"/>
                </a:solidFill>
                <a:latin typeface="Calibri"/>
              </a:rPr>
              <a:t>   MED   ·   5.7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Then in 1986, it went wrong in a way most people wouldn't expect.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trading floor lights shift from gold to cold blue.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1986</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Light grade shifts from warm gold to cold blue over 2 s; the room slows down.</a:t>
            </a:r>
          </a:p>
          <a:p>
            <a:pPr>
              <a:spcAft>
                <a:spcPts val="200"/>
              </a:spcAft>
            </a:pPr>
            <a:r>
              <a:rPr sz="600" b="0">
                <a:solidFill>
                  <a:srgbClr val="1E1B18"/>
                </a:solidFill>
                <a:latin typeface="Calibri"/>
              </a:rPr>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2.02</a:t>
            </a:r>
            <a:r>
              <a:rPr sz="1400" b="0">
                <a:solidFill>
                  <a:srgbClr val="D8CFC2"/>
                </a:solidFill>
                <a:latin typeface="Calibri"/>
              </a:rPr>
              <a:t>   MED   ·   9.1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danger everyone watched for was homeowners who stopped paying. Fink's problem was the opposite. Rates fell, and homeowners paid back early.</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family at a kitchen table reads a bank ad: NEW LOANS AT 7%.</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Family at the table reads the ad; they look at each other; ad text circles in red.</a:t>
            </a:r>
          </a:p>
          <a:p>
            <a:pPr>
              <a:spcAft>
                <a:spcPts val="200"/>
              </a:spcAft>
            </a:pPr>
            <a:r>
              <a:rPr sz="600" b="0">
                <a:solidFill>
                  <a:srgbClr val="1E1B18"/>
                </a:solidFill>
                <a:latin typeface="Calibri"/>
              </a:rPr>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2.03</a:t>
            </a:r>
            <a:r>
              <a:rPr sz="1400" b="0">
                <a:solidFill>
                  <a:srgbClr val="D8CFC2"/>
                </a:solidFill>
                <a:latin typeface="Calibri"/>
              </a:rPr>
              <a:t>   CHART   ·   10.2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Picture a family with a two hundred thousand dollar loan at nine percent. Their payment is about sixteen hundred dollars a month for thirty years.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Loan card: $200,000 · 9% · $1,609/month.</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$1,609 / MONTH</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Loan card slides in; numbers type on one at a time.</a:t>
            </a:r>
          </a:p>
          <a:p>
            <a:pPr>
              <a:spcAft>
                <a:spcPts val="200"/>
              </a:spcAft>
            </a:pPr>
            <a:r>
              <a:rPr sz="600" b="0">
                <a:solidFill>
                  <a:srgbClr val="1E1B18"/>
                </a:solidFill>
                <a:latin typeface="Calibri"/>
              </a:rPr>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2.04</a:t>
            </a:r>
            <a:r>
              <a:rPr sz="1400" b="0">
                <a:solidFill>
                  <a:srgbClr val="D8CFC2"/>
                </a:solidFill>
                <a:latin typeface="Calibri"/>
              </a:rPr>
              <a:t>   MED   ·   9.1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When a bank down the road offers seven percent, they take a new loan, pay off the old one, and walk out.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family walks from one bank to another with a briefcase; the old loan document is stamped PAID.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Family walks bank to bank (walk cycles); the old document gets a PAID stamp slam.</a:t>
            </a:r>
          </a:p>
          <a:p>
            <a:pPr>
              <a:spcAft>
                <a:spcPts val="200"/>
              </a:spcAft>
            </a:pPr>
            <a:r>
              <a:rPr sz="600" b="0">
                <a:solidFill>
                  <a:srgbClr val="1E1B18"/>
                </a:solidFill>
                <a:latin typeface="Calibri"/>
              </a:rPr>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2.05</a:t>
            </a:r>
            <a:r>
              <a:rPr sz="1400" b="0">
                <a:solidFill>
                  <a:srgbClr val="D8CFC2"/>
                </a:solidFill>
                <a:latin typeface="Calibri"/>
              </a:rPr>
              <a:t>   CU   ·   6.0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For whoever owned that old loan, thirty years of nine percent interest simply disappears.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30-year calendar from Act 1 burns away from the end.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calendar burns from the end toward the start (ember edge, smoke).</a:t>
            </a:r>
          </a:p>
          <a:p>
            <a:pPr>
              <a:spcAft>
                <a:spcPts val="200"/>
              </a:spcAft>
            </a:pPr>
            <a:r>
              <a:rPr sz="600" b="0">
                <a:solidFill>
                  <a:srgbClr val="1E1B18"/>
                </a:solidFill>
                <a:latin typeface="Calibri"/>
              </a:rPr>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2.06</a:t>
            </a:r>
            <a:r>
              <a:rPr sz="1400" b="0">
                <a:solidFill>
                  <a:srgbClr val="D8CFC2"/>
                </a:solidFill>
                <a:latin typeface="Calibri"/>
              </a:rPr>
              <a:t>   CHART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Fink's desk had bet the wrong way on rates. It lost about a hundred million dollars.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red loss figure from the cold open, now full screen.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-$100M</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Red loss number fills the screen; quick shake on impact; alarm drone.</a:t>
            </a:r>
          </a:p>
          <a:p>
            <a:pPr>
              <a:spcAft>
                <a:spcPts val="200"/>
              </a:spcAft>
            </a:pPr>
            <a:r>
              <a:rPr sz="600" b="0">
                <a:solidFill>
                  <a:srgbClr val="1E1B18"/>
                </a:solidFill>
                <a:latin typeface="Calibri"/>
              </a:rPr>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2.07</a:t>
            </a:r>
            <a:r>
              <a:rPr sz="1400" b="0">
                <a:solidFill>
                  <a:srgbClr val="D8CFC2"/>
                </a:solidFill>
                <a:latin typeface="Calibri"/>
              </a:rPr>
              <a:t>   MED   ·   7.2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star became the man who lost a hundred million. Within two years, he left First Boston.</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Fink walks out of the building alone with a box under his arm, rain on the street.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1988</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Rain falls; Fink walks out with a box, alone; puddle reflections; slow.</a:t>
            </a:r>
          </a:p>
          <a:p>
            <a:pPr>
              <a:spcAft>
                <a:spcPts val="200"/>
              </a:spcAft>
            </a:pPr>
            <a:r>
              <a:rPr sz="600" b="0">
                <a:solidFill>
                  <a:srgbClr val="1E1B18"/>
                </a:solidFill>
                <a:latin typeface="Calibri"/>
              </a:rPr>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2.08</a:t>
            </a:r>
            <a:r>
              <a:rPr sz="1400" b="0">
                <a:solidFill>
                  <a:srgbClr val="D8CFC2"/>
                </a:solidFill>
                <a:latin typeface="Calibri"/>
              </a:rPr>
              <a:t>   CU   ·   10.6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2 · Act 2: The Loss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He later said the lesson was simple. His team had been brilliant at making money and had no real idea how much risk it was carrying.</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Close on Fink in a dim office, looking at a blank notepad.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RISK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Dim office, slow push in; he stares at a blank notepad; a pen taps.</a:t>
            </a:r>
          </a:p>
          <a:p>
            <a:pPr>
              <a:spcAft>
                <a:spcPts val="200"/>
              </a:spcAft>
            </a:pPr>
            <a:r>
              <a:rPr sz="600" b="0">
                <a:solidFill>
                  <a:srgbClr val="1E1B18"/>
                </a:solidFill>
                <a:latin typeface="Calibri"/>
              </a:rPr>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3 · ACT 3: THE RISK MACHINE</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8 frames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3.01</a:t>
            </a:r>
            <a:r>
              <a:rPr sz="1400" b="0">
                <a:solidFill>
                  <a:srgbClr val="D8CFC2"/>
                </a:solidFill>
                <a:latin typeface="Calibri"/>
              </a:rPr>
              <a:t>   WIDE   ·   9.4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In 1988, Fink and a small group of partners set up a new firm inside the offices of the private equity company Blackstone.</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Late-80s office with boxes still packed; eight founders around a table.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1988 · NEW YORK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Eight founders around a table; heads turn to each speaker; boxes still taped.</a:t>
            </a:r>
          </a:p>
          <a:p>
            <a:pPr>
              <a:spcAft>
                <a:spcPts val="200"/>
              </a:spcAft>
            </a:pPr>
            <a:r>
              <a:rPr sz="600" b="0">
                <a:solidFill>
                  <a:srgbClr val="1E1B18"/>
                </a:solidFill>
                <a:latin typeface="Calibri"/>
              </a:rPr>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3.02</a:t>
            </a:r>
            <a:r>
              <a:rPr sz="1400" b="0">
                <a:solidFill>
                  <a:srgbClr val="D8CFC2"/>
                </a:solidFill>
                <a:latin typeface="Calibri"/>
              </a:rPr>
              <a:t>   CARD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 was called Blackstone Financial Management. A few years later it took a new name: BlackRock.</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Name plate on a door; 'BLACKSTONE FINANCIAL MANAGEMENT' is painted over with 'BLACKROCK'.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BLACKROCK · 1992</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Painter's brush wipes the old name off the door; BLACKROCK paints in.</a:t>
            </a:r>
          </a:p>
          <a:p>
            <a:pPr>
              <a:spcAft>
                <a:spcPts val="200"/>
              </a:spcAft>
            </a:pPr>
            <a:r>
              <a:rPr sz="600" b="0">
                <a:solidFill>
                  <a:srgbClr val="1E1B18"/>
                </a:solidFill>
                <a:latin typeface="Calibri"/>
              </a:rPr>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3.03</a:t>
            </a:r>
            <a:r>
              <a:rPr sz="1400" b="0">
                <a:solidFill>
                  <a:srgbClr val="D8CFC2"/>
                </a:solidFill>
                <a:latin typeface="Calibri"/>
              </a:rPr>
              <a:t>   MED   ·   9.8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pitch to clients was about protection more than prediction: we will show you what could go wrong with your money before it happens.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Fink at a client meeting, sliding a printed risk report across the table.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Fink slides the report across; the client picks it up and reads.</a:t>
            </a:r>
          </a:p>
          <a:p>
            <a:pPr>
              <a:spcAft>
                <a:spcPts val="200"/>
              </a:spcAft>
            </a:pPr>
            <a:r>
              <a:rPr sz="600" b="0">
                <a:solidFill>
                  <a:srgbClr val="1E1B18"/>
                </a:solidFill>
                <a:latin typeface="Calibri"/>
              </a:rPr>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3.04</a:t>
            </a:r>
            <a:r>
              <a:rPr sz="1400" b="0">
                <a:solidFill>
                  <a:srgbClr val="D8CFC2"/>
                </a:solidFill>
                <a:latin typeface="Calibri"/>
              </a:rPr>
              <a:t>   PROP3D   ·   7.5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To do that, they built software that ran on a single workstation at first. They called it Aladdin.</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3D early computer workstation on a desk, green text scrolling; then it multiplies into a modern server hall.</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ALADDIN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Workstation rotates in 3D; green text scrolls; pull back as it multiplies into rows of servers.</a:t>
            </a:r>
          </a:p>
          <a:p>
            <a:pPr>
              <a:spcAft>
                <a:spcPts val="200"/>
              </a:spcAft>
            </a:pPr>
            <a:r>
              <a:rPr sz="600" b="0">
                <a:solidFill>
                  <a:srgbClr val="1E1B18"/>
                </a:solidFill>
                <a:latin typeface="Calibri"/>
              </a:rPr>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3.05</a:t>
            </a:r>
            <a:r>
              <a:rPr sz="1400" b="0">
                <a:solidFill>
                  <a:srgbClr val="D8CFC2"/>
                </a:solidFill>
                <a:latin typeface="Calibri"/>
              </a:rPr>
              <a:t>   MED   ·   9.1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Aladdin asks 'what if?' across every holding. What if interest rates jump? What if oil collapses? What if borrowers stop paying?</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Three what-if cards orbit a portfolio pie; each card makes a slice shrink or grow.</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WHAT IF?</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Three what-if cards orbit the pie; each touch makes a slice shrink or grow.</a:t>
            </a:r>
          </a:p>
          <a:p>
            <a:pPr>
              <a:spcAft>
                <a:spcPts val="200"/>
              </a:spcAft>
            </a:pPr>
            <a:r>
              <a:rPr sz="600" b="0">
                <a:solidFill>
                  <a:srgbClr val="1E1B18"/>
                </a:solidFill>
                <a:latin typeface="Calibri"/>
              </a:rPr>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3.06</a:t>
            </a:r>
            <a:r>
              <a:rPr sz="1400" b="0">
                <a:solidFill>
                  <a:srgbClr val="D8CFC2"/>
                </a:solidFill>
                <a:latin typeface="Calibri"/>
              </a:rPr>
              <a:t>   CHART   ·   8.7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 runs thousands of scenarios and shows how each one would hit a portfolio, loan by loan and bond by bond.</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grid of tiny scenario tiles lights up, feeding a single risk gauge.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Hundreds of tiny tiles light up in waves and feed the gauge, whose needle swings.</a:t>
            </a:r>
          </a:p>
          <a:p>
            <a:pPr>
              <a:spcAft>
                <a:spcPts val="200"/>
              </a:spcAft>
            </a:pPr>
            <a:r>
              <a:rPr sz="600" b="0">
                <a:solidFill>
                  <a:srgbClr val="1E1B18"/>
                </a:solidFill>
                <a:latin typeface="Calibri"/>
              </a:rPr>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3.07</a:t>
            </a:r>
            <a:r>
              <a:rPr sz="1400" b="0">
                <a:solidFill>
                  <a:srgbClr val="D8CFC2"/>
                </a:solidFill>
                <a:latin typeface="Calibri"/>
              </a:rPr>
              <a:t>   MED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Over time BlackRock began renting Aladdin to other investors: pension funds, insurers, even rival asset managers.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Lines spread from the server hall to buildings labeled PENSION FUND, INSURER, BANK.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Glowing lines spread from the server hall to each building, one by one.</a:t>
            </a:r>
          </a:p>
          <a:p>
            <a:pPr>
              <a:spcAft>
                <a:spcPts val="200"/>
              </a:spcAft>
            </a:pPr>
            <a:r>
              <a:rPr sz="600" b="0">
                <a:solidFill>
                  <a:srgbClr val="1E1B18"/>
                </a:solidFill>
                <a:latin typeface="Calibri"/>
              </a:rPr>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3.08</a:t>
            </a:r>
            <a:r>
              <a:rPr sz="1400" b="0">
                <a:solidFill>
                  <a:srgbClr val="D8CFC2"/>
                </a:solidFill>
                <a:latin typeface="Calibri"/>
              </a:rPr>
              <a:t>   CU   ·   6.0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3 · Act 3: The Risk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Today it helps watch over trillions of dollars, much of it not BlackRock's own.</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server hall glows; the AUM meter adds a separate translucent stack for 'monitored'.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TRILLIONS MONITORED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hall glows; a translucent second stack rises next to the AUM meter.</a:t>
            </a:r>
          </a:p>
          <a:p>
            <a:pPr>
              <a:spcAft>
                <a:spcPts val="200"/>
              </a:spcAft>
            </a:pPr>
            <a:r>
              <a:rPr sz="600" b="0">
                <a:solidFill>
                  <a:srgbClr val="1E1B18"/>
                </a:solidFill>
                <a:latin typeface="Calibri"/>
              </a:rPr>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4 · ACT 4: 2008</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8 frames · 1:08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4.01</a:t>
            </a:r>
            <a:r>
              <a:rPr sz="1400" b="0">
                <a:solidFill>
                  <a:srgbClr val="D8CFC2"/>
                </a:solidFill>
                <a:latin typeface="Calibri"/>
              </a:rPr>
              <a:t>   WIDE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In 2008, the same family of products Fink had helped pioneer blew up the world's banks.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Wall Street at dusk; screens across a trading floor flash red.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2008</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Screens flip to red in a cascade left to right; alarm tones; dusk light.</a:t>
            </a:r>
          </a:p>
          <a:p>
            <a:pPr>
              <a:spcAft>
                <a:spcPts val="200"/>
              </a:spcAft>
            </a:pPr>
            <a:r>
              <a:rPr sz="600" b="0">
                <a:solidFill>
                  <a:srgbClr val="1E1B18"/>
                </a:solidFill>
                <a:latin typeface="Calibri"/>
              </a:rPr>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4.02</a:t>
            </a:r>
            <a:r>
              <a:rPr sz="1400" b="0">
                <a:solidFill>
                  <a:srgbClr val="D8CFC2"/>
                </a:solidFill>
                <a:latin typeface="Calibri"/>
              </a:rPr>
              <a:t>   MED   ·   7.9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Millions of American mortgages had been pooled, sliced and resold, many of them to borrowers who couldn't keep paying.</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Houses with FORECLOSURE signs; the pool funnel from Act 1 now pours out torn certificates.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Signs pop up house by house; the funnel now spits out torn certificates.</a:t>
            </a:r>
          </a:p>
          <a:p>
            <a:pPr>
              <a:spcAft>
                <a:spcPts val="200"/>
              </a:spcAft>
            </a:pPr>
            <a:r>
              <a:rPr sz="600" b="0">
                <a:solidFill>
                  <a:srgbClr val="1E1B18"/>
                </a:solidFill>
                <a:latin typeface="Calibri"/>
              </a:rPr>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4.03</a:t>
            </a:r>
            <a:r>
              <a:rPr sz="1400" b="0">
                <a:solidFill>
                  <a:srgbClr val="D8CFC2"/>
                </a:solidFill>
                <a:latin typeface="Calibri"/>
              </a:rPr>
              <a:t>   MED   ·   7.2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When house prices fell, nobody could tell which slices were still worth something and which were worthless.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Bankers rifle through mountains of identical bond papers with magnifying glasses.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WHAT IS IT WORTH?</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Bankers dig through paper mountains with magnifiers; paper flies.</a:t>
            </a:r>
          </a:p>
          <a:p>
            <a:pPr>
              <a:spcAft>
                <a:spcPts val="200"/>
              </a:spcAft>
            </a:pPr>
            <a:r>
              <a:rPr sz="600" b="0">
                <a:solidFill>
                  <a:srgbClr val="1E1B18"/>
                </a:solidFill>
                <a:latin typeface="Calibri"/>
              </a:rPr>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4.04</a:t>
            </a:r>
            <a:r>
              <a:rPr sz="1400" b="0">
                <a:solidFill>
                  <a:srgbClr val="D8CFC2"/>
                </a:solidFill>
                <a:latin typeface="Calibri"/>
              </a:rPr>
              <a:t>   CU   ·   8.3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BlackRock had something almost nobody else had: twenty years of data and a machine built to answer exactly that question.</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Aladdin server hall hums; one screen shows a loan-by-loan breakdown.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One screen zooms to a loan-by-loan list scrolling fast; hum SFX.</a:t>
            </a:r>
          </a:p>
          <a:p>
            <a:pPr>
              <a:spcAft>
                <a:spcPts val="200"/>
              </a:spcAft>
            </a:pPr>
            <a:r>
              <a:rPr sz="600" b="0">
                <a:solidFill>
                  <a:srgbClr val="1E1B18"/>
                </a:solidFill>
                <a:latin typeface="Calibri"/>
              </a:rPr>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4.05</a:t>
            </a:r>
            <a:r>
              <a:rPr sz="1400" b="0">
                <a:solidFill>
                  <a:srgbClr val="D8CFC2"/>
                </a:solidFill>
                <a:latin typeface="Calibri"/>
              </a:rPr>
              <a:t>   MED   ·   12.8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So the US government hired it. The Federal Reserve and the Treasury brought BlackRock in to value and manage the toxic assets of Bear Stearns and AIG, and to advise on others.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Painted Federal Reserve building; a phone rings on Fink's desk.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HIRED BY WASHINGTON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Painted Fed building; cut to the phone on Fink's desk ringing and shaking.</a:t>
            </a:r>
          </a:p>
          <a:p>
            <a:pPr>
              <a:spcAft>
                <a:spcPts val="200"/>
              </a:spcAft>
            </a:pPr>
            <a:r>
              <a:rPr sz="600" b="0">
                <a:solidFill>
                  <a:srgbClr val="1E1B18"/>
                </a:solidFill>
                <a:latin typeface="Calibri"/>
              </a:rPr>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4.06</a:t>
            </a:r>
            <a:r>
              <a:rPr sz="1400" b="0">
                <a:solidFill>
                  <a:srgbClr val="D8CFC2"/>
                </a:solidFill>
                <a:latin typeface="Calibri"/>
              </a:rPr>
              <a:t>   CU   ·   8.3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firm that had grown out of one banker's loss became the firm Washington called to clean up the losses.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Fink walks up the steps of a federal building.</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Fink walks up the steps; tilt up with him to the columns.</a:t>
            </a:r>
          </a:p>
          <a:p>
            <a:pPr>
              <a:spcAft>
                <a:spcPts val="200"/>
              </a:spcAft>
            </a:pPr>
            <a:r>
              <a:rPr sz="600" b="0">
                <a:solidFill>
                  <a:srgbClr val="1E1B18"/>
                </a:solidFill>
                <a:latin typeface="Calibri"/>
              </a:rPr>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4.07</a:t>
            </a:r>
            <a:r>
              <a:rPr sz="1400" b="0">
                <a:solidFill>
                  <a:srgbClr val="D8CFC2"/>
                </a:solidFill>
                <a:latin typeface="Calibri"/>
              </a:rPr>
              <a:t>   MED   ·   9.8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 happened again in 2020. When Covid froze the markets, the Federal Reserve hired BlackRock to run its emergency programme for buying corporate bonds.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2020 empty city streets; a Fed memo with 'BLACKROCK' as manager; masks on the trading floor.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2020</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Empty streets; a memo slides in with BLACKROCK highlighted; masked traders.</a:t>
            </a:r>
          </a:p>
          <a:p>
            <a:pPr>
              <a:spcAft>
                <a:spcPts val="200"/>
              </a:spcAft>
            </a:pPr>
            <a:r>
              <a:rPr sz="600" b="0">
                <a:solidFill>
                  <a:srgbClr val="1E1B18"/>
                </a:solidFill>
                <a:latin typeface="Calibri"/>
              </a:rPr>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4.08</a:t>
            </a:r>
            <a:r>
              <a:rPr sz="1400" b="0">
                <a:solidFill>
                  <a:srgbClr val="D8CFC2"/>
                </a:solidFill>
                <a:latin typeface="Calibri"/>
              </a:rPr>
              <a:t>   CU   ·   7.5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4 · Act 4: 2008</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Some of that buying went into BlackRock's own bond ETFs, under rules the Fed had approved. Critics noticed.</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thin line connects the Fed's shopping cart to a BlackRock ETF tile; a raised-eyebrow cartoon reporter.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A thin line draws from the cart to the ETF tile; a cartoon reporter raises one eyebrow.</a:t>
            </a:r>
          </a:p>
          <a:p>
            <a:pPr>
              <a:spcAft>
                <a:spcPts val="200"/>
              </a:spcAft>
            </a:pPr>
            <a:r>
              <a:rPr sz="600" b="0">
                <a:solidFill>
                  <a:srgbClr val="1E1B18"/>
                </a:solidFill>
                <a:latin typeface="Calibri"/>
              </a:rPr>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5 · ACT 5: THE DEAL THAT CHANGED EVERYTHING</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5 frames · 0:37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5.01</a:t>
            </a:r>
            <a:r>
              <a:rPr sz="1400" b="0">
                <a:solidFill>
                  <a:srgbClr val="D8CFC2"/>
                </a:solidFill>
                <a:latin typeface="Calibri"/>
              </a:rPr>
              <a:t>   MED   ·   8.7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5 · Act 5: The Deal That Changed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Then, in 2009, while most of Wall Street was still on its knees, BlackRock made the biggest bet in its history.</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Empty trading floors; BlackRock's tower is the only one lit.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2009</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Other towers go dark one by one; only BlackRock stays lit.</a:t>
            </a:r>
          </a:p>
          <a:p>
            <a:pPr>
              <a:spcAft>
                <a:spcPts val="200"/>
              </a:spcAft>
            </a:pPr>
            <a:r>
              <a:rPr sz="600" b="0">
                <a:solidFill>
                  <a:srgbClr val="1E1B18"/>
                </a:solidFill>
                <a:latin typeface="Calibri"/>
              </a:rPr>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5.02</a:t>
            </a:r>
            <a:r>
              <a:rPr sz="1400" b="0">
                <a:solidFill>
                  <a:srgbClr val="D8CFC2"/>
                </a:solidFill>
                <a:latin typeface="Calibri"/>
              </a:rPr>
              <a:t>   MED   ·   7.5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5 · Act 5: The Deal That Changed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 bought Barclays Global Investors from the British bank Barclays for about thirteen and a half billion dollars.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Two negotiating tables join; a contract with '$13.5B' is signed.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$13.5 BILLION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Two tables slide together; a pen signs the contract; signature draws on.</a:t>
            </a:r>
          </a:p>
          <a:p>
            <a:pPr>
              <a:spcAft>
                <a:spcPts val="200"/>
              </a:spcAft>
            </a:pPr>
            <a:r>
              <a:rPr sz="600" b="0">
                <a:solidFill>
                  <a:srgbClr val="1E1B18"/>
                </a:solidFill>
                <a:latin typeface="Calibri"/>
              </a:rPr>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5.03</a:t>
            </a:r>
            <a:r>
              <a:rPr sz="1400" b="0">
                <a:solidFill>
                  <a:srgbClr val="D8CFC2"/>
                </a:solidFill>
                <a:latin typeface="Calibri"/>
              </a:rPr>
              <a:t>   CU   ·   7.9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5 · Act 5: The Deal That Changed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Inside that deal was a business called iShares, the biggest maker of exchange-traded funds, or ETFs, in the world.</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3D box labeled ISHARES opens to reveal rows of ETF tiles.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iSHARES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3D box lid opens; ETF tiles rise out in rows.</a:t>
            </a:r>
          </a:p>
          <a:p>
            <a:pPr>
              <a:spcAft>
                <a:spcPts val="200"/>
              </a:spcAft>
            </a:pPr>
            <a:r>
              <a:rPr sz="600" b="0">
                <a:solidFill>
                  <a:srgbClr val="1E1B18"/>
                </a:solidFill>
                <a:latin typeface="Calibri"/>
              </a:rPr>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5.04</a:t>
            </a:r>
            <a:r>
              <a:rPr sz="1400" b="0">
                <a:solidFill>
                  <a:srgbClr val="D8CFC2"/>
                </a:solidFill>
                <a:latin typeface="Calibri"/>
              </a:rPr>
              <a:t>   CHART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5 · Act 5: The Deal That Changed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Overnight, BlackRock went from managing about one point three trillion dollars to more than three trillion.</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AUM meter jumps from ~$1.3T to $3T+.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$3 TRILLION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AUM meter jumps with a big counter roll; coin rush SFX.</a:t>
            </a:r>
          </a:p>
          <a:p>
            <a:pPr>
              <a:spcAft>
                <a:spcPts val="200"/>
              </a:spcAft>
            </a:pPr>
            <a:r>
              <a:rPr sz="600" b="0">
                <a:solidFill>
                  <a:srgbClr val="1E1B18"/>
                </a:solidFill>
                <a:latin typeface="Calibri"/>
              </a:rPr>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5.05</a:t>
            </a:r>
            <a:r>
              <a:rPr sz="1400" b="0">
                <a:solidFill>
                  <a:srgbClr val="D8CFC2"/>
                </a:solidFill>
                <a:latin typeface="Calibri"/>
              </a:rPr>
              <a:t>   CU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5 · Act 5: The Deal That Changed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To see why that mattered so much, you need to understand what an ETF actually is.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Push into a single ETF tile.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Push into a single ETF tile until it fills the frame (transition).</a:t>
            </a:r>
          </a:p>
          <a:p>
            <a:pPr>
              <a:spcAft>
                <a:spcPts val="200"/>
              </a:spcAft>
            </a:pPr>
            <a:r>
              <a:rPr sz="600" b="0">
                <a:solidFill>
                  <a:srgbClr val="1E1B18"/>
                </a:solidFill>
                <a:latin typeface="Calibri"/>
              </a:rPr>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6 · ACT 6: HOW AN ETF WORKS</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9 frames · 1:18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6.01</a:t>
            </a:r>
            <a:r>
              <a:rPr sz="1400" b="0">
                <a:solidFill>
                  <a:srgbClr val="D8CFC2"/>
                </a:solidFill>
                <a:latin typeface="Calibri"/>
              </a:rPr>
              <a:t>   MED   ·   8.7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For decades, the normal way to invest was to hand your savings to a fund manager who picked stocks for you.</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An investor hands a jar of coins to a fund manager in a suit behind a big desk.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Investor hands the coin jar over the desk; manager takes it with a smile.</a:t>
            </a:r>
          </a:p>
          <a:p>
            <a:pPr>
              <a:spcAft>
                <a:spcPts val="200"/>
              </a:spcAft>
            </a:pPr>
            <a:r>
              <a:rPr sz="600" b="0">
                <a:solidFill>
                  <a:srgbClr val="1E1B18"/>
                </a:solidFill>
                <a:latin typeface="Calibri"/>
              </a:rPr>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6.02</a:t>
            </a:r>
            <a:r>
              <a:rPr sz="1400" b="0">
                <a:solidFill>
                  <a:srgbClr val="D8CFC2"/>
                </a:solidFill>
                <a:latin typeface="Calibri"/>
              </a:rPr>
              <a:t>   CHART   ·   7.5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You paid a yearly fee, often around one percent or more, whether the manager did well or not.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fee meter takes a slice off the coin jar every year.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 A YEAR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A slice is cut out of the jar each year; a calendar ticks 1, 2, 3.</a:t>
            </a:r>
          </a:p>
          <a:p>
            <a:pPr>
              <a:spcAft>
                <a:spcPts val="200"/>
              </a:spcAft>
            </a:pPr>
            <a:r>
              <a:rPr sz="600" b="0">
                <a:solidFill>
                  <a:srgbClr val="1E1B18"/>
                </a:solidFill>
                <a:latin typeface="Calibri"/>
              </a:rPr>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6.03</a:t>
            </a:r>
            <a:r>
              <a:rPr sz="1400" b="0">
                <a:solidFill>
                  <a:srgbClr val="D8CFC2"/>
                </a:solidFill>
                <a:latin typeface="Calibri"/>
              </a:rPr>
              <a:t>   CHART   ·   10.6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And most managers didn't beat the market. Over fifteen years, around nine in ten large US stock funds did worse than the S&amp;P 500 index.</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Ten little fund-manager figures race a line labeled S&amp;P 500; nine fall behind.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~9 IN 10 LOSE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Ten managers run beside the index line; nine slow and drop behind (run cycles).</a:t>
            </a:r>
          </a:p>
          <a:p>
            <a:pPr>
              <a:spcAft>
                <a:spcPts val="200"/>
              </a:spcAft>
            </a:pPr>
            <a:r>
              <a:rPr sz="600" b="0">
                <a:solidFill>
                  <a:srgbClr val="1E1B18"/>
                </a:solidFill>
                <a:latin typeface="Calibri"/>
              </a:rPr>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6.04</a:t>
            </a:r>
            <a:r>
              <a:rPr sz="1400" b="0">
                <a:solidFill>
                  <a:srgbClr val="D8CFC2"/>
                </a:solidFill>
                <a:latin typeface="Calibri"/>
              </a:rPr>
              <a:t>   MED   ·   8.3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So someone asked an obvious question. If the index is so hard to beat, why not just buy the index?</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light bulb over a figure holding a list of 500 companies.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A bulb flicks on above his head; he holds up the list.</a:t>
            </a:r>
          </a:p>
          <a:p>
            <a:pPr>
              <a:spcAft>
                <a:spcPts val="200"/>
              </a:spcAft>
            </a:pPr>
            <a:r>
              <a:rPr sz="600" b="0">
                <a:solidFill>
                  <a:srgbClr val="1E1B18"/>
                </a:solidFill>
                <a:latin typeface="Calibri"/>
              </a:rPr>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6.05</a:t>
            </a:r>
            <a:r>
              <a:rPr sz="1400" b="0">
                <a:solidFill>
                  <a:srgbClr val="D8CFC2"/>
                </a:solidFill>
                <a:latin typeface="Calibri"/>
              </a:rPr>
              <a:t>   CHART   ·   10.2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S&amp;P 500 is a list of five hundred of the biggest US companies, each with a weight. Bigger companies get a bigger share.</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tall list scrolls; the top entries have the widest bars.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S&amp;P 500</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A tall list scrolls upward; top entries have the widest bars.</a:t>
            </a:r>
          </a:p>
          <a:p>
            <a:pPr>
              <a:spcAft>
                <a:spcPts val="200"/>
              </a:spcAft>
            </a:pPr>
            <a:r>
              <a:rPr sz="600" b="0">
                <a:solidFill>
                  <a:srgbClr val="1E1B18"/>
                </a:solidFill>
                <a:latin typeface="Calibri"/>
              </a:rPr>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6.06</a:t>
            </a:r>
            <a:r>
              <a:rPr sz="1400" b="0">
                <a:solidFill>
                  <a:srgbClr val="D8CFC2"/>
                </a:solidFill>
                <a:latin typeface="Calibri"/>
              </a:rPr>
              <a:t>   CHART   ·   10.2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An index fund copies that list exactly. Put in ten thousand dollars, and a program splits it by those weights. No meetings. No stock picking.</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$10,000 pours into a funnel and splits into 500 thin streams of different widths.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$10,000 → 500 COMPANIES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Money pours into the funnel and splits into 500 thin streams.</a:t>
            </a:r>
          </a:p>
          <a:p>
            <a:pPr>
              <a:spcAft>
                <a:spcPts val="200"/>
              </a:spcAft>
            </a:pPr>
            <a:r>
              <a:rPr sz="600" b="0">
                <a:solidFill>
                  <a:srgbClr val="1E1B18"/>
                </a:solidFill>
                <a:latin typeface="Calibri"/>
              </a:rPr>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6.07</a:t>
            </a:r>
            <a:r>
              <a:rPr sz="1400" b="0">
                <a:solidFill>
                  <a:srgbClr val="D8CFC2"/>
                </a:solidFill>
                <a:latin typeface="Calibri"/>
              </a:rPr>
              <a:t>   MED   ·   7.2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If the market rises five percent, you rise five percent. If it falls, everyone falls with you.</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investor's jar rises and falls in lockstep with the index line.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jar rises and falls in step with the index line.</a:t>
            </a:r>
          </a:p>
          <a:p>
            <a:pPr>
              <a:spcAft>
                <a:spcPts val="200"/>
              </a:spcAft>
            </a:pPr>
            <a:r>
              <a:rPr sz="600" b="0">
                <a:solidFill>
                  <a:srgbClr val="1E1B18"/>
                </a:solidFill>
                <a:latin typeface="Calibri"/>
              </a:rPr>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6.08</a:t>
            </a:r>
            <a:r>
              <a:rPr sz="1400" b="0">
                <a:solidFill>
                  <a:srgbClr val="D8CFC2"/>
                </a:solidFill>
                <a:latin typeface="Calibri"/>
              </a:rPr>
              <a:t>   CHART   ·   10.2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Because there's no star manager to pay, the fee can be tiny. BlackRock's main S&amp;P 500 ETF charges about three hundredths of one percent.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Fee comparison: 1% vs 0.03%; at $1 million, $10,000 a year vs $300.</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 vs 0.03%</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Two fee bars grow; the cheap one stays tiny; numbers count.</a:t>
            </a:r>
          </a:p>
          <a:p>
            <a:pPr>
              <a:spcAft>
                <a:spcPts val="200"/>
              </a:spcAft>
            </a:pPr>
            <a:r>
              <a:rPr sz="600" b="0">
                <a:solidFill>
                  <a:srgbClr val="1E1B18"/>
                </a:solidFill>
                <a:latin typeface="Calibri"/>
              </a:rPr>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6.09</a:t>
            </a:r>
            <a:r>
              <a:rPr sz="1400" b="0">
                <a:solidFill>
                  <a:srgbClr val="D8CFC2"/>
                </a:solidFill>
                <a:latin typeface="Calibri"/>
              </a:rPr>
              <a:t>   CU   ·   5.3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6 · Act 6: How an ETF Works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That's the whole product. Cheap, simple, and very hard to argue with.</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ETF tile glows; a line of ordinary savers forms behind it.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tile glows; ordinary savers walk in and form a line behind it.</a:t>
            </a:r>
          </a:p>
          <a:p>
            <a:pPr>
              <a:spcAft>
                <a:spcPts val="200"/>
              </a:spcAft>
            </a:pPr>
            <a:r>
              <a:rPr sz="600" b="0">
                <a:solidFill>
                  <a:srgbClr val="1E1B18"/>
                </a:solidFill>
                <a:latin typeface="Calibri"/>
              </a:rPr>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7 · ACT 7: OWNING A PIECE OF EVERYTHING</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8 frames · 1:09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7.01</a:t>
            </a:r>
            <a:r>
              <a:rPr sz="1400" b="0">
                <a:solidFill>
                  <a:srgbClr val="D8CFC2"/>
                </a:solidFill>
                <a:latin typeface="Calibri"/>
              </a:rPr>
              <a:t>   WIDE   ·   8.7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Over the next fifteen years, Americans moved trillions of dollars into index funds. A big share of it went to BlackRock.</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Rivers of coins flow from houses, pension funds and phones into the black tower.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Rivers of coins flow from houses, funds and phones into the tower (particle streams).</a:t>
            </a:r>
          </a:p>
          <a:p>
            <a:pPr>
              <a:spcAft>
                <a:spcPts val="200"/>
              </a:spcAft>
            </a:pPr>
            <a:r>
              <a:rPr sz="600" b="0">
                <a:solidFill>
                  <a:srgbClr val="1E1B18"/>
                </a:solidFill>
                <a:latin typeface="Calibri"/>
              </a:rPr>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7.02</a:t>
            </a:r>
            <a:r>
              <a:rPr sz="1400" b="0">
                <a:solidFill>
                  <a:srgbClr val="D8CFC2"/>
                </a:solidFill>
                <a:latin typeface="Calibri"/>
              </a:rPr>
              <a:t>   CHART   ·   4.5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By 2026, iShares alone held more than six trillion dollars.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AUM meter: the iShares portion fills to $6T+.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iSHARES: $6T+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iShares slice of the meter fills to $6T+.</a:t>
            </a:r>
          </a:p>
          <a:p>
            <a:pPr>
              <a:spcAft>
                <a:spcPts val="200"/>
              </a:spcAft>
            </a:pPr>
            <a:r>
              <a:rPr sz="600" b="0">
                <a:solidFill>
                  <a:srgbClr val="1E1B18"/>
                </a:solidFill>
                <a:latin typeface="Calibri"/>
              </a:rPr>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7.03</a:t>
            </a:r>
            <a:r>
              <a:rPr sz="1400" b="0">
                <a:solidFill>
                  <a:srgbClr val="D8CFC2"/>
                </a:solidFill>
                <a:latin typeface="Calibri"/>
              </a:rPr>
              <a:t>   CU   ·   8.3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Each fee is tiny. But a tiny fee on trillions of dollars, running automatically every day, is an enormous business.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single small coin multiplies into a mountain.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One coin multiplies, doubling on beats, into a mountain.</a:t>
            </a:r>
          </a:p>
          <a:p>
            <a:pPr>
              <a:spcAft>
                <a:spcPts val="200"/>
              </a:spcAft>
            </a:pPr>
            <a:r>
              <a:rPr sz="600" b="0">
                <a:solidFill>
                  <a:srgbClr val="1E1B18"/>
                </a:solidFill>
                <a:latin typeface="Calibri"/>
              </a:rPr>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7.04</a:t>
            </a:r>
            <a:r>
              <a:rPr sz="1400" b="0">
                <a:solidFill>
                  <a:srgbClr val="D8CFC2"/>
                </a:solidFill>
                <a:latin typeface="Calibri"/>
              </a:rPr>
              <a:t>   MED   ·   9.4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And here's the part that matters. Every dollar that goes into an index fund buys a slice of every company in the index.</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One dollar splits into 500 slivers that fly into company tiles.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A dollar splits into slivers that fly into company tiles.</a:t>
            </a:r>
          </a:p>
          <a:p>
            <a:pPr>
              <a:spcAft>
                <a:spcPts val="200"/>
              </a:spcAft>
            </a:pPr>
            <a:r>
              <a:rPr sz="600" b="0">
                <a:solidFill>
                  <a:srgbClr val="1E1B18"/>
                </a:solidFill>
                <a:latin typeface="Calibri"/>
              </a:rPr>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7.05</a:t>
            </a:r>
            <a:r>
              <a:rPr sz="1400" b="0">
                <a:solidFill>
                  <a:srgbClr val="D8CFC2"/>
                </a:solidFill>
                <a:latin typeface="Calibri"/>
              </a:rPr>
              <a:t>   CHART   ·   10.2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That's how BlackRock ends up holding around seven to eight percent of Nvidia, Microsoft and Apple. Nobody at BlackRock chose those stocks. The index did.</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Ownership wedges grow on the three tiles from the cold open.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~7-8% EACH</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ownership wedges from the cold open grow bigger.</a:t>
            </a:r>
          </a:p>
          <a:p>
            <a:pPr>
              <a:spcAft>
                <a:spcPts val="200"/>
              </a:spcAft>
            </a:pPr>
            <a:r>
              <a:rPr sz="600" b="0">
                <a:solidFill>
                  <a:srgbClr val="1E1B18"/>
                </a:solidFill>
                <a:latin typeface="Calibri"/>
              </a:rPr>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7.06</a:t>
            </a:r>
            <a:r>
              <a:rPr sz="1400" b="0">
                <a:solidFill>
                  <a:srgbClr val="D8CFC2"/>
                </a:solidFill>
                <a:latin typeface="Calibri"/>
              </a:rPr>
              <a:t>   MED   ·   8.3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 isn't alone. Two other giants, Vanguard and State Street, grew the same way. Together they're called the Big Three.</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Three towers stand side by side on the skyline.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THE BIG THREE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Three towers rise from the ground side by side.</a:t>
            </a:r>
          </a:p>
          <a:p>
            <a:pPr>
              <a:spcAft>
                <a:spcPts val="200"/>
              </a:spcAft>
            </a:pPr>
            <a:r>
              <a:rPr sz="600" b="0">
                <a:solidFill>
                  <a:srgbClr val="1E1B18"/>
                </a:solidFill>
                <a:latin typeface="Calibri"/>
              </a:rPr>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7.07</a:t>
            </a:r>
            <a:r>
              <a:rPr sz="1400" b="0">
                <a:solidFill>
                  <a:srgbClr val="D8CFC2"/>
                </a:solidFill>
                <a:latin typeface="Calibri"/>
              </a:rPr>
              <a:t>   CHART   ·   11.7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Researchers at the University of Amsterdam found that, taken together, the Big Three were the largest shareholder in about nine out of ten companies in the S&amp;P 500.</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S&amp;P 500 grid of 500 dots; about 88% turn dark.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~88% OF THE S&amp;P 500</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Grid of 500 dots; about 88% turn dark in a ripple.</a:t>
            </a:r>
          </a:p>
          <a:p>
            <a:pPr>
              <a:spcAft>
                <a:spcPts val="200"/>
              </a:spcAft>
            </a:pPr>
            <a:r>
              <a:rPr sz="600" b="0">
                <a:solidFill>
                  <a:srgbClr val="1E1B18"/>
                </a:solidFill>
                <a:latin typeface="Calibri"/>
              </a:rPr>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7.08</a:t>
            </a:r>
            <a:r>
              <a:rPr sz="1400" b="0">
                <a:solidFill>
                  <a:srgbClr val="D8CFC2"/>
                </a:solidFill>
                <a:latin typeface="Calibri"/>
              </a:rPr>
              <a:t>   CU   ·   7.9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7 · Act 7: Owning a Piece of Everything</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And shareholders get votes. On who sits on company boards, on how executives are paid, on big strategy questions.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shareholder meeting hall; a giant ballot box; the Big Three drop in thick stacks of ballots.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VOTES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Three thick ballot stacks drop into the box with heavy thuds.</a:t>
            </a:r>
          </a:p>
          <a:p>
            <a:pPr>
              <a:spcAft>
                <a:spcPts val="200"/>
              </a:spcAft>
            </a:pPr>
            <a:r>
              <a:rPr sz="600" b="0">
                <a:solidFill>
                  <a:srgbClr val="1E1B18"/>
                </a:solidFill>
                <a:latin typeface="Calibri"/>
              </a:rPr>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8 · ACT 8: THE LETTERS</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6 frames · 0:55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8.01</a:t>
            </a:r>
            <a:r>
              <a:rPr sz="1400" b="0">
                <a:solidFill>
                  <a:srgbClr val="D8CFC2"/>
                </a:solidFill>
                <a:latin typeface="Calibri"/>
              </a:rPr>
              <a:t>   MED   ·   7.2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8 · Act 8: The Letters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Every January, Larry Fink writes a public letter to the bosses of the companies BlackRock invests in.</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Fink at a desk writing; envelopes fly out to hundreds of company towers.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THE ANNUAL LETTER</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Fink writes; envelopes fly out to hundreds of tiny towers.</a:t>
            </a:r>
          </a:p>
          <a:p>
            <a:pPr>
              <a:spcAft>
                <a:spcPts val="200"/>
              </a:spcAft>
            </a:pPr>
            <a:r>
              <a:rPr sz="600" b="0">
                <a:solidFill>
                  <a:srgbClr val="1E1B18"/>
                </a:solidFill>
                <a:latin typeface="Calibri"/>
              </a:rPr>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8.02</a:t>
            </a:r>
            <a:r>
              <a:rPr sz="1400" b="0">
                <a:solidFill>
                  <a:srgbClr val="D8CFC2"/>
                </a:solidFill>
                <a:latin typeface="Calibri"/>
              </a:rPr>
              <a:t>   CARD   ·   9.8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8 · Act 8: The Letters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In 2020, the letter said that climate risk is investment risk, and that BlackRock would put sustainability at the centre of how it invests.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Letter page close-up with that line highlighted.</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CLIMATE RISK IS INVESTMENT RISK</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Letter close-up; a highlighter sweeps the key line.</a:t>
            </a:r>
          </a:p>
          <a:p>
            <a:pPr>
              <a:spcAft>
                <a:spcPts val="200"/>
              </a:spcAft>
            </a:pPr>
            <a:r>
              <a:rPr sz="600" b="0">
                <a:solidFill>
                  <a:srgbClr val="1E1B18"/>
                </a:solidFill>
                <a:latin typeface="Calibri"/>
              </a:rPr>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8.03</a:t>
            </a:r>
            <a:r>
              <a:rPr sz="1400" b="0">
                <a:solidFill>
                  <a:srgbClr val="D8CFC2"/>
                </a:solidFill>
                <a:latin typeface="Calibri"/>
              </a:rPr>
              <a:t>   MED   ·   5.3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8 · Act 8: The Letters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When the biggest owner in the market says that, every boardroom listens.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Boardroom of executives reading the letter, nervous glances.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Executives read and glance at each other nervously.</a:t>
            </a:r>
          </a:p>
          <a:p>
            <a:pPr>
              <a:spcAft>
                <a:spcPts val="200"/>
              </a:spcAft>
            </a:pPr>
            <a:r>
              <a:rPr sz="600" b="0">
                <a:solidFill>
                  <a:srgbClr val="1E1B18"/>
                </a:solidFill>
                <a:latin typeface="Calibri"/>
              </a:rPr>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8.04</a:t>
            </a:r>
            <a:r>
              <a:rPr sz="1400" b="0">
                <a:solidFill>
                  <a:srgbClr val="D8CFC2"/>
                </a:solidFill>
                <a:latin typeface="Calibri"/>
              </a:rPr>
              <a:t>   MED   ·   11.3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8 · Act 8: The Letters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Then the backlash came from the other side. Republican-led states called it political, and some pulled money out. Florida alone moved about two billion dollars away in 2022.</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state treasurer's office; coins flow out of the black tower back to a state building.</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FLORIDA: -$2B</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Coins flow out of the tower back to the state building.</a:t>
            </a:r>
          </a:p>
          <a:p>
            <a:pPr>
              <a:spcAft>
                <a:spcPts val="200"/>
              </a:spcAft>
            </a:pPr>
            <a:r>
              <a:rPr sz="600" b="0">
                <a:solidFill>
                  <a:srgbClr val="1E1B18"/>
                </a:solidFill>
                <a:latin typeface="Calibri"/>
              </a:rPr>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8.05</a:t>
            </a:r>
            <a:r>
              <a:rPr sz="1400" b="0">
                <a:solidFill>
                  <a:srgbClr val="D8CFC2"/>
                </a:solidFill>
                <a:latin typeface="Calibri"/>
              </a:rPr>
              <a:t>   MED   ·   10.9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8 · Act 8: The Letters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BlackRock changed its tone. It let more of its fund investors cast their own votes, and in 2025 it left the climate alliance Net Zero Asset Managers.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voting slip passes from BlackRock's hand to many small hands; a NET ZERO banner is rolled up.</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2025</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Voting slip passes to many small hands; the banner rolls up.</a:t>
            </a:r>
          </a:p>
          <a:p>
            <a:pPr>
              <a:spcAft>
                <a:spcPts val="200"/>
              </a:spcAft>
            </a:pPr>
            <a:r>
              <a:rPr sz="600" b="0">
                <a:solidFill>
                  <a:srgbClr val="1E1B18"/>
                </a:solidFill>
                <a:latin typeface="Calibri"/>
              </a:rPr>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8.06</a:t>
            </a:r>
            <a:r>
              <a:rPr sz="1400" b="0">
                <a:solidFill>
                  <a:srgbClr val="D8CFC2"/>
                </a:solidFill>
                <a:latin typeface="Calibri"/>
              </a:rPr>
              <a:t>   CU   ·   10.6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8 · Act 8: The Letters</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Attacked from the left for not doing enough, and from the right for doing too much. That's what happens when you own a slice of everyone.</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tower stands between two crowds holding opposite signs.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Two crowds with opposite signs; the tower stands between them; slow push.</a:t>
            </a:r>
          </a:p>
          <a:p>
            <a:pPr>
              <a:spcAft>
                <a:spcPts val="200"/>
              </a:spcAft>
            </a:pPr>
            <a:r>
              <a:rPr sz="600" b="0">
                <a:solidFill>
                  <a:srgbClr val="1E1B18"/>
                </a:solidFill>
                <a:latin typeface="Calibri"/>
              </a:rPr>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9 · ACT 9: THE COAL CASE</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7 frames · 1:06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9.01</a:t>
            </a:r>
            <a:r>
              <a:rPr sz="1400" b="0">
                <a:solidFill>
                  <a:srgbClr val="D8CFC2"/>
                </a:solidFill>
                <a:latin typeface="Calibri"/>
              </a:rPr>
              <a:t>   MED   ·   9.1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9 · Act 9: The Coal Case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That voting power is where the trouble starts. In late 2024, Texas and ten other states sued BlackRock, Vanguard and State Street.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Painted Texas courthouse; a thick complaint lands on a judge's bench.</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TEXAS v. BLACKROCK · 2024</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Painted Texas courthouse; the thick complaint lands on the bench with a thud.</a:t>
            </a:r>
          </a:p>
          <a:p>
            <a:pPr>
              <a:spcAft>
                <a:spcPts val="200"/>
              </a:spcAft>
            </a:pPr>
            <a:r>
              <a:rPr sz="600" b="0">
                <a:solidFill>
                  <a:srgbClr val="1E1B18"/>
                </a:solidFill>
                <a:latin typeface="Calibri"/>
              </a:rPr>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9.02</a:t>
            </a:r>
            <a:r>
              <a:rPr sz="1400" b="0">
                <a:solidFill>
                  <a:srgbClr val="D8CFC2"/>
                </a:solidFill>
                <a:latin typeface="Calibri"/>
              </a:rPr>
              <a:t>   CHART   ·   12.8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9 · Act 9: The Coal Case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states pointed out that the three firms held big stakes in America's largest coal producers, in the power companies that burn coal, and in the tech giants that buy the electricity.</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Three columns of tiles: MINERS, BURNERS, BUYERS, each with Big Three wedges.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MINERS · BURNERS · BUYERS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Three columns build; Big Three wedges appear on each tile.</a:t>
            </a:r>
          </a:p>
          <a:p>
            <a:pPr>
              <a:spcAft>
                <a:spcPts val="200"/>
              </a:spcAft>
            </a:pPr>
            <a:r>
              <a:rPr sz="600" b="0">
                <a:solidFill>
                  <a:srgbClr val="1E1B18"/>
                </a:solidFill>
                <a:latin typeface="Calibri"/>
              </a:rPr>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9.03</a:t>
            </a:r>
            <a:r>
              <a:rPr sz="1400" b="0">
                <a:solidFill>
                  <a:srgbClr val="D8CFC2"/>
                </a:solidFill>
                <a:latin typeface="Calibri"/>
              </a:rPr>
              <a:t>   MED   ·   6.8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9 · Act 9: The Coal Case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At the same time, the firms had joined climate groups that pushed companies to cut emissions.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Conference room with a banner 'NET ZERO 2050'; Big Three logos replaced by plain name cards.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Banner unfurls; plain name cards slide onto the table.</a:t>
            </a:r>
          </a:p>
          <a:p>
            <a:pPr>
              <a:spcAft>
                <a:spcPts val="200"/>
              </a:spcAft>
            </a:pPr>
            <a:r>
              <a:rPr sz="600" b="0">
                <a:solidFill>
                  <a:srgbClr val="1E1B18"/>
                </a:solidFill>
                <a:latin typeface="Calibri"/>
              </a:rPr>
              <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9.04</a:t>
            </a:r>
            <a:r>
              <a:rPr sz="1400" b="0">
                <a:solidFill>
                  <a:srgbClr val="D8CFC2"/>
                </a:solidFill>
                <a:latin typeface="Calibri"/>
              </a:rPr>
              <a:t>   CHART   ·   10.6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9 · Act 9: The Coal Case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lawsuit argues that this worked like a cartel: owners of competing coal companies using their influence to cut output, which pushed up prices for everyone.</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Coal output line dips; coal price and electricity bill lines rise.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THE CLAIM</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Coal output line dips while price and bill lines rise.</a:t>
            </a:r>
          </a:p>
          <a:p>
            <a:pPr>
              <a:spcAft>
                <a:spcPts val="200"/>
              </a:spcAft>
            </a:pPr>
            <a:r>
              <a:rPr sz="600" b="0">
                <a:solidFill>
                  <a:srgbClr val="1E1B18"/>
                </a:solidFill>
                <a:latin typeface="Calibri"/>
              </a:rPr>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9.05</a:t>
            </a:r>
            <a:r>
              <a:rPr sz="1400" b="0">
                <a:solidFill>
                  <a:srgbClr val="D8CFC2"/>
                </a:solidFill>
                <a:latin typeface="Calibri"/>
              </a:rPr>
              <a:t>   MED   ·   7.9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9 · Act 9: The Coal Case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The firms deny it. They say index funds simply own what the index holds and don't run the companies.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spokesperson figure at a podium with a printed statement.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THE DEFENSE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Spokesperson reads the statement; camera flashes.</a:t>
            </a:r>
          </a:p>
          <a:p>
            <a:pPr>
              <a:spcAft>
                <a:spcPts val="200"/>
              </a:spcAft>
            </a:pPr>
            <a:r>
              <a:rPr sz="600" b="0">
                <a:solidFill>
                  <a:srgbClr val="1E1B18"/>
                </a:solidFill>
                <a:latin typeface="Calibri"/>
              </a:rPr>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9.06</a:t>
            </a:r>
            <a:r>
              <a:rPr sz="1400" b="0">
                <a:solidFill>
                  <a:srgbClr val="D8CFC2"/>
                </a:solidFill>
                <a:latin typeface="Calibri"/>
              </a:rPr>
              <a:t>   CARD   ·   9.8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9 · Act 9: The Coal Case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In February 2026, Vanguard settled for twenty-nine and a half million dollars without admitting wrongdoing. BlackRock and State Street are still fighting the case.</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Two document cards: VANGUARD: SETTLED $29.5M · BLACKROCK &amp; STATE STREET: ONGOING.</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VANGUARD SETTLED $29.5M</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Two document cards slide in; SETTLED stamp on the first.</a:t>
            </a:r>
          </a:p>
          <a:p>
            <a:pPr>
              <a:spcAft>
                <a:spcPts val="200"/>
              </a:spcAft>
            </a:pPr>
            <a:r>
              <a:rPr sz="600" b="0">
                <a:solidFill>
                  <a:srgbClr val="1E1B18"/>
                </a:solidFill>
                <a:latin typeface="Calibri"/>
              </a:rPr>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9.07</a:t>
            </a:r>
            <a:r>
              <a:rPr sz="1400" b="0">
                <a:solidFill>
                  <a:srgbClr val="D8CFC2"/>
                </a:solidFill>
                <a:latin typeface="Calibri"/>
              </a:rPr>
              <a:t>   CU   ·   9.8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9 · Act 9: The Coal Case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Whoever wins, the case asks a real question. What happens when the same few investors own a slice of every competitor in an industry?</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three towers cast long shadows over the whole board of company tiles.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WHO OWNS THE COMPETITION?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Long shadows from three towers sweep over a board of company tiles.</a:t>
            </a:r>
          </a:p>
          <a:p>
            <a:pPr>
              <a:spcAft>
                <a:spcPts val="200"/>
              </a:spcAft>
            </a:pPr>
            <a:r>
              <a:rPr sz="600" b="0">
                <a:solidFill>
                  <a:srgbClr val="1E1B18"/>
                </a:solidFill>
                <a:latin typeface="Calibri"/>
              </a:rPr>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2743200"/>
            <a:ext cx="12191695" cy="137160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880360"/>
            <a:ext cx="10698480" cy="640080"/>
          </a:xfrm>
          <a:prstGeom prst="rect">
            <a:avLst/>
          </a:prstGeom>
          <a:noFill/>
        </p:spPr>
        <p:txBody>
          <a:bodyPr wrap="square" lIns="45720" rIns="45720" tIns="18288" bIns="18288">
            <a:spAutoFit/>
          </a:bodyPr>
          <a:lstStyle/>
          <a:p>
            <a:pPr>
              <a:spcAft>
                <a:spcPts val="200"/>
              </a:spcAft>
            </a:pPr>
            <a:r>
              <a:rPr sz="3200" b="1">
                <a:solidFill>
                  <a:srgbClr val="F6F1E8"/>
                </a:solidFill>
                <a:latin typeface="Calibri"/>
              </a:rPr>
              <a:t>ACT 10 · ACT 10: TWO SIDES OF THE SAME MACHINE</a:t>
            </a:r>
          </a:p>
        </p:txBody>
      </p:sp>
      <p:sp>
        <p:nvSpPr>
          <p:cNvPr id="4" name="TextBox 3"/>
          <p:cNvSpPr txBox="1"/>
          <p:nvPr/>
        </p:nvSpPr>
        <p:spPr>
          <a:xfrm>
            <a:off x="731520" y="3520440"/>
            <a:ext cx="10698480" cy="457200"/>
          </a:xfrm>
          <a:prstGeom prst="rect">
            <a:avLst/>
          </a:prstGeom>
          <a:noFill/>
        </p:spPr>
        <p:txBody>
          <a:bodyPr wrap="square" lIns="45720" rIns="45720" tIns="18288" bIns="18288">
            <a:spAutoFit/>
          </a:bodyPr>
          <a:lstStyle/>
          <a:p>
            <a:pPr>
              <a:spcAft>
                <a:spcPts val="200"/>
              </a:spcAft>
            </a:pPr>
            <a:r>
              <a:rPr sz="1600" b="0">
                <a:solidFill>
                  <a:srgbClr val="D8CFC2"/>
                </a:solidFill>
                <a:latin typeface="Calibri"/>
              </a:rPr>
              <a:t>7 frames · 0:59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10.01</a:t>
            </a:r>
            <a:r>
              <a:rPr sz="1400" b="0">
                <a:solidFill>
                  <a:srgbClr val="D8CFC2"/>
                </a:solidFill>
                <a:latin typeface="Calibri"/>
              </a:rPr>
              <a:t>   MED   ·   6.0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10 · Act 10: Two Sides of the Same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It's easy to tell this as a villain story. It's more complicated than that.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The black tower in daylight now, ordinary people walking past.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Daylight; ordinary people walk past (walk cycles); calm.</a:t>
            </a:r>
          </a:p>
          <a:p>
            <a:pPr>
              <a:spcAft>
                <a:spcPts val="200"/>
              </a:spcAft>
            </a:pPr>
            <a:r>
              <a:rPr sz="600" b="0">
                <a:solidFill>
                  <a:srgbClr val="1E1B18"/>
                </a:solidFill>
                <a:latin typeface="Calibri"/>
              </a:rPr>
              <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10.02</a:t>
            </a:r>
            <a:r>
              <a:rPr sz="1400" b="0">
                <a:solidFill>
                  <a:srgbClr val="D8CFC2"/>
                </a:solidFill>
                <a:latin typeface="Calibri"/>
              </a:rPr>
              <a:t>   CHART   ·   9.1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10 · Act 10: Two Sides of the Same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Index funds have saved ordinary savers huge amounts in fees. A teacher's pension can now own the whole market for almost nothing.</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A teacher figure watches her savings jar keep a much bigger share as the fee slice shrinks.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LOW FEES FOR SAVERS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Teacher watches her jar; the fee slice shrinks and she keeps more.</a:t>
            </a:r>
          </a:p>
          <a:p>
            <a:pPr>
              <a:spcAft>
                <a:spcPts val="200"/>
              </a:spcAft>
            </a:pPr>
            <a:r>
              <a:rPr sz="600" b="0">
                <a:solidFill>
                  <a:srgbClr val="1E1B18"/>
                </a:solidFill>
                <a:latin typeface="Calibri"/>
              </a:rPr>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10.03</a:t>
            </a:r>
            <a:r>
              <a:rPr sz="1400" b="0">
                <a:solidFill>
                  <a:srgbClr val="D8CFC2"/>
                </a:solidFill>
                <a:latin typeface="Calibri"/>
              </a:rPr>
              <a:t>   CU   ·   7.5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10 · Act 10: Two Sides of the Same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But the same money that makes investing cheap also gathers ownership into a very small number of hands.</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Coins from millions of jars flow into just three towers.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Coins from millions of jars flow into three towers.</a:t>
            </a:r>
          </a:p>
          <a:p>
            <a:pPr>
              <a:spcAft>
                <a:spcPts val="200"/>
              </a:spcAft>
            </a:pPr>
            <a:r>
              <a:rPr sz="600" b="0">
                <a:solidFill>
                  <a:srgbClr val="1E1B18"/>
                </a:solidFill>
                <a:latin typeface="Calibri"/>
              </a:rPr>
              <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10.04</a:t>
            </a:r>
            <a:r>
              <a:rPr sz="1400" b="0">
                <a:solidFill>
                  <a:srgbClr val="D8CFC2"/>
                </a:solidFill>
                <a:latin typeface="Calibri"/>
              </a:rPr>
              <a:t>   MED   ·   7.9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10 · Act 10: Two Sides of the Same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It began with a young banker who lost a hundred million dollars because he didn't understand his own risk.</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Flashback: 1986 trading floor, red loss.</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Flashback grade (sepia); the red loss flashes.</a:t>
            </a:r>
          </a:p>
          <a:p>
            <a:pPr>
              <a:spcAft>
                <a:spcPts val="200"/>
              </a:spcAft>
            </a:pPr>
            <a:r>
              <a:rPr sz="600" b="0">
                <a:solidFill>
                  <a:srgbClr val="1E1B18"/>
                </a:solidFill>
                <a:latin typeface="Calibri"/>
              </a:rPr>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10.05</a:t>
            </a:r>
            <a:r>
              <a:rPr sz="1400" b="0">
                <a:solidFill>
                  <a:srgbClr val="D8CFC2"/>
                </a:solidFill>
                <a:latin typeface="Calibri"/>
              </a:rPr>
              <a:t>   MED   ·   10.2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10 · Act 10: Two Sides of the Same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He built a machine to measure risk, used it to win Washington's trust in 2008, and bought the right business at exactly the right moment.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Quick recap: Aladdin hall, Federal Reserve steps, the iShares box opening.</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Quick recap montage, 1 s each: Aladdin hall, Fed steps, the iShares box.</a:t>
            </a:r>
          </a:p>
          <a:p>
            <a:pPr>
              <a:spcAft>
                <a:spcPts val="200"/>
              </a:spcAft>
            </a:pPr>
            <a:r>
              <a:rPr sz="600" b="0">
                <a:solidFill>
                  <a:srgbClr val="1E1B18"/>
                </a:solidFill>
                <a:latin typeface="Calibri"/>
              </a:rPr>
              <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10.06</a:t>
            </a:r>
            <a:r>
              <a:rPr sz="1400" b="0">
                <a:solidFill>
                  <a:srgbClr val="D8CFC2"/>
                </a:solidFill>
                <a:latin typeface="Calibri"/>
              </a:rPr>
              <a:t>   CU   ·   9.4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10 · Act 10: Two Sides of the Same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Now the question isn't how BlackRock got so big. It's who should keep watch over a company that owns a piece of everything.</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Final shot: the AUM meter at $15.3T beside the skyline at night.</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$15.3 TRILLION</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The AUM meter at $15.3T beside the night skyline; slow pull back.</a:t>
            </a:r>
          </a:p>
          <a:p>
            <a:pPr>
              <a:spcAft>
                <a:spcPts val="200"/>
              </a:spcAft>
            </a:pPr>
            <a:r>
              <a:rPr sz="600" b="0">
                <a:solidFill>
                  <a:srgbClr val="1E1B18"/>
                </a:solidFill>
                <a:latin typeface="Calibri"/>
              </a:rPr>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6F1E8"/>
        </a:solidFill>
        <a:effectLst/>
      </p:bgPr>
    </p:bg>
    <p:spTree>
      <p:nvGrpSpPr>
        <p:cNvPr id="1" name=""/>
        <p:cNvGrpSpPr/>
        <p:nvPr/>
      </p:nvGrpSpPr>
      <p:grpSpPr/>
      <p:sp>
        <p:nvSpPr>
          <p:cNvPr id="2" name="Rectangle 1"/>
          <p:cNvSpPr/>
          <p:nvPr/>
        </p:nvSpPr>
        <p:spPr>
          <a:xfrm>
            <a:off x="0" y="0"/>
            <a:ext cx="12191695" cy="502920"/>
          </a:xfrm>
          <a:prstGeom prst="rect">
            <a:avLst/>
          </a:prstGeom>
          <a:solidFill>
            <a:srgbClr val="2A2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7315200" cy="365760"/>
          </a:xfrm>
          <a:prstGeom prst="rect">
            <a:avLst/>
          </a:prstGeom>
          <a:noFill/>
        </p:spPr>
        <p:txBody>
          <a:bodyPr wrap="square" lIns="45720" rIns="45720" tIns="18288" bIns="18288">
            <a:spAutoFit/>
          </a:bodyPr>
          <a:lstStyle/>
          <a:p>
            <a:pPr>
              <a:spcAft>
                <a:spcPts val="200"/>
              </a:spcAft>
            </a:pPr>
            <a:r>
              <a:rPr sz="1600" b="1">
                <a:solidFill>
                  <a:srgbClr val="F6F1E8"/>
                </a:solidFill>
                <a:latin typeface="Calibri"/>
              </a:rPr>
              <a:t>BR 10.07</a:t>
            </a:r>
            <a:r>
              <a:rPr sz="1400" b="0">
                <a:solidFill>
                  <a:srgbClr val="D8CFC2"/>
                </a:solidFill>
                <a:latin typeface="Calibri"/>
              </a:rPr>
              <a:t>   WIDE   ·   9.8 s</a:t>
            </a:r>
          </a:p>
        </p:txBody>
      </p:sp>
      <p:sp>
        <p:nvSpPr>
          <p:cNvPr id="4" name="TextBox 3"/>
          <p:cNvSpPr txBox="1"/>
          <p:nvPr/>
        </p:nvSpPr>
        <p:spPr>
          <a:xfrm>
            <a:off x="6858000" y="109728"/>
            <a:ext cx="5029200" cy="365760"/>
          </a:xfrm>
          <a:prstGeom prst="rect">
            <a:avLst/>
          </a:prstGeom>
          <a:noFill/>
        </p:spPr>
        <p:txBody>
          <a:bodyPr wrap="square" lIns="45720" rIns="45720" tIns="18288" bIns="18288">
            <a:spAutoFit/>
          </a:bodyPr>
          <a:lstStyle/>
          <a:p>
            <a:pPr algn="r">
              <a:spcAft>
                <a:spcPts val="200"/>
              </a:spcAft>
            </a:pPr>
            <a:r>
              <a:rPr sz="1300" b="0">
                <a:solidFill>
                  <a:srgbClr val="D8CFC2"/>
                </a:solidFill>
                <a:latin typeface="Calibri"/>
              </a:rPr>
              <a:t>Act 10 · Act 10: Two Sides of the Same Machine</a:t>
            </a:r>
          </a:p>
        </p:txBody>
      </p:sp>
      <p:pic>
        <p:nvPicPr>
          <p:cNvPr id="5" name="Picture 4" descr="image.jpg"/>
          <p:cNvPicPr>
            <a:picLocks noChangeAspect="1"/>
          </p:cNvPicPr>
          <p:nvPr/>
        </p:nvPicPr>
        <p:blipFill>
          <a:blip r:embed="rId2"/>
          <a:stretch>
            <a:fillRect/>
          </a:stretch>
        </p:blipFill>
        <p:spPr>
          <a:xfrm>
            <a:off x="320040" y="777240"/>
            <a:ext cx="6766560" cy="3806190"/>
          </a:xfrm>
          <a:prstGeom prst="rect">
            <a:avLst/>
          </a:prstGeom>
        </p:spPr>
      </p:pic>
      <p:sp>
        <p:nvSpPr>
          <p:cNvPr id="6" name="TextBox 5"/>
          <p:cNvSpPr txBox="1"/>
          <p:nvPr/>
        </p:nvSpPr>
        <p:spPr>
          <a:xfrm>
            <a:off x="320040" y="4720590"/>
            <a:ext cx="6766560" cy="2011680"/>
          </a:xfrm>
          <a:prstGeom prst="rect">
            <a:avLst/>
          </a:prstGeom>
          <a:noFill/>
        </p:spPr>
        <p:txBody>
          <a:bodyPr wrap="square" lIns="45720" rIns="45720" tIns="18288" bIns="18288">
            <a:spAutoFit/>
          </a:bodyPr>
          <a:lstStyle/>
          <a:p>
            <a:pPr>
              <a:spcAft>
                <a:spcPts val="200"/>
              </a:spcAft>
            </a:pPr>
            <a:r>
              <a:rPr sz="1100" b="1">
                <a:solidFill>
                  <a:srgbClr val="B44A1E"/>
                </a:solidFill>
                <a:latin typeface="Calibri"/>
              </a:rPr>
              <a:t>VO</a:t>
            </a:r>
          </a:p>
          <a:p>
            <a:pPr>
              <a:spcAft>
                <a:spcPts val="200"/>
              </a:spcAft>
            </a:pPr>
            <a:r>
              <a:rPr sz="1800" b="0">
                <a:solidFill>
                  <a:srgbClr val="1E1B18"/>
                </a:solidFill>
                <a:latin typeface="Calibri"/>
              </a:rPr>
              <a:t>If you want to see what happens when one company's product does change the world, watch our story on how Nvidia was built next.</a:t>
            </a:r>
          </a:p>
        </p:txBody>
      </p:sp>
      <p:sp>
        <p:nvSpPr>
          <p:cNvPr id="7" name="TextBox 6"/>
          <p:cNvSpPr txBox="1"/>
          <p:nvPr/>
        </p:nvSpPr>
        <p:spPr>
          <a:xfrm>
            <a:off x="7360920" y="777240"/>
            <a:ext cx="4526280" cy="5852160"/>
          </a:xfrm>
          <a:prstGeom prst="rect">
            <a:avLst/>
          </a:prstGeom>
          <a:noFill/>
        </p:spPr>
        <p:txBody>
          <a:bodyPr wrap="square" lIns="45720" rIns="45720" tIns="18288" bIns="18288">
            <a:spAutoFit/>
          </a:bodyPr>
          <a:lstStyle/>
          <a:p>
            <a:pPr>
              <a:spcAft>
                <a:spcPts val="200"/>
              </a:spcAft>
            </a:pPr>
            <a:r>
              <a:rPr sz="1200" b="1">
                <a:solidFill>
                  <a:srgbClr val="B44A1E"/>
                </a:solidFill>
                <a:latin typeface="Calibri"/>
              </a:rPr>
              <a:t>VISUAL</a:t>
            </a:r>
          </a:p>
          <a:p>
            <a:pPr>
              <a:spcAft>
                <a:spcPts val="200"/>
              </a:spcAft>
            </a:pPr>
            <a:r>
              <a:rPr sz="1600" b="0">
                <a:solidFill>
                  <a:srgbClr val="1E1B18"/>
                </a:solidFill>
                <a:latin typeface="Calibri"/>
              </a:rPr>
              <a:t>End card with the channel name.</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ON-SCREEN TEXT</a:t>
            </a:r>
          </a:p>
          <a:p>
            <a:pPr>
              <a:spcAft>
                <a:spcPts val="200"/>
              </a:spcAft>
            </a:pPr>
            <a:r>
              <a:rPr sz="1600" b="0">
                <a:solidFill>
                  <a:srgbClr val="1E1B18"/>
                </a:solidFill>
                <a:latin typeface="Calibri"/>
              </a:rPr>
              <a:t>STROMHELL</a:t>
            </a:r>
          </a:p>
          <a:p>
            <a:pPr>
              <a:spcAft>
                <a:spcPts val="200"/>
              </a:spcAft>
            </a:pPr>
            <a:r>
              <a:rPr sz="600" b="0">
                <a:solidFill>
                  <a:srgbClr val="1E1B18"/>
                </a:solidFill>
                <a:latin typeface="Calibri"/>
              </a:rPr>
              <a:t/>
            </a:r>
          </a:p>
          <a:p>
            <a:pPr>
              <a:spcAft>
                <a:spcPts val="200"/>
              </a:spcAft>
            </a:pPr>
            <a:r>
              <a:rPr sz="1200" b="1">
                <a:solidFill>
                  <a:srgbClr val="B44A1E"/>
                </a:solidFill>
                <a:latin typeface="Calibri"/>
              </a:rPr>
              <a:t>ANIMATION NOTES</a:t>
            </a:r>
          </a:p>
          <a:p>
            <a:pPr>
              <a:spcAft>
                <a:spcPts val="200"/>
              </a:spcAft>
            </a:pPr>
            <a:r>
              <a:rPr sz="1600" b="0">
                <a:solidFill>
                  <a:srgbClr val="1E1B18"/>
                </a:solidFill>
                <a:latin typeface="Calibri"/>
              </a:rPr>
              <a:t>End card; music resolves.</a:t>
            </a:r>
          </a:p>
          <a:p>
            <a:pPr>
              <a:spcAft>
                <a:spcPts val="200"/>
              </a:spcAft>
            </a:pPr>
            <a:r>
              <a:rPr sz="600" b="0">
                <a:solidFill>
                  <a:srgbClr val="1E1B18"/>
                </a:solidFill>
                <a:latin typeface="Calibri"/>
              </a:rP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