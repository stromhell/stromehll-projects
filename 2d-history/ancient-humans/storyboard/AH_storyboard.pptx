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  <p:sldId id="360" r:id="rId112"/>
    <p:sldId id="361" r:id="rId113"/>
    <p:sldId id="362" r:id="rId114"/>
    <p:sldId id="363" r:id="rId1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Relationship Id="rId108" Type="http://schemas.openxmlformats.org/officeDocument/2006/relationships/slide" Target="slides/slide101.xml"/><Relationship Id="rId109" Type="http://schemas.openxmlformats.org/officeDocument/2006/relationships/slide" Target="slides/slide102.xml"/><Relationship Id="rId110" Type="http://schemas.openxmlformats.org/officeDocument/2006/relationships/slide" Target="slides/slide103.xml"/><Relationship Id="rId111" Type="http://schemas.openxmlformats.org/officeDocument/2006/relationships/slide" Target="slides/slide104.xml"/><Relationship Id="rId112" Type="http://schemas.openxmlformats.org/officeDocument/2006/relationships/slide" Target="slides/slide105.xml"/><Relationship Id="rId113" Type="http://schemas.openxmlformats.org/officeDocument/2006/relationships/slide" Target="slides/slide106.xml"/><Relationship Id="rId114" Type="http://schemas.openxmlformats.org/officeDocument/2006/relationships/slide" Target="slides/slide107.xml"/><Relationship Id="rId115" Type="http://schemas.openxmlformats.org/officeDocument/2006/relationships/slide" Target="slides/slide10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9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1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2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3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4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5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6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7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8.xml"/></Relationships>
</file>

<file path=ppt/notesSlides/_rels/notesSlide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.xml"/></Relationships>
</file>

<file path=ppt/notesSlides/_rels/notesSlide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1.xml"/></Relationships>
</file>

<file path=ppt/notesSlides/_rels/notesSlide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2.xml"/></Relationships>
</file>

<file path=ppt/notesSlides/_rels/notesSlide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3.xml"/></Relationships>
</file>

<file path=ppt/notesSlides/_rels/notesSlide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4.xml"/></Relationships>
</file>

<file path=ppt/notesSlides/_rels/notesSlide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5.xml"/></Relationships>
</file>

<file path=ppt/notesSlides/_rels/notesSlide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6.xml"/></Relationships>
</file>

<file path=ppt/notesSlides/_rels/notesSlide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7.xml"/></Relationships>
</file>

<file path=ppt/notesSlides/_rels/notesSlide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VO: This morning, a machine screamed at you until you got up.</a:t>
            </a:r>
          </a:p>
          <a:p/>
          <a:p>
            <a:r>
              <a:t>Visual: Dark bedroom, phone alarm lights up a sleeping face; the screen reads 6:00. Cold blue light.</a:t>
            </a:r>
          </a:p>
          <a:p/>
          <a:p>
            <a:r>
              <a:t>On-screen: 6:00 AM</a:t>
            </a:r>
          </a:p>
          <a:p/>
          <a:p>
            <a:r>
              <a:t>Animation: Dark, cold blue room. Phone screen flashes on the alarm beat (SFX alarm), slow push-in on the sleeping face; eyes snap open on 'screamed'.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VO: You silenced it, and from that second the day was already spoken for. Where to be. What to finish. How many hours belong to someone else.</a:t>
            </a:r>
          </a:p>
          <a:p/>
          <a:p>
            <a:r>
              <a:t>Visual: Modern figure sits up, rubs eyes; a calendar fills with blocks behind him, one by one, on each phrase.</a:t>
            </a:r>
          </a:p>
          <a:p/>
          <a:p>
            <a:r>
              <a:t>On-screen: -</a:t>
            </a:r>
          </a:p>
          <a:p/>
          <a:p>
            <a:r>
              <a:t>Animation: He sits up and rubs his eyes (2-beat arm move). Calendar blocks pop in one per phrase: 'where to be', 'what to finish', 'whose hours'.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VO: Now go back fifty thousand years.</a:t>
            </a:r>
          </a:p>
          <a:p/>
          <a:p>
            <a:r>
              <a:t>Visual: Hard cut: the calendar dissolves into dawn mist over an African savanna camp; painted golden light.</a:t>
            </a:r>
          </a:p>
          <a:p/>
          <a:p>
            <a:r>
              <a:t>On-screen: 50,000 YEARS AGO</a:t>
            </a:r>
          </a:p>
          <a:p/>
          <a:p>
            <a:r>
              <a:t>Animation: Calendar dissolves into dawn mist (0.8 s cross-dissolve). Slow pull-back reveals the camp; mist layers drift at different speeds (parallax).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VO: A man wakes with the light. No alarm, no shift, no one waiting for him.</a:t>
            </a:r>
          </a:p>
          <a:p/>
          <a:p>
            <a:r>
              <a:t>Visual: Hunter-gatherer wakes beside a smouldering fire, stretches slowly; birds cross the sky.</a:t>
            </a:r>
          </a:p>
          <a:p/>
          <a:p>
            <a:r>
              <a:t>On-screen: -</a:t>
            </a:r>
          </a:p>
          <a:p/>
          <a:p>
            <a:r>
              <a:t>Animation: He rises from the hides and stretches, arms up, eased; birds cross the sky; the fire smoulders and smoke curls.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VO: He owns a spear, two hides and a fire. And he gets to ask a question most of us never get to ask on a weekday morning.</a:t>
            </a:r>
          </a:p>
          <a:p/>
          <a:p>
            <a:r>
              <a:t>Visual: Push in on his face; 3D props pop around him: spear, two hides, embers.</a:t>
            </a:r>
          </a:p>
          <a:p/>
          <a:p>
            <a:r>
              <a:t>On-screen: -</a:t>
            </a:r>
          </a:p>
          <a:p/>
          <a:p>
            <a:r>
              <a:t>Animation: Push-in to medium close. The spear, hides and fire pop in around him with a small overshoot, each on its word.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VO: What do I feel like doing today?</a:t>
            </a:r>
          </a:p>
          <a:p/>
          <a:p>
            <a:r>
              <a:t>Visual: Handwritten callout card, rotated -4 degrees, over the camp.</a:t>
            </a:r>
          </a:p>
          <a:p/>
          <a:p>
            <a:r>
              <a:t>On-screen: WHAT SHOULD I DO TODAY?</a:t>
            </a:r>
          </a:p>
          <a:p/>
          <a:p>
            <a:r>
              <a:t>Animation: Handwritten card scales in at -4 degrees beside him as he looks out across the plain; a soft hold.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VO: Your brain is already pushing back. Ancient life was short, brutal and hungry, wasn't it? Every hour a fight to stay alive.</a:t>
            </a:r>
          </a:p>
          <a:p/>
          <a:p>
            <a:r>
              <a:t>Visual: Old textbook illustration style: a desperate caveman fighting a beast, stamped 'THE OFFICIAL STORY'.</a:t>
            </a:r>
          </a:p>
          <a:p/>
          <a:p>
            <a:r>
              <a:t>On-screen: THE OFFICIAL STORY</a:t>
            </a:r>
          </a:p>
          <a:p/>
          <a:p>
            <a:r>
              <a:t>Animation: Old textbook-print look (halftone). A caveman fights a beast in a frozen illustration; 'THE OFFICIAL STORY' stamp slams in (SFX stamp).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VO: For a long time, that was the version in every textbook. Then scientists started counting, and digging, and the story cracked.</a:t>
            </a:r>
          </a:p>
          <a:p/>
          <a:p>
            <a:r>
              <a:t>Visual: The textbook page tears; behind it, an excavation trench with string grid lines.</a:t>
            </a:r>
          </a:p>
          <a:p/>
          <a:p>
            <a:r>
              <a:t>On-screen: -</a:t>
            </a:r>
          </a:p>
          <a:p/>
          <a:p>
            <a:r>
              <a:t>Animation: The textbook page tears down the middle (paper SFX) and the camera pushes through into an excavation trench with string grid lines.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VO: Which leaves a strange question. You live surrounded by machines built to save time. Washing machines, microwaves, cars.</a:t>
            </a:r>
          </a:p>
          <a:p/>
          <a:p>
            <a:r>
              <a:t>Visual: Modern kitchen; each machine pops in as named, with a small 'TIME SAVED' tag.</a:t>
            </a:r>
          </a:p>
          <a:p/>
          <a:p>
            <a:r>
              <a:t>On-screen: -</a:t>
            </a:r>
          </a:p>
          <a:p/>
          <a:p>
            <a:r>
              <a:t>Animation: Each machine pops in as it is named, a small 'TIME SAVED' tag swinging on each; the worker looks from one to the next.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VO: So how did people with none of that end up with more free afternoons than you? And where did your hours go?</a:t>
            </a:r>
          </a:p>
          <a:p/>
          <a:p>
            <a:r>
              <a:t>Visual: Split frame: hunter resting by the fire on the left, office worker at a desk on the right. Hours clock appears top left.</a:t>
            </a:r>
          </a:p>
          <a:p/>
          <a:p>
            <a:r>
              <a:t>On-screen: WHERE DID YOUR TIME GO?</a:t>
            </a:r>
          </a:p>
          <a:p/>
          <a:p>
            <a:r>
              <a:t>Animation: Split frame wipes in from the centre line. Left side warm and moving (fire, breathing); right side cold and still. The hours clock appears top left.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VO: </a:t>
            </a:r>
          </a:p>
          <a:p/>
          <a:p>
            <a:r>
              <a:t>Visual: Title card over a painted fire at dusk.</a:t>
            </a:r>
          </a:p>
          <a:p/>
          <a:p>
            <a:r>
              <a:t>On-screen: WHAT DID ANCIENT HUMANS DO ALL DAY?</a:t>
            </a:r>
          </a:p>
          <a:p/>
          <a:p>
            <a:r>
              <a:t>Animation: Title scales in with a slight overshoot over the dusk fire; embers float upward; whoosh + low drum hit.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VO: The first clue comes out of the ground in the Middle East, the Levant and Anatolia, where some of the earliest farms began.</a:t>
            </a:r>
          </a:p>
          <a:p/>
          <a:p>
            <a:r>
              <a:t>Visual: Parchment map of the eastern Mediterranean; the Levant and Anatolia glow; a dig marker drops.</a:t>
            </a:r>
          </a:p>
          <a:p/>
          <a:p>
            <a:r>
              <a:t>On-screen: THE LEVANT</a:t>
            </a:r>
          </a:p>
          <a:p/>
          <a:p>
            <a:r>
              <a:t>Animation: Parchment map; the Levant and Anatolia glow in turn, a dig-site pin drops in with a bounce.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VO: Over decades, archaeologists dug up skeletons from people who lived in the same region a few thousand years apart.</a:t>
            </a:r>
          </a:p>
          <a:p/>
          <a:p>
            <a:r>
              <a:t>Visual: Excavation pit at dusk, lanterns, brushes; two outlined skeletons side by side in the soil.</a:t>
            </a:r>
          </a:p>
          <a:p/>
          <a:p>
            <a:r>
              <a:t>On-screen: -</a:t>
            </a:r>
          </a:p>
          <a:p/>
          <a:p>
            <a:r>
              <a:t>Animation: Lanterns flicker; brushes sweep soil away to reveal two outlined skeletons; slow push.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VO: The first set of bones is tall and thick. The teeth are worn, but nearly free of decay. The joints are clean.</a:t>
            </a:r>
          </a:p>
          <a:p/>
          <a:p>
            <a:r>
              <a:t>Visual: 3D skeleton A rotates slowly on a lab table; labels point to long bones, teeth, joints.</a:t>
            </a:r>
          </a:p>
          <a:p/>
          <a:p>
            <a:r>
              <a:t>On-screen: SKELETON A</a:t>
            </a:r>
          </a:p>
          <a:p/>
          <a:p>
            <a:r>
              <a:t>Animation: Skeleton A rotates slowly (3D prop). Labels draw on with lines to bones, teeth, joints as each is named.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VO: The second tells a harder story. Teeth full of cavities. A spine worn by the same motion, repeated thousands of times. A shorter life.</a:t>
            </a:r>
          </a:p>
          <a:p/>
          <a:p>
            <a:r>
              <a:t>Visual: 3D skeleton B beside it, shorter; red highlights on teeth, lower spine, knees.</a:t>
            </a:r>
          </a:p>
          <a:p/>
          <a:p>
            <a:r>
              <a:t>On-screen: SKELETON B</a:t>
            </a:r>
          </a:p>
          <a:p/>
          <a:p>
            <a:r>
              <a:t>Animation: Skeleton B slides in beside A, shorter. Red highlights pulse on teeth, then spine, then knees, in time with the words.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VO: One was a hunter-gatherer. One was an early farmer. Take a guess.</a:t>
            </a:r>
          </a:p>
          <a:p/>
          <a:p>
            <a:r>
              <a:t>Visual: Two question-mark tags swing over the skeletons.</a:t>
            </a:r>
          </a:p>
          <a:p/>
          <a:p>
            <a:r>
              <a:t>On-screen: WHICH ONE WAS THE FARMER?</a:t>
            </a:r>
          </a:p>
          <a:p/>
          <a:p>
            <a:r>
              <a:t>Animation: Two question-mark tags swing on strings above them; a ticking clock SFX gives the viewer a beat to guess.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VO: Most people pick the strong one as the farmer. Stored grain, a roof, tools. Surely that is the better life.</a:t>
            </a:r>
          </a:p>
          <a:p/>
          <a:p>
            <a:r>
              <a:t>Visual: A viewer-like character in a museum points confidently at skeleton A.</a:t>
            </a:r>
          </a:p>
          <a:p/>
          <a:p>
            <a:r>
              <a:t>On-screen: -</a:t>
            </a:r>
          </a:p>
          <a:p/>
          <a:p>
            <a:r>
              <a:t>Animation: A museum visitor walks in (walk cycle) and points confidently at A; small smug nod.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VO: It's the other way round. The tall, healthy skeleton was the hunter-gatherer. The worn-out one was the farmer.</a:t>
            </a:r>
          </a:p>
          <a:p/>
          <a:p>
            <a:r>
              <a:t>Visual: Tags flip: A gets 'HUNTER-GATHERER', B gets 'FARMER'. Gentle stamp sound.</a:t>
            </a:r>
          </a:p>
          <a:p/>
          <a:p>
            <a:r>
              <a:t>On-screen: A = HUNTER-GATHERER   B = FARMER</a:t>
            </a:r>
          </a:p>
          <a:p/>
          <a:p>
            <a:r>
              <a:t>Animation: The tags flip over like cards (scaleX through 0); a soft stamp SFX on each.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VO: And it isn't one odd pair. In study after study, where farming took over, average height dropped and tooth decay, worn joints and signs of hunger went up.</a:t>
            </a:r>
          </a:p>
          <a:p/>
          <a:p>
            <a:r>
              <a:t>Visual: Simple bar chart: average height before and after farming, plus three icons (tooth, spine, hunger lines) rising.</a:t>
            </a:r>
          </a:p>
          <a:p/>
          <a:p>
            <a:r>
              <a:t>On-screen: HEIGHT DOWN. DECAY UP.</a:t>
            </a:r>
          </a:p>
          <a:p/>
          <a:p>
            <a:r>
              <a:t>Animation: Bars drop on 'height dropped'; tooth, spine and hunger icons rise one by one; ink-line chart style.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VO: In parts of Greece and Turkey, men's average height fell by around fifteen centimetres after farming arrived, and took thousands of years to come back.</a:t>
            </a:r>
          </a:p>
          <a:p/>
          <a:p>
            <a:r>
              <a:t>Visual: Two painted men stand back to back with a height marker between them; the gap is highlighted.</a:t>
            </a:r>
          </a:p>
          <a:p/>
          <a:p>
            <a:r>
              <a:t>On-screen: -15 CM</a:t>
            </a:r>
          </a:p>
          <a:p/>
          <a:p>
            <a:r>
              <a:t>Animation: Two men stand back to back; a height marker slides up between them and the gap highlights 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VO: A skeleton works like a diary. It records how you ate, how you moved and how hard you worked, and it keeps that record for thousands of years.</a:t>
            </a:r>
          </a:p>
          <a:p/>
          <a:p>
            <a:r>
              <a:t>Visual: Bones fade into a leather diary; pages turn, each page a sketch of a body at work.</a:t>
            </a:r>
          </a:p>
          <a:p/>
          <a:p>
            <a:r>
              <a:t>On-screen: YOUR BONES KEEP A DIARY</a:t>
            </a:r>
          </a:p>
          <a:p/>
          <a:p>
            <a:r>
              <a:t>Animation: Bones dissolve into a leather diary; pages turn on their own (paper SFX), each page a sketch of a body at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VO: And those diaries say the people with only spears were, in many ways, better fed and less worn down than the farmers who came after them.</a:t>
            </a:r>
          </a:p>
          <a:p/>
          <a:p>
            <a:r>
              <a:t>Visual: Diary page shows the hunter's camp, warm; the next page shows a bent farmer in a field, grey.</a:t>
            </a:r>
          </a:p>
          <a:p/>
          <a:p>
            <a:r>
              <a:t>On-screen: -</a:t>
            </a:r>
          </a:p>
          <a:p/>
          <a:p>
            <a:r>
              <a:t>Animation: Diary page left warm and colourful, page turn to the grey bent farmer; the colour drains as the page turns.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VO: But bones can't tell you what an ordinary day felt like. For that, we need to walk through one.</a:t>
            </a:r>
          </a:p>
          <a:p/>
          <a:p>
            <a:r>
              <a:t>Visual: Push in on the hunter page until it becomes the next scene.</a:t>
            </a:r>
          </a:p>
          <a:p/>
          <a:p>
            <a:r>
              <a:t>On-screen: -</a:t>
            </a:r>
          </a:p>
          <a:p/>
          <a:p>
            <a:r>
              <a:t>Animation: Camera pushes into the hunter page until it fills the frame and becomes the next scene (match cut).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VO: You wake at first light, on your own, because you slept enough.</a:t>
            </a:r>
          </a:p>
          <a:p/>
          <a:p>
            <a:r>
              <a:t>Visual: Dawn camp: grass shelters, sleeping hides, low fire; mist on the plain.</a:t>
            </a:r>
          </a:p>
          <a:p/>
          <a:p>
            <a:r>
              <a:t>On-screen: -</a:t>
            </a:r>
          </a:p>
          <a:p/>
          <a:p>
            <a:r>
              <a:t>Animation: Dawn camp, mist drifting; slow pan right across shelters; a sleeper turns over and sits up on his own.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VO: Last night's fire is still alive. People sit around it, eating leftover meat and nuts.</a:t>
            </a:r>
          </a:p>
          <a:p/>
          <a:p>
            <a:r>
              <a:t>Visual: Group of six around the fire, eating; steam rises; small kids lean on adults.</a:t>
            </a:r>
          </a:p>
          <a:p/>
          <a:p>
            <a:r>
              <a:t>On-screen: -</a:t>
            </a:r>
          </a:p>
          <a:p/>
          <a:p>
            <a:r>
              <a:t>Animation: Six people eat around the fire; hands to mouths on staggered timers; steam rises; a child leans on an adult.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VO: The talk is simple: where the water is good, where someone saw fresh tracks. That is the whole plan for the day, and everyone has a say in it.</a:t>
            </a:r>
          </a:p>
          <a:p/>
          <a:p>
            <a:r>
              <a:t>Visual: Elder draws a map in the dirt with a stick; others lean in and point.</a:t>
            </a:r>
          </a:p>
          <a:p/>
          <a:p>
            <a:r>
              <a:t>On-screen: THE MORNING MEETING</a:t>
            </a:r>
          </a:p>
          <a:p/>
          <a:p>
            <a:r>
              <a:t>Animation: The elder draws a map in the dirt with a stick (line draws on); others lean in and point; heads turn to whoever speaks.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VO: Today, nobody needs to hunt. The last kill was two days ago, and there is still food.</a:t>
            </a:r>
          </a:p>
          <a:p/>
          <a:p>
            <a:r>
              <a:t>Visual: Calendar-style tally carved on a stick: two notches since the last hunt.</a:t>
            </a:r>
          </a:p>
          <a:p/>
          <a:p>
            <a:r>
              <a:t>On-screen: LAST HUNT: 2 DAYS AGO</a:t>
            </a:r>
          </a:p>
          <a:p/>
          <a:p>
            <a:r>
              <a:t>Animation: Notches carve themselves into a stick one by one (scrape SFX).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VO: A few people walk out to gather roots, nuts and berries.</a:t>
            </a:r>
          </a:p>
          <a:p/>
          <a:p>
            <a:r>
              <a:t>Visual: Two women and a teenager walk into the bush with digging sticks and carrying bags, walking cycle with distance covered.</a:t>
            </a:r>
          </a:p>
          <a:p/>
          <a:p>
            <a:r>
              <a:t>On-screen: -</a:t>
            </a:r>
          </a:p>
          <a:p/>
          <a:p>
            <a:r>
              <a:t>Animation: Three gatherers walk out into the bush with digging sticks; real walk cycle covering ground; they shrink into the distance.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VO: You stay and work on your gear. You sharpen a spear point. You work a stiff hide until it turns soft.</a:t>
            </a:r>
          </a:p>
          <a:p/>
          <a:p>
            <a:r>
              <a:t>Visual: Close shots of hands knapping stone and scraping a pegged-out hide; 3D spear and hide props.</a:t>
            </a:r>
          </a:p>
          <a:p/>
          <a:p>
            <a:r>
              <a:t>On-screen: -</a:t>
            </a:r>
          </a:p>
          <a:p/>
          <a:p>
            <a:r>
              <a:t>Animation: Close shots: hands knapping stone (chip SFX, sparks of flake), then scraping the pegged hide in rhythm.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VO: Not because a boss told you to. Here, skill earns respect, and respect is worth more than anything you could own.</a:t>
            </a:r>
          </a:p>
          <a:p/>
          <a:p>
            <a:r>
              <a:t>Visual: Others glance over admiringly at the finished spear point.</a:t>
            </a:r>
          </a:p>
          <a:p/>
          <a:p>
            <a:r>
              <a:t>On-screen: -</a:t>
            </a:r>
          </a:p>
          <a:p/>
          <a:p>
            <a:r>
              <a:t>Animation: Others glance over; one nods; a small smile; the spear point catches the light.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VO: By early afternoon, the jobs that needed doing are done.</a:t>
            </a:r>
          </a:p>
          <a:p/>
          <a:p>
            <a:r>
              <a:t>Visual: Sun higher; the gatherers return with full bags; tools laid out finished. Hours clock shows a big free block.</a:t>
            </a:r>
          </a:p>
          <a:p/>
          <a:p>
            <a:r>
              <a:t>On-screen: DONE BY EARLY AFTERNOON</a:t>
            </a:r>
          </a:p>
          <a:p/>
          <a:p>
            <a:r>
              <a:t>Animation: Sun shadow swings (time passes). Gatherers return with full bags. Hours clock fills with a large free block (tick SFX).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VO: Two days later, the meat runs low. Today you hunt.</a:t>
            </a:r>
          </a:p>
          <a:p/>
          <a:p>
            <a:r>
              <a:t>Visual: Morning: three hunters set out across a wide hot plain carrying spears and water gourds.</a:t>
            </a:r>
          </a:p>
          <a:p/>
          <a:p>
            <a:r>
              <a:t>On-screen: HUNT DAY</a:t>
            </a:r>
          </a:p>
          <a:p/>
          <a:p>
            <a:r>
              <a:t>Animation: Three hunters set out across a hot plain, walk cycles in step; heat shimmer distortion on the horizon.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VO: Some hunters in Africa have been recorded using a method that looks nothing like the movies. They don't try to outrun the animal. They can't.</a:t>
            </a:r>
          </a:p>
          <a:p/>
          <a:p>
            <a:r>
              <a:t>Visual: A kudu bolts away; the hunters don't sprint, they keep a steady jog.</a:t>
            </a:r>
          </a:p>
          <a:p/>
          <a:p>
            <a:r>
              <a:t>On-screen: -</a:t>
            </a:r>
          </a:p>
          <a:p/>
          <a:p>
            <a:r>
              <a:t>Animation: The kudu bolts away fast (animal run cycle); the hunters keep an even jog; dust kicks 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VO: Instead they track it, at a steady pace, for hours, in the midday heat.</a:t>
            </a:r>
          </a:p>
          <a:p/>
          <a:p>
            <a:r>
              <a:t>Visual: Footprints in sand; hunters read the tracks, then jog on; sun high and harsh.</a:t>
            </a:r>
          </a:p>
          <a:p/>
          <a:p>
            <a:r>
              <a:t>On-screen: -</a:t>
            </a:r>
          </a:p>
          <a:p/>
          <a:p>
            <a:r>
              <a:t>Animation: Close on footprints in the sand; a hand touches a track; then they jog on; sun high and harsh.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VO: A human can sweat and keep cooling while moving. A four-legged runner has to stop to pant. Push it hard enough, for long enough, and it overheats.</a:t>
            </a:r>
          </a:p>
          <a:p/>
          <a:p>
            <a:r>
              <a:t>Visual: Side-by-side thermometer graphic: human steady, antelope climbing into red.</a:t>
            </a:r>
          </a:p>
          <a:p/>
          <a:p>
            <a:r>
              <a:t>On-screen: SWEAT VS PANT</a:t>
            </a:r>
          </a:p>
          <a:p/>
          <a:p>
            <a:r>
              <a:t>Animation: Two thermometers: the human line stays level, the antelope's climbs into red with a warning pulse.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VO: Eventually the animal stops and can't run again. The hunters walk up to it.</a:t>
            </a:r>
          </a:p>
          <a:p/>
          <a:p>
            <a:r>
              <a:t>Visual: Long shot: the kudu stands still under a lone tree; hunters approach slowly. Non-graphic; cut away before the kill.</a:t>
            </a:r>
          </a:p>
          <a:p/>
          <a:p>
            <a:r>
              <a:t>On-screen: -</a:t>
            </a:r>
          </a:p>
          <a:p/>
          <a:p>
            <a:r>
              <a:t>Animation: Long shot: the kudu stands still under a lone tree; hunters approach slowly. Cut away before any kill.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VO: You were never the fastest thing on the plain. You were the thing that could keep going.</a:t>
            </a:r>
          </a:p>
          <a:p/>
          <a:p>
            <a:r>
              <a:t>Visual: Silhouette of the hunter against the sun, breathing hard but steady.</a:t>
            </a:r>
          </a:p>
          <a:p/>
          <a:p>
            <a:r>
              <a:t>On-screen: THE ONE THAT NEVER STOPS</a:t>
            </a:r>
          </a:p>
          <a:p/>
          <a:p>
            <a:r>
              <a:t>Animation: Silhouette against the sun; chest heaving slowly; low heartbeat SFX; slow push-in.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VO: This is called persistence hunting, and it's only one method among many. Most hunts used traps, snares, ambush and poisoned arrows.</a:t>
            </a:r>
          </a:p>
          <a:p/>
          <a:p>
            <a:r>
              <a:t>Visual: Quick montage card: snare, bow with arrows, ambush behind a bush.</a:t>
            </a:r>
          </a:p>
          <a:p/>
          <a:p>
            <a:r>
              <a:t>On-screen: ONE METHOD OF MANY</a:t>
            </a:r>
          </a:p>
          <a:p/>
          <a:p>
            <a:r>
              <a:t>Animation: Three small vignettes pop in left to right on each word.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VO: A big hunt can take the whole day, and it's the hardest work this life asks for. But one good kill feeds the camp for days.</a:t>
            </a:r>
          </a:p>
          <a:p/>
          <a:p>
            <a:r>
              <a:t>Visual: Hunters return at dusk carrying meat; the camp gathers; fire built up.</a:t>
            </a:r>
          </a:p>
          <a:p/>
          <a:p>
            <a:r>
              <a:t>On-screen: -</a:t>
            </a:r>
          </a:p>
          <a:p/>
          <a:p>
            <a:r>
              <a:t>Animation: Dusk: hunters return carrying meat; the camp stands to greet them; the fire is built up and flares.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VO: So tomorrow, the free time comes back.</a:t>
            </a:r>
          </a:p>
          <a:p/>
          <a:p>
            <a:r>
              <a:t>Visual: Hours clock fills back up with a free afternoon.</a:t>
            </a:r>
          </a:p>
          <a:p/>
          <a:p>
            <a:r>
              <a:t>On-screen: -</a:t>
            </a:r>
          </a:p>
          <a:p/>
          <a:p>
            <a:r>
              <a:t>Animation: The hours clock refills with a free afternoon block (soft chime).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VO: If this sounds too easy, you're not the first to think so. In 1963, a young anthropologist had the same doubt.</a:t>
            </a:r>
          </a:p>
          <a:p/>
          <a:p>
            <a:r>
              <a:t>Visual: Sepia 1960s look: a young researcher with a notebook steps off a Land Rover.</a:t>
            </a:r>
          </a:p>
          <a:p/>
          <a:p>
            <a:r>
              <a:t>On-screen: 1963</a:t>
            </a:r>
          </a:p>
          <a:p/>
          <a:p>
            <a:r>
              <a:t>Animation: Sepia 1960s grade. A Land Rover rolls in and stops (eased); the researcher steps out with a notebook.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VO: His name was Richard Lee. He went to the Dobe area on the edge of the Kalahari, in Botswana.</a:t>
            </a:r>
          </a:p>
          <a:p/>
          <a:p>
            <a:r>
              <a:t>Visual: Map of southern Africa; the Kalahari shaded; a pin on Dobe near the Namibia border.</a:t>
            </a:r>
          </a:p>
          <a:p/>
          <a:p>
            <a:r>
              <a:t>On-screen: DOBE, BOTSWANA</a:t>
            </a:r>
          </a:p>
          <a:p/>
          <a:p>
            <a:r>
              <a:t>Animation: Map of southern Africa; Kalahari shades in; pin drops on Dobe near the Namibia border.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VO: He lived with the Ju/'hoansi, people who at the time still lived largely by hunting and gathering.</a:t>
            </a:r>
          </a:p>
          <a:p/>
          <a:p>
            <a:r>
              <a:t>Visual: Painted Kalahari camp: grass huts, mongongo trees, dry sand; the researcher sits apart, writing.</a:t>
            </a:r>
          </a:p>
          <a:p/>
          <a:p>
            <a:r>
              <a:t>On-screen: THE JU/'HOANSI</a:t>
            </a:r>
          </a:p>
          <a:p/>
          <a:p>
            <a:r>
              <a:t>Animation: Painted Kalahari camp, mongongo trees; the researcher sits apart, writing; camp life moves around him.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VO: The textbook story said life like this meant working every daylight hour just to survive. Lee decided not to assume it. He counted it.</a:t>
            </a:r>
          </a:p>
          <a:p/>
          <a:p>
            <a:r>
              <a:t>Visual: Notebook pages fill with tally marks; a stopwatch ticks.</a:t>
            </a:r>
          </a:p>
          <a:p/>
          <a:p>
            <a:r>
              <a:t>On-screen: -</a:t>
            </a:r>
          </a:p>
          <a:p/>
          <a:p>
            <a:r>
              <a:t>Animation: Tally marks write themselves into the notebook; the stopwatch hand sweeps (tick SFX).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VO: For weeks, he recorded who went out for food, for how long, and what they brought back.</a:t>
            </a:r>
          </a:p>
          <a:p/>
          <a:p>
            <a:r>
              <a:t>Visual: Montage: Lee follows a gatherer, notes times, weighs nuts on a hanging scale.</a:t>
            </a:r>
          </a:p>
          <a:p/>
          <a:p>
            <a:r>
              <a:t>On-screen: -</a:t>
            </a:r>
          </a:p>
          <a:p/>
          <a:p>
            <a:r>
              <a:t>Animation: Lee follows a gatherer (two walk cycles); nuts tip onto a hanging scale that swings and settles.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VO: The result surprised everyone. Finding food took adults about fifteen hours a week. Roughly two and a half days.</a:t>
            </a:r>
          </a:p>
          <a:p/>
          <a:p>
            <a:r>
              <a:t>Visual: Big number reveal over a week calendar: 15 HRS highlighted across Mon-Wed.</a:t>
            </a:r>
          </a:p>
          <a:p/>
          <a:p>
            <a:r>
              <a:t>On-screen: ~15 HOURS A WEEK</a:t>
            </a:r>
          </a:p>
          <a:p/>
          <a:p>
            <a:r>
              <a:t>Animation: A week calendar; 15 hours shade in across Mon to Wed; the big number counts up 0 to 15.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VO: If you work a normal job, you pass fifteen hours by Tuesday afternoon.</a:t>
            </a:r>
          </a:p>
          <a:p/>
          <a:p>
            <a:r>
              <a:t>Visual: Office clock on Tuesday, 3 pm; the hours clock in the corner tips into overtime.</a:t>
            </a:r>
          </a:p>
          <a:p/>
          <a:p>
            <a:r>
              <a:t>On-screen: YOU: BY TUESDAY</a:t>
            </a:r>
          </a:p>
          <a:p/>
          <a:p>
            <a:r>
              <a:t>Animation: Office wall clock spins fast to Tuesday 3 pm; the hours clock in the corner tips into 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VO: To be fair, that number is only food. When Lee later added tool-making, cracking nuts, cooking and chores, the total rose to around forty hours a week.</a:t>
            </a:r>
          </a:p>
          <a:p/>
          <a:p>
            <a:r>
              <a:t>Visual: Calendar adds stacked bars: food, tools, processing, chores; the total climbs to ~40.</a:t>
            </a:r>
          </a:p>
          <a:p/>
          <a:p>
            <a:r>
              <a:t>On-screen: WITH CHORES: ~40 HRS</a:t>
            </a:r>
          </a:p>
          <a:p/>
          <a:p>
            <a:r>
              <a:t>Animation: Stacked bars add layer by layer: food, tools, processing, chores; total climbs to about 40.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VO: That's close to a modern full-time job. But the shape was completely different. No commute, no fixed shift, no boss, and the work happened with family and friends around you.</a:t>
            </a:r>
          </a:p>
          <a:p/>
          <a:p>
            <a:r>
              <a:t>Visual: Split frame: Ju/'hoan woman cracking nuts while chatting with friends vs. office worker alone in a cubicle.</a:t>
            </a:r>
          </a:p>
          <a:p/>
          <a:p>
            <a:r>
              <a:t>On-screen: SAME HOURS. DIFFERENT LIFE.</a:t>
            </a:r>
          </a:p>
          <a:p/>
          <a:p>
            <a:r>
              <a:t>Animation: Split: left, friends cracking nuts and laughing (talk mouths); right, one worker alone typing. Same clock on both sides.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VO: Researchers later studied other foraging groups: the Hadza in Tanzania, the Aché in Paraguay, the Martu in Australia. The numbers vary a lot. Some groups spend far longer finding food.</a:t>
            </a:r>
          </a:p>
          <a:p/>
          <a:p>
            <a:r>
              <a:t>Visual: World map with three pins lighting up in turn, each with a small hours bar of different length.</a:t>
            </a:r>
          </a:p>
          <a:p/>
          <a:p>
            <a:r>
              <a:t>On-screen: HADZA · ACHÉ · MARTU</a:t>
            </a:r>
          </a:p>
          <a:p/>
          <a:p>
            <a:r>
              <a:t>Animation: World map; three pins light in turn, each with a small bar of different length growing beside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VO: So the real lesson isn't a magic number. It's who owned the hours. They decided when to work, how hard, and when to stop.</a:t>
            </a:r>
          </a:p>
          <a:p/>
          <a:p>
            <a:r>
              <a:t>Visual: The hours clock changes label to 'HOURS THAT ARE YOURS'.</a:t>
            </a:r>
          </a:p>
          <a:p/>
          <a:p>
            <a:r>
              <a:t>On-screen: WHO OWNED THE HOURS</a:t>
            </a:r>
          </a:p>
          <a:p/>
          <a:p>
            <a:r>
              <a:t>Animation: The corner clock moves to centre and grows; its label rewrites to HOURS THAT ARE YOURS.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VO: Back at camp, it's afternoon, and the pace slows down.</a:t>
            </a:r>
          </a:p>
          <a:p/>
          <a:p>
            <a:r>
              <a:t>Visual: Shaded camp under a big tree; light dapples; people lounge.</a:t>
            </a:r>
          </a:p>
          <a:p/>
          <a:p>
            <a:r>
              <a:t>On-screen: -</a:t>
            </a:r>
          </a:p>
          <a:p/>
          <a:p>
            <a:r>
              <a:t>Animation: Dappled light moves through the big tree; people lounge; slow drift camera.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VO: People sit in the shade and talk. Kids play. Someone combs through a friend's hair while the conversation wanders.</a:t>
            </a:r>
          </a:p>
          <a:p/>
          <a:p>
            <a:r>
              <a:t>Visual: Several moving vignettes: kids playing with a hoop, two women chatting, an old man laughing.</a:t>
            </a:r>
          </a:p>
          <a:p/>
          <a:p>
            <a:r>
              <a:t>On-screen: -</a:t>
            </a:r>
          </a:p>
          <a:p/>
          <a:p>
            <a:r>
              <a:t>Animation: Kids chase a hoop (run cycles); two women talk (mouths animate); an old man laughs (shoulders bounce).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VO: Someone is drilling tiny holes through small shells, to string them as a necklace.</a:t>
            </a:r>
          </a:p>
          <a:p/>
          <a:p>
            <a:r>
              <a:t>Visual: Close-up hands with a stone awl drilling a shell; 3D shell beads.</a:t>
            </a:r>
          </a:p>
          <a:p/>
          <a:p>
            <a:r>
              <a:t>On-screen: -</a:t>
            </a:r>
          </a:p>
          <a:p/>
          <a:p>
            <a:r>
              <a:t>Animation: Close on hands drilling a tiny shell with a stone awl, twisting back and forth; shell dust puffs.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VO: We know people did this, because at Blombos Cave in South Africa, archaeologists found shell beads about seventy-five thousand years old.</a:t>
            </a:r>
          </a:p>
          <a:p/>
          <a:p>
            <a:r>
              <a:t>Visual: Map of South Africa's southern coast; Blombos Cave pin; then a painted cave mouth above the sea.</a:t>
            </a:r>
          </a:p>
          <a:p/>
          <a:p>
            <a:r>
              <a:t>On-screen: BLOMBOS CAVE · ~75,000 YEARS</a:t>
            </a:r>
          </a:p>
          <a:p/>
          <a:p>
            <a:r>
              <a:t>Animation: Map of the southern Cape; pin drops; dissolve to a painted cave mouth above the sea with waves rolling.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VO: Dozens of tiny snail shells, each pierced and worn smooth where a string rubbed against it. Some were brought from river mouths kilometres away.</a:t>
            </a:r>
          </a:p>
          <a:p/>
          <a:p>
            <a:r>
              <a:t>Visual: 3D row of Nassarius shell beads rotates, wear marks highlighted.</a:t>
            </a:r>
          </a:p>
          <a:p/>
          <a:p>
            <a:r>
              <a:t>On-screen: MADE TO BE WORN</a:t>
            </a:r>
          </a:p>
          <a:p/>
          <a:p>
            <a:r>
              <a:t>Animation: 3D row of shell beads rotates; wear marks highlight with small circles.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VO: Gathered, carried home and drilled by hand. Not to eat. Just to look good.</a:t>
            </a:r>
          </a:p>
          <a:p/>
          <a:p>
            <a:r>
              <a:t>Visual: A young woman ties the finished necklace on and smiles.</a:t>
            </a:r>
          </a:p>
          <a:p/>
          <a:p>
            <a:r>
              <a:t>On-screen: -</a:t>
            </a:r>
          </a:p>
          <a:p/>
          <a:p>
            <a:r>
              <a:t>Animation: She ties the necklace on and smiles; beads catch the light.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VO: And in 2008, in Hohle Fels cave in Germany, researchers pieced together a flute carved from a vulture's wing bone.</a:t>
            </a:r>
          </a:p>
          <a:p/>
          <a:p>
            <a:r>
              <a:t>Visual: Map of Europe; a pin in south-west Germany; snowy Ice Age landscape plate.</a:t>
            </a:r>
          </a:p>
          <a:p/>
          <a:p>
            <a:r>
              <a:t>On-screen: HOHLE FELS · 2008</a:t>
            </a:r>
          </a:p>
          <a:p/>
          <a:p>
            <a:r>
              <a:t>Animation: Map of Europe to snowy Ice Age plate; snow falls; pin on south-west Germany.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VO: It's around forty thousand years old, and it has five finger holes.</a:t>
            </a:r>
          </a:p>
          <a:p/>
          <a:p>
            <a:r>
              <a:t>Visual: 3D bone flute rotates; the five holes glow one by one with a soft note each.</a:t>
            </a:r>
          </a:p>
          <a:p/>
          <a:p>
            <a:r>
              <a:t>On-screen: ~40,000 YEARS · 5 HOLES</a:t>
            </a:r>
          </a:p>
          <a:p/>
          <a:p>
            <a:r>
              <a:t>Animation: The bone flute rotates; its five holes glow one by one, each with a soft flute note.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VO: Someone in the Ice Age made an instrument. Someone else had the time to learn to play it.</a:t>
            </a:r>
          </a:p>
          <a:p/>
          <a:p>
            <a:r>
              <a:t>Visual: Ice Age musician plays by a fire; others listen; breath visible in the cold.</a:t>
            </a:r>
          </a:p>
          <a:p/>
          <a:p>
            <a:r>
              <a:t>On-screen: -</a:t>
            </a:r>
          </a:p>
          <a:p/>
          <a:p>
            <a:r>
              <a:t>Animation: Ice Age musician plays by the fire, fingers lifting; listeners sway; breath visible in the cold.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VO: Now think about what kept you alive here. No money. No police. No hospital.</a:t>
            </a:r>
          </a:p>
          <a:p/>
          <a:p>
            <a:r>
              <a:t>Visual: Camp scene desaturates slightly; icons of money, a police badge and a hospital cross appear and get crossed out.</a:t>
            </a:r>
          </a:p>
          <a:p/>
          <a:p>
            <a:r>
              <a:t>On-screen: NO MONEY · NO POLICE · NO HOSPITAL</a:t>
            </a:r>
          </a:p>
          <a:p/>
          <a:p>
            <a:r>
              <a:t>Animation: Camp desaturates; three icons appear and each is struck out with an ink 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VO: If your hunt fails, or you break a leg and can't walk for a month, the only safety net is other people.</a:t>
            </a:r>
          </a:p>
          <a:p/>
          <a:p>
            <a:r>
              <a:t>Visual: An injured man sits with his leg bound; others bring him food.</a:t>
            </a:r>
          </a:p>
          <a:p/>
          <a:p>
            <a:r>
              <a:t>On-screen: -</a:t>
            </a:r>
          </a:p>
          <a:p/>
          <a:p>
            <a:r>
              <a:t>Animation: An injured man with a bound leg; someone walks up and hands him food; he nods.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VO: If people like you, they feed you. If they don't, nobody owes you anything.</a:t>
            </a:r>
          </a:p>
          <a:p/>
          <a:p>
            <a:r>
              <a:t>Visual: Close on the food being handed over.</a:t>
            </a:r>
          </a:p>
          <a:p/>
          <a:p>
            <a:r>
              <a:t>On-screen: -</a:t>
            </a:r>
          </a:p>
          <a:p/>
          <a:p>
            <a:r>
              <a:t>Animation: Close on the hand-over of food; warm light.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VO: So those slow afternoons of talking and joking weren't wasted. They were insurance. Friendships were your bank, your hospital and your pension, all at once.</a:t>
            </a:r>
          </a:p>
          <a:p/>
          <a:p>
            <a:r>
              <a:t>Visual: Three labels attach to the circle of people: BANK, HOSPITAL, PENSION.</a:t>
            </a:r>
          </a:p>
          <a:p/>
          <a:p>
            <a:r>
              <a:t>On-screen: FRIENDS = INSURANCE</a:t>
            </a:r>
          </a:p>
          <a:p/>
          <a:p>
            <a:r>
              <a:t>Animation: Circle of people; three labels (BANK, HOSPITAL, PENSION) attach with lines and pop 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VO: Then the sun goes down, and the best part of the day begins.</a:t>
            </a:r>
          </a:p>
          <a:p/>
          <a:p>
            <a:r>
              <a:t>Visual: Time-lapse sunset over the Kalahari; the fire is built up; sparks rise.</a:t>
            </a:r>
          </a:p>
          <a:p/>
          <a:p>
            <a:r>
              <a:t>On-screen: -</a:t>
            </a:r>
          </a:p>
          <a:p/>
          <a:p>
            <a:r>
              <a:t>Animation: Time-lapse sunset: sky colour shifts warm to deep blue; the fire is built up and sparks rise.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VO: In 2014, anthropologist Polly Wiessner published a study of how Ju/'hoan conversation changes after dark.</a:t>
            </a:r>
          </a:p>
          <a:p/>
          <a:p>
            <a:r>
              <a:t>Visual: Researcher at a desk with old notebooks and a recorder; then the paper title card.</a:t>
            </a:r>
          </a:p>
          <a:p/>
          <a:p>
            <a:r>
              <a:t>On-screen: POLLY WIESSNER · 2014</a:t>
            </a:r>
          </a:p>
          <a:p/>
          <a:p>
            <a:r>
              <a:t>Animation: Researcher at a desk with old notebooks and a tape recorder; the paper's title card slides 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VO: She had notes and recordings gathered over decades, and she split them into two piles: talk by day, and talk by firelight.</a:t>
            </a:r>
          </a:p>
          <a:p/>
          <a:p>
            <a:r>
              <a:t>Visual: Two piles of cards slide apart: a sun icon and a fire icon.</a:t>
            </a:r>
          </a:p>
          <a:p/>
          <a:p>
            <a:r>
              <a:t>On-screen: DAY · NIGHT</a:t>
            </a:r>
          </a:p>
          <a:p/>
          <a:p>
            <a:r>
              <a:t>Animation: A pile of cards splits into two piles sliding apart under sun and fire icons.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VO: Daytime talk was practical. Food, tracks, money and trade, and a lot of complaining and gossip about who wasn't sharing.</a:t>
            </a:r>
          </a:p>
          <a:p/>
          <a:p>
            <a:r>
              <a:t>Visual: Daytime pie chart: work talk, complaints and gossip, jokes.</a:t>
            </a:r>
          </a:p>
          <a:p/>
          <a:p>
            <a:r>
              <a:t>On-screen: DAY: WORK + GOSSIP</a:t>
            </a:r>
          </a:p>
          <a:p/>
          <a:p>
            <a:r>
              <a:t>Animation: Daytime pie draws on clockwise: work talk, complaints and gossip, jokes.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VO: By the fire, it changed. In the long night conversations, eighty-one percent were stories.</a:t>
            </a:r>
          </a:p>
          <a:p/>
          <a:p>
            <a:r>
              <a:t>Visual: Night pie fills to 81% in firelight orange.</a:t>
            </a:r>
          </a:p>
          <a:p/>
          <a:p>
            <a:r>
              <a:t>On-screen: NIGHT: 81% STORIES</a:t>
            </a:r>
          </a:p>
          <a:p/>
          <a:p>
            <a:r>
              <a:t>Animation: Night pie fills to 81% in firelight orange; number counts 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VO: Stories about ancestors, about how the world began, about people far away. Long jokes that ran deep into the night.</a:t>
            </a:r>
          </a:p>
          <a:p/>
          <a:p>
            <a:r>
              <a:t>Visual: Firelit faces; shadows on the rocks behind form the story: ancestors, animals, stars.</a:t>
            </a:r>
          </a:p>
          <a:p/>
          <a:p>
            <a:r>
              <a:t>On-screen: -</a:t>
            </a:r>
          </a:p>
          <a:p/>
          <a:p>
            <a:r>
              <a:t>Animation: Firelit faces; shadows on the rock wall behind act out the story (ancestors, animals, stars).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VO: Wiessner argued that these firelit hours helped build what makes us human: shared memory, imagination and trust in people beyond the camp.</a:t>
            </a:r>
          </a:p>
          <a:p/>
          <a:p>
            <a:r>
              <a:t>Visual: Embers rise into the stars, forming faint constellations.</a:t>
            </a:r>
          </a:p>
          <a:p/>
          <a:p>
            <a:r>
              <a:t>On-screen: WHERE CULTURE GREW</a:t>
            </a:r>
          </a:p>
          <a:p/>
          <a:p>
            <a:r>
              <a:t>Animation: Embers rise into the sky and join into faint constellations; camera tilts up with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VO: Not in the middle of the work, but in the calm after it.</a:t>
            </a:r>
          </a:p>
          <a:p/>
          <a:p>
            <a:r>
              <a:t>Visual: Slow push into the fire.</a:t>
            </a:r>
          </a:p>
          <a:p/>
          <a:p>
            <a:r>
              <a:t>On-screen: -</a:t>
            </a:r>
          </a:p>
          <a:p/>
          <a:p>
            <a:r>
              <a:t>Animation: Slow push into the fire; crackle SFX 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VO: When the fire burns low, people sleep. But maybe not the way you do.</a:t>
            </a:r>
          </a:p>
          <a:p/>
          <a:p>
            <a:r>
              <a:t>Visual: Moonlit camp; figures asleep under hides; embers glow.</a:t>
            </a:r>
          </a:p>
          <a:p/>
          <a:p>
            <a:r>
              <a:t>On-screen: -</a:t>
            </a:r>
          </a:p>
          <a:p/>
          <a:p>
            <a:r>
              <a:t>Animation: Moonlit camp; sleepers breathe; embers glow and fade.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VO: Historian Roger Ekirch found hundreds of old European records that mention a first sleep and a second sleep, with a waking hour in between.</a:t>
            </a:r>
          </a:p>
          <a:p/>
          <a:p>
            <a:r>
              <a:t>Visual: Old parchment documents with highlighted phrases 'first sleep' and 'second sleep'; candlelight.</a:t>
            </a:r>
          </a:p>
          <a:p/>
          <a:p>
            <a:r>
              <a:t>On-screen: 'FIRST SLEEP' · 'SECOND SLEEP'</a:t>
            </a:r>
          </a:p>
          <a:p/>
          <a:p>
            <a:r>
              <a:t>Animation: Candlelit parchment; the phrases highlight as if underlined by hand.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VO: People would wake around midnight, lie quietly, think, pray or talk, and then sleep again.</a:t>
            </a:r>
          </a:p>
          <a:p/>
          <a:p>
            <a:r>
              <a:t>Visual: A medieval couple wakes by candlelight and talks softly, then lies back down.</a:t>
            </a:r>
          </a:p>
          <a:p/>
          <a:p>
            <a:r>
              <a:t>On-screen: -</a:t>
            </a:r>
          </a:p>
          <a:p/>
          <a:p>
            <a:r>
              <a:t>Animation: A medieval couple wakes by candle, talks softly, then lies back down; the candle flickers.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VO: And when a 1990s experiment kept volunteers in long winter nights with no artificial light, many slipped into the same split pattern.</a:t>
            </a:r>
          </a:p>
          <a:p/>
          <a:p>
            <a:r>
              <a:t>Visual: Two sleep blocks on a night timeline with a gap in the middle.</a:t>
            </a:r>
          </a:p>
          <a:p/>
          <a:p>
            <a:r>
              <a:t>On-screen: SLEEP · AWAKE · SLEEP</a:t>
            </a:r>
          </a:p>
          <a:p/>
          <a:p>
            <a:r>
              <a:t>Animation: A night timeline draws left to right: sleep block, gap, sleep block.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VO: Not every study agrees. When researchers tracked sleep among the Hadza, the San and the Tsimane, most slept in one block.</a:t>
            </a:r>
          </a:p>
          <a:p/>
          <a:p>
            <a:r>
              <a:t>Visual: Card with three group names and a single solid sleep bar.</a:t>
            </a:r>
          </a:p>
          <a:p/>
          <a:p>
            <a:r>
              <a:t>On-screen: THE DEBATE IS OPEN</a:t>
            </a:r>
          </a:p>
          <a:p/>
          <a:p>
            <a:r>
              <a:t>Animation: A card with three group names slides in; a single solid sleep bar draws under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VO: So if you wake at two in the morning, it may not be a disorder. Your body may just be doing something very old.</a:t>
            </a:r>
          </a:p>
          <a:p/>
          <a:p>
            <a:r>
              <a:t>Visual: Modern bedroom: phone shows 2:00; the figure lies calmly instead of panicking.</a:t>
            </a:r>
          </a:p>
          <a:p/>
          <a:p>
            <a:r>
              <a:t>On-screen: 2:00 AM</a:t>
            </a:r>
          </a:p>
          <a:p/>
          <a:p>
            <a:r>
              <a:t>Animation: Modern bedroom; phone glows 2:00; he lies calmly, breathing; no panic.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VO: That was the human rhythm for a very long time. Food in the morning, people in the afternoon, stories at night.</a:t>
            </a:r>
          </a:p>
          <a:p/>
          <a:p>
            <a:r>
              <a:t>Visual: Montage of the three earlier moments across one painted panorama; the hours clock is mostly free.</a:t>
            </a:r>
          </a:p>
          <a:p/>
          <a:p>
            <a:r>
              <a:t>On-screen: -</a:t>
            </a:r>
          </a:p>
          <a:p/>
          <a:p>
            <a:r>
              <a:t>Animation: A long panorama of the three earlier moments; camera pans across it; the hours clock is mostly free.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VO: Then, roughly twelve thousand years ago, in the Fertile Crescent, people began planting wild grains and keeping animals.</a:t>
            </a:r>
          </a:p>
          <a:p/>
          <a:p>
            <a:r>
              <a:t>Visual: Map of the Fertile Crescent arc lighting up green from the Levant to the Tigris and Euphrates.</a:t>
            </a:r>
          </a:p>
          <a:p/>
          <a:p>
            <a:r>
              <a:t>On-screen: THE FERTILE CRESCENT · ~12,000 YEARS AGO</a:t>
            </a:r>
          </a:p>
          <a:p/>
          <a:p>
            <a:r>
              <a:t>Animation: The crescent arc lights green from the Levant to the Tigris and Euphrates.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VO: On paper, it looked like an upgrade. More food. More control. No more tracking an antelope across the plain.</a:t>
            </a:r>
          </a:p>
          <a:p/>
          <a:p>
            <a:r>
              <a:t>Visual: First farmer scatters seed; neat field rows appear; a pen of goats.</a:t>
            </a:r>
          </a:p>
          <a:p/>
          <a:p>
            <a:r>
              <a:t>On-screen: -</a:t>
            </a:r>
          </a:p>
          <a:p/>
          <a:p>
            <a:r>
              <a:t>Animation: First farmer scatters seed (arm sweep); field rows draw in behind; goats in a pen.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VO: But it set off a loop. More food meant more children survived. More people needed more food. More food meant more fields, and more fields meant more work.</a:t>
            </a:r>
          </a:p>
          <a:p/>
          <a:p>
            <a:r>
              <a:t>Visual: Circular diagram, each arrow lighting as spoken: FOOD → PEOPLE → FIELDS → WORK → FOOD.</a:t>
            </a:r>
          </a:p>
          <a:p/>
          <a:p>
            <a:r>
              <a:t>On-screen: THE FARMING LOOP</a:t>
            </a:r>
          </a:p>
          <a:p/>
          <a:p>
            <a:r>
              <a:t>Animation: The loop's arrows light one after another as each word is said, then spin faster.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VO: And then the door shut. Once a village grew too big to live off wild food, there was no going back.</a:t>
            </a:r>
          </a:p>
          <a:p/>
          <a:p>
            <a:r>
              <a:t>Visual: A wooden gate swings shut on the field; the forest behind it fades.</a:t>
            </a:r>
          </a:p>
          <a:p/>
          <a:p>
            <a:r>
              <a:t>On-screen: NO WAY BACK</a:t>
            </a:r>
          </a:p>
          <a:p/>
          <a:p>
            <a:r>
              <a:t>Animation: A wooden gate swings shut (creak + thud); the forest behind it fades 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VO: Ploughing, sowing, weeding, harvesting, grinding, storing and guarding. Every season, every year.</a:t>
            </a:r>
          </a:p>
          <a:p/>
          <a:p>
            <a:r>
              <a:t>Visual: Rapid cycle of farming tasks with the same bent figure; 3D plough and grain sacks; ambient wind.</a:t>
            </a:r>
          </a:p>
          <a:p/>
          <a:p>
            <a:r>
              <a:t>On-screen: -</a:t>
            </a:r>
          </a:p>
          <a:p/>
          <a:p>
            <a:r>
              <a:t>Animation: Fast cycle of tasks with the same bent figure: plough, sow, weed, harvest, grind; wind ambience.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VO: Remember the second skeleton? The decay, the worn spine, the shorter life. This is where it came from.</a:t>
            </a:r>
          </a:p>
          <a:p/>
          <a:p>
            <a:r>
              <a:t>Visual: Skeleton B fades in over the bent farmer.</a:t>
            </a:r>
          </a:p>
          <a:p/>
          <a:p>
            <a:r>
              <a:t>On-screen: -</a:t>
            </a:r>
          </a:p>
          <a:p/>
          <a:p>
            <a:r>
              <a:t>Animation: Skeleton B fades in over the bent farmer (double exposure).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VO: Villages became towns. Towns needed potters, weavers and traders. Then cities, and with them kings, soldiers, priests and tax collectors.</a:t>
            </a:r>
          </a:p>
          <a:p/>
          <a:p>
            <a:r>
              <a:t>Visual: A painted village grows in time-lapse into a walled city; figures appear in turn.</a:t>
            </a:r>
          </a:p>
          <a:p/>
          <a:p>
            <a:r>
              <a:t>On-screen: -</a:t>
            </a:r>
          </a:p>
          <a:p/>
          <a:p>
            <a:r>
              <a:t>Animation: Time-lapse: huts become houses become a walled city; potters, a king, soldiers, a tax collector appear in turn.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VO: And something new arrived in human history: hours that belonged to someone else, sold in exchange for food you no longer knew how to find.</a:t>
            </a:r>
          </a:p>
          <a:p/>
          <a:p>
            <a:r>
              <a:t>Visual: A coin is placed in a farmer's hand; his hours clock is handed to a tax collector.</a:t>
            </a:r>
          </a:p>
          <a:p/>
          <a:p>
            <a:r>
              <a:t>On-screen: YOUR HOURS, SOLD</a:t>
            </a:r>
          </a:p>
          <a:p/>
          <a:p>
            <a:r>
              <a:t>Animation: A coin drops into the farmer's hand; his hours clock floats across to the tax collector.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VO: Nobody stole our time in one night. It was traded away slowly, over hundreds of generations, in a deal none of us got to vote on.</a:t>
            </a:r>
          </a:p>
          <a:p/>
          <a:p>
            <a:r>
              <a:t>Visual: Generations pass: the same field, faces change, the city wall grows behind.</a:t>
            </a:r>
          </a:p>
          <a:p/>
          <a:p>
            <a:r>
              <a:t>On-screen: -</a:t>
            </a:r>
          </a:p>
          <a:p/>
          <a:p>
            <a:r>
              <a:t>Animation: Generations pass in place: the same field, faces change, the city wall grows behind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VO: And the alarm that woke you this morning is just the latest payment.</a:t>
            </a:r>
          </a:p>
          <a:p/>
          <a:p>
            <a:r>
              <a:t>Visual: The modern phone alarm again, 6:00, cold light.</a:t>
            </a:r>
          </a:p>
          <a:p/>
          <a:p>
            <a:r>
              <a:t>On-screen: 6:00 AM</a:t>
            </a:r>
          </a:p>
          <a:p/>
          <a:p>
            <a:r>
              <a:t>Animation: Back to the phone alarm, cold light; it rings (alarm SFX, shorter).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VO: For most of human history, finding food took part of the week. Afternoons went to craft, beauty and friendship. Nights went to stories.</a:t>
            </a:r>
          </a:p>
          <a:p/>
          <a:p>
            <a:r>
              <a:t>Visual: Recap panorama: hunt, shells and flute, the fire.</a:t>
            </a:r>
          </a:p>
          <a:p/>
          <a:p>
            <a:r>
              <a:t>On-screen: -</a:t>
            </a:r>
          </a:p>
          <a:p/>
          <a:p>
            <a:r>
              <a:t>Animation: Recap panorama; quick parallax pan across hunt, shells and flute, the fire.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VO: You will spend something like ninety thousand hours of your life at work.</a:t>
            </a:r>
          </a:p>
          <a:p/>
          <a:p>
            <a:r>
              <a:t>Visual: Office tower at night, windows lit; the number counts up.</a:t>
            </a:r>
          </a:p>
          <a:p/>
          <a:p>
            <a:r>
              <a:t>On-screen: ~90,000 HOURS</a:t>
            </a:r>
          </a:p>
          <a:p/>
          <a:p>
            <a:r>
              <a:t>Animation: Office tower at night, windows lit; the number counts 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VO: We make art if there's anything left after the job. They made it on an ordinary afternoon.</a:t>
            </a:r>
          </a:p>
          <a:p/>
          <a:p>
            <a:r>
              <a:t>Visual: Split: tired worker sketching at midnight / the shell necklace being made in daylight.</a:t>
            </a:r>
          </a:p>
          <a:p/>
          <a:p>
            <a:r>
              <a:t>On-screen: -</a:t>
            </a:r>
          </a:p>
          <a:p/>
          <a:p>
            <a:r>
              <a:t>Animation: Split: tired worker sketching at midnight / the necklace being made in daylight.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VO: We network to get ahead. They spent hours with the people they loved, and it counted as survival.</a:t>
            </a:r>
          </a:p>
          <a:p/>
          <a:p>
            <a:r>
              <a:t>Visual: Split: business card exchange / grooming and laughing in the shade.</a:t>
            </a:r>
          </a:p>
          <a:p/>
          <a:p>
            <a:r>
              <a:t>On-screen: -</a:t>
            </a:r>
          </a:p>
          <a:p/>
          <a:p>
            <a:r>
              <a:t>Animation: Split: two suits swap business cards / friends grooming and laughing in the shade.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VO: We chase a finish line called retirement, where we finally get our time back.</a:t>
            </a:r>
          </a:p>
          <a:p/>
          <a:p>
            <a:r>
              <a:t>Visual: A finish-line ribbon far down a long road of desks.</a:t>
            </a:r>
          </a:p>
          <a:p/>
          <a:p>
            <a:r>
              <a:t>On-screen: RETIREMENT</a:t>
            </a:r>
          </a:p>
          <a:p/>
          <a:p>
            <a:r>
              <a:t>Animation: A road of desks recedes to a finish-line ribbon far away.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VO: In one way, they were already standing on it.</a:t>
            </a:r>
          </a:p>
          <a:p/>
          <a:p>
            <a:r>
              <a:t>Visual: Pull back: the hunter sits on the finish line by his fire, relaxed.</a:t>
            </a:r>
          </a:p>
          <a:p/>
          <a:p>
            <a:r>
              <a:t>On-screen: -</a:t>
            </a:r>
          </a:p>
          <a:p/>
          <a:p>
            <a:r>
              <a:t>Animation: Pull back: the hunter is already sitting on the finish line by his fire, relaxed.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VO: They woke up without an alarm, and asked the question you rarely get to ask.</a:t>
            </a:r>
          </a:p>
          <a:p/>
          <a:p>
            <a:r>
              <a:t>Visual: Dawn again; the hunter stretches, looks out across the plain.</a:t>
            </a:r>
          </a:p>
          <a:p/>
          <a:p>
            <a:r>
              <a:t>On-screen: WHAT SHOULD I DO TODAY?</a:t>
            </a:r>
          </a:p>
          <a:p/>
          <a:p>
            <a:r>
              <a:t>Animation: Dawn again; he stretches and looks out; the card from the cold open returns (bookend).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VO: If this changed how you see your own day, watch next how farming built the first cities.</a:t>
            </a:r>
          </a:p>
          <a:p/>
          <a:p>
            <a:r>
              <a:t>Visual: End card over the fire with the channel name.</a:t>
            </a:r>
          </a:p>
          <a:p/>
          <a:p>
            <a:r>
              <a:t>On-screen: STROMHELL</a:t>
            </a:r>
          </a:p>
          <a:p/>
          <a:p>
            <a:r>
              <a:t>Animation: End card over the fire; channel name; music resolves.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notesSlide" Target="../notesSlides/notesSlide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notesSlide" Target="../notesSlides/notesSlide10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notesSlide" Target="../notesSlides/notesSlide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notesSlide" Target="../notesSlides/notesSlide1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notesSlide" Target="../notesSlides/notesSlide1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notesSlide" Target="../notesSlides/notesSlide1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Relationship Id="rId3" Type="http://schemas.openxmlformats.org/officeDocument/2006/relationships/notesSlide" Target="../notesSlides/notesSlide1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notesSlide" Target="../notesSlides/notesSlide1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notesSlide" Target="../notesSlides/notesSlide1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notesSlide" Target="../notesSlides/notesSlide18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notesSlide" Target="../notesSlides/notesSlide19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notesSlide" Target="../notesSlides/notesSlide20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notesSlide" Target="../notesSlides/notesSlide2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Relationship Id="rId3" Type="http://schemas.openxmlformats.org/officeDocument/2006/relationships/notesSlide" Target="../notesSlides/notesSlide2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notesSlide" Target="../notesSlides/notesSlide23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notesSlide" Target="../notesSlides/notesSlide24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notesSlide" Target="../notesSlides/notesSlide25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Relationship Id="rId3" Type="http://schemas.openxmlformats.org/officeDocument/2006/relationships/notesSlide" Target="../notesSlides/notesSlide26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notesSlide" Target="../notesSlides/notesSlide2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notesSlide" Target="../notesSlides/notesSlide28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jpg"/><Relationship Id="rId3" Type="http://schemas.openxmlformats.org/officeDocument/2006/relationships/notesSlide" Target="../notesSlides/notesSlide29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Relationship Id="rId3" Type="http://schemas.openxmlformats.org/officeDocument/2006/relationships/notesSlide" Target="../notesSlides/notesSlide30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notesSlide" Target="../notesSlides/notesSlide31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Relationship Id="rId3" Type="http://schemas.openxmlformats.org/officeDocument/2006/relationships/notesSlide" Target="../notesSlides/notesSlide3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Relationship Id="rId3" Type="http://schemas.openxmlformats.org/officeDocument/2006/relationships/notesSlide" Target="../notesSlides/notesSlide33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jpg"/><Relationship Id="rId3" Type="http://schemas.openxmlformats.org/officeDocument/2006/relationships/notesSlide" Target="../notesSlides/notesSlide34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jpg"/><Relationship Id="rId3" Type="http://schemas.openxmlformats.org/officeDocument/2006/relationships/notesSlide" Target="../notesSlides/notesSlide35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jpg"/><Relationship Id="rId3" Type="http://schemas.openxmlformats.org/officeDocument/2006/relationships/notesSlide" Target="../notesSlides/notesSlide36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jpg"/><Relationship Id="rId3" Type="http://schemas.openxmlformats.org/officeDocument/2006/relationships/notesSlide" Target="../notesSlides/notesSlide3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notesSlide" Target="../notesSlides/notesSlide38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jpg"/><Relationship Id="rId3" Type="http://schemas.openxmlformats.org/officeDocument/2006/relationships/notesSlide" Target="../notesSlides/notesSlide39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jpg"/><Relationship Id="rId3" Type="http://schemas.openxmlformats.org/officeDocument/2006/relationships/notesSlide" Target="../notesSlides/notesSlide40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jpg"/><Relationship Id="rId3" Type="http://schemas.openxmlformats.org/officeDocument/2006/relationships/notesSlide" Target="../notesSlides/notesSlide41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notesSlide" Target="../notesSlides/notesSlide42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jpg"/><Relationship Id="rId3" Type="http://schemas.openxmlformats.org/officeDocument/2006/relationships/notesSlide" Target="../notesSlides/notesSlide43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jpg"/><Relationship Id="rId3" Type="http://schemas.openxmlformats.org/officeDocument/2006/relationships/notesSlide" Target="../notesSlides/notesSlide44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jpg"/><Relationship Id="rId3" Type="http://schemas.openxmlformats.org/officeDocument/2006/relationships/notesSlide" Target="../notesSlides/notesSlide45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jpg"/><Relationship Id="rId3" Type="http://schemas.openxmlformats.org/officeDocument/2006/relationships/notesSlide" Target="../notesSlides/notesSlide46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jpg"/><Relationship Id="rId3" Type="http://schemas.openxmlformats.org/officeDocument/2006/relationships/notesSlide" Target="../notesSlides/notesSlide4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jpg"/><Relationship Id="rId3" Type="http://schemas.openxmlformats.org/officeDocument/2006/relationships/notesSlide" Target="../notesSlides/notesSlide48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jpg"/><Relationship Id="rId3" Type="http://schemas.openxmlformats.org/officeDocument/2006/relationships/notesSlide" Target="../notesSlides/notesSlide49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jpg"/><Relationship Id="rId3" Type="http://schemas.openxmlformats.org/officeDocument/2006/relationships/notesSlide" Target="../notesSlides/notesSlide50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.jpg"/><Relationship Id="rId3" Type="http://schemas.openxmlformats.org/officeDocument/2006/relationships/notesSlide" Target="../notesSlides/notesSlide51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jpg"/><Relationship Id="rId3" Type="http://schemas.openxmlformats.org/officeDocument/2006/relationships/notesSlide" Target="../notesSlides/notesSlide52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3.jpg"/><Relationship Id="rId3" Type="http://schemas.openxmlformats.org/officeDocument/2006/relationships/notesSlide" Target="../notesSlides/notesSlide53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4.jpg"/><Relationship Id="rId3" Type="http://schemas.openxmlformats.org/officeDocument/2006/relationships/notesSlide" Target="../notesSlides/notesSlide54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.jpg"/><Relationship Id="rId3" Type="http://schemas.openxmlformats.org/officeDocument/2006/relationships/notesSlide" Target="../notesSlides/notesSlide55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6.jpg"/><Relationship Id="rId3" Type="http://schemas.openxmlformats.org/officeDocument/2006/relationships/notesSlide" Target="../notesSlides/notesSlide56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7.jpg"/><Relationship Id="rId3" Type="http://schemas.openxmlformats.org/officeDocument/2006/relationships/notesSlide" Target="../notesSlides/notesSlide5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8.jpg"/><Relationship Id="rId3" Type="http://schemas.openxmlformats.org/officeDocument/2006/relationships/notesSlide" Target="../notesSlides/notesSlide58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9.jpg"/><Relationship Id="rId3" Type="http://schemas.openxmlformats.org/officeDocument/2006/relationships/notesSlide" Target="../notesSlides/notesSlide59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0.jpg"/><Relationship Id="rId3" Type="http://schemas.openxmlformats.org/officeDocument/2006/relationships/notesSlide" Target="../notesSlides/notesSlide60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1.jpg"/><Relationship Id="rId3" Type="http://schemas.openxmlformats.org/officeDocument/2006/relationships/notesSlide" Target="../notesSlides/notesSlide61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2.jpg"/><Relationship Id="rId3" Type="http://schemas.openxmlformats.org/officeDocument/2006/relationships/notesSlide" Target="../notesSlides/notesSlide62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3.jpg"/><Relationship Id="rId3" Type="http://schemas.openxmlformats.org/officeDocument/2006/relationships/notesSlide" Target="../notesSlides/notesSlide63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4.jpg"/><Relationship Id="rId3" Type="http://schemas.openxmlformats.org/officeDocument/2006/relationships/notesSlide" Target="../notesSlides/notesSlide64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5.jpg"/><Relationship Id="rId3" Type="http://schemas.openxmlformats.org/officeDocument/2006/relationships/notesSlide" Target="../notesSlides/notesSlide65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6.jpg"/><Relationship Id="rId3" Type="http://schemas.openxmlformats.org/officeDocument/2006/relationships/notesSlide" Target="../notesSlides/notesSlide66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7.jpg"/><Relationship Id="rId3" Type="http://schemas.openxmlformats.org/officeDocument/2006/relationships/notesSlide" Target="../notesSlides/notesSlide6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8.jpg"/><Relationship Id="rId3" Type="http://schemas.openxmlformats.org/officeDocument/2006/relationships/notesSlide" Target="../notesSlides/notesSlide68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9.jpg"/><Relationship Id="rId3" Type="http://schemas.openxmlformats.org/officeDocument/2006/relationships/notesSlide" Target="../notesSlides/notesSlide69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0.jpg"/><Relationship Id="rId3" Type="http://schemas.openxmlformats.org/officeDocument/2006/relationships/notesSlide" Target="../notesSlides/notesSlide70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1.jpg"/><Relationship Id="rId3" Type="http://schemas.openxmlformats.org/officeDocument/2006/relationships/notesSlide" Target="../notesSlides/notesSlide71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2.jpg"/><Relationship Id="rId3" Type="http://schemas.openxmlformats.org/officeDocument/2006/relationships/notesSlide" Target="../notesSlides/notesSlide72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3.jpg"/><Relationship Id="rId3" Type="http://schemas.openxmlformats.org/officeDocument/2006/relationships/notesSlide" Target="../notesSlides/notesSlide73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4.jpg"/><Relationship Id="rId3" Type="http://schemas.openxmlformats.org/officeDocument/2006/relationships/notesSlide" Target="../notesSlides/notesSlide74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5.jpg"/><Relationship Id="rId3" Type="http://schemas.openxmlformats.org/officeDocument/2006/relationships/notesSlide" Target="../notesSlides/notesSlide75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6.jpg"/><Relationship Id="rId3" Type="http://schemas.openxmlformats.org/officeDocument/2006/relationships/notesSlide" Target="../notesSlides/notesSlide76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7.jpg"/><Relationship Id="rId3" Type="http://schemas.openxmlformats.org/officeDocument/2006/relationships/notesSlide" Target="../notesSlides/notesSlide7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8.jpg"/><Relationship Id="rId3" Type="http://schemas.openxmlformats.org/officeDocument/2006/relationships/notesSlide" Target="../notesSlides/notesSlide78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9.jpg"/><Relationship Id="rId3" Type="http://schemas.openxmlformats.org/officeDocument/2006/relationships/notesSlide" Target="../notesSlides/notesSlide79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0.jpg"/><Relationship Id="rId3" Type="http://schemas.openxmlformats.org/officeDocument/2006/relationships/notesSlide" Target="../notesSlides/notesSlide80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1.jpg"/><Relationship Id="rId3" Type="http://schemas.openxmlformats.org/officeDocument/2006/relationships/notesSlide" Target="../notesSlides/notesSlide81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2.jpg"/><Relationship Id="rId3" Type="http://schemas.openxmlformats.org/officeDocument/2006/relationships/notesSlide" Target="../notesSlides/notesSlide82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3.jpg"/><Relationship Id="rId3" Type="http://schemas.openxmlformats.org/officeDocument/2006/relationships/notesSlide" Target="../notesSlides/notesSlide83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4.jpg"/><Relationship Id="rId3" Type="http://schemas.openxmlformats.org/officeDocument/2006/relationships/notesSlide" Target="../notesSlides/notesSlide84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5.jpg"/><Relationship Id="rId3" Type="http://schemas.openxmlformats.org/officeDocument/2006/relationships/notesSlide" Target="../notesSlides/notesSlide85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6.jpg"/><Relationship Id="rId3" Type="http://schemas.openxmlformats.org/officeDocument/2006/relationships/notesSlide" Target="../notesSlides/notesSlide86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7.jpg"/><Relationship Id="rId3" Type="http://schemas.openxmlformats.org/officeDocument/2006/relationships/notesSlide" Target="../notesSlides/notesSlide8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8.jpg"/><Relationship Id="rId3" Type="http://schemas.openxmlformats.org/officeDocument/2006/relationships/notesSlide" Target="../notesSlides/notesSlide88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9.jpg"/><Relationship Id="rId3" Type="http://schemas.openxmlformats.org/officeDocument/2006/relationships/notesSlide" Target="../notesSlides/notesSlide89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0.jpg"/><Relationship Id="rId3" Type="http://schemas.openxmlformats.org/officeDocument/2006/relationships/notesSlide" Target="../notesSlides/notesSlide90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1.jpg"/><Relationship Id="rId3" Type="http://schemas.openxmlformats.org/officeDocument/2006/relationships/notesSlide" Target="../notesSlides/notesSlide91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2.jpg"/><Relationship Id="rId3" Type="http://schemas.openxmlformats.org/officeDocument/2006/relationships/notesSlide" Target="../notesSlides/notesSlide92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3.jpg"/><Relationship Id="rId3" Type="http://schemas.openxmlformats.org/officeDocument/2006/relationships/notesSlide" Target="../notesSlides/notesSlide93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4.jpg"/><Relationship Id="rId3" Type="http://schemas.openxmlformats.org/officeDocument/2006/relationships/notesSlide" Target="../notesSlides/notesSlide94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5.jpg"/><Relationship Id="rId3" Type="http://schemas.openxmlformats.org/officeDocument/2006/relationships/notesSlide" Target="../notesSlides/notesSlide95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6.jpg"/><Relationship Id="rId3" Type="http://schemas.openxmlformats.org/officeDocument/2006/relationships/notesSlide" Target="../notesSlides/notesSlide96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7.jpg"/><Relationship Id="rId3" Type="http://schemas.openxmlformats.org/officeDocument/2006/relationships/notesSlide" Target="../notesSlides/notesSlide9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822960"/>
            <a:ext cx="1069848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400" b="1">
                <a:solidFill>
                  <a:srgbClr val="B44A1E"/>
                </a:solidFill>
                <a:latin typeface="Calibri"/>
              </a:rPr>
              <a:t>STORYBOARD · AH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698480" cy="12801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4000" b="1">
                <a:solidFill>
                  <a:srgbClr val="1E1B18"/>
                </a:solidFill>
                <a:latin typeface="Calibri"/>
              </a:rPr>
              <a:t>What Did Ancient Humans Actually Do All Day?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69848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600" b="0">
                <a:solidFill>
                  <a:srgbClr val="6B635A"/>
                </a:solidFill>
                <a:latin typeface="Calibri"/>
              </a:rPr>
              <a:t>Working title: They Found Food in 15 Hours a Week. Where Did Your Time Go?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383280"/>
            <a:ext cx="1069848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600" b="1">
                <a:solidFill>
                  <a:srgbClr val="1E1B18"/>
                </a:solidFill>
                <a:latin typeface="Calibri"/>
              </a:rPr>
              <a:t>97 frames · 10 acts · 1812 words · runtime 12:40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023360"/>
            <a:ext cx="10698480" cy="23774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300" b="1">
                <a:solidFill>
                  <a:srgbClr val="1E1B18"/>
                </a:solidFill>
                <a:latin typeface="Calibri"/>
              </a:rPr>
              <a:t>Running device: </a:t>
            </a:r>
            <a:r>
              <a:rPr sz="1300" b="0">
                <a:solidFill>
                  <a:srgbClr val="1E1B18"/>
                </a:solidFill>
                <a:latin typeface="Calibri"/>
              </a:rPr>
              <a:t>A running 'HOURS THAT ARE YOURS' clock in the corner: it shows a full free afternoon for the hunter-gatherer, then shrinks act by act as farming arrives, ending on the viewer's alarm.</a:t>
            </a:r>
          </a:p>
          <a:p>
            <a:pPr>
              <a:spcAft>
                <a:spcPts val="200"/>
              </a:spcAft>
            </a:pPr>
            <a:r>
              <a:rPr sz="1300" b="1">
                <a:solidFill>
                  <a:srgbClr val="1E1B18"/>
                </a:solidFill>
                <a:latin typeface="Calibri"/>
              </a:rPr>
              <a:t>Style: </a:t>
            </a:r>
            <a:r>
              <a:rPr sz="1300" b="0">
                <a:solidFill>
                  <a:srgbClr val="1E1B18"/>
                </a:solidFill>
                <a:latin typeface="Calibri"/>
              </a:rPr>
              <a:t>Calm serious documentary. Warm firelight palette for the camp, cold blue-grey for the modern office and the alarm. Painted savanna and Kalahari plates, parchment maps, 3D props (spear, hide, skeleton bones, shell beads, flute, plough, grain sacks, alarm clock).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0"/>
            <a:ext cx="12191695" cy="1371600"/>
          </a:xfrm>
          <a:prstGeom prst="rect">
            <a:avLst/>
          </a:prstGeom>
          <a:solidFill>
            <a:srgbClr val="2A2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880360"/>
            <a:ext cx="1069848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3200" b="1">
                <a:solidFill>
                  <a:srgbClr val="F6F1E8"/>
                </a:solidFill>
                <a:latin typeface="Calibri"/>
              </a:rPr>
              <a:t>ACT 0 · COLD OPEN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520440"/>
            <a:ext cx="1069848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600" b="0">
                <a:solidFill>
                  <a:srgbClr val="D8CFC2"/>
                </a:solidFill>
                <a:latin typeface="Calibri"/>
              </a:rPr>
              <a:t>11 frames · 1:17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2A2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600" b="1">
                <a:solidFill>
                  <a:srgbClr val="F6F1E8"/>
                </a:solidFill>
                <a:latin typeface="Calibri"/>
              </a:rPr>
              <a:t>AH 0.01</a:t>
            </a:r>
            <a:r>
              <a:rPr sz="1400" b="0">
                <a:solidFill>
                  <a:srgbClr val="D8CFC2"/>
                </a:solidFill>
                <a:latin typeface="Calibri"/>
              </a:rPr>
              <a:t>   CU   ·   4.9 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109728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spcAft>
                <a:spcPts val="200"/>
              </a:spcAft>
            </a:pPr>
            <a:r>
              <a:rPr sz="1300" b="0">
                <a:solidFill>
                  <a:srgbClr val="D8CFC2"/>
                </a:solidFill>
                <a:latin typeface="Calibri"/>
              </a:rPr>
              <a:t>Act 0 · Cold open</a:t>
            </a:r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77240"/>
            <a:ext cx="6766560" cy="380619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4720590"/>
            <a:ext cx="6766560" cy="2011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B44A1E"/>
                </a:solidFill>
                <a:latin typeface="Calibri"/>
              </a:rPr>
              <a:t>VO</a:t>
            </a:r>
          </a:p>
          <a:p>
            <a:pPr>
              <a:spcAft>
                <a:spcPts val="200"/>
              </a:spcAft>
            </a:pPr>
            <a:r>
              <a:rPr sz="1800" b="0">
                <a:solidFill>
                  <a:srgbClr val="1E1B18"/>
                </a:solidFill>
                <a:latin typeface="Calibri"/>
              </a:rPr>
              <a:t>This morning, a machine screamed at you until you got up.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60920" y="777240"/>
            <a:ext cx="4526280" cy="58521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VISUAL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Dark bedroom, phone alarm lights up a sleeping face; the screen reads 6:00. Cold blue light.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ON-SCREEN TEXT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6:00 AM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ANIMATION NOTES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Dark, cold blue room. Phone screen flashes on the alarm beat (SFX alarm), slow push-in on the sleeping face; eyes snap open on 'screamed'.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2A2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600" b="1">
                <a:solidFill>
                  <a:srgbClr val="F6F1E8"/>
                </a:solidFill>
                <a:latin typeface="Calibri"/>
              </a:rPr>
              <a:t>AH 0.02</a:t>
            </a:r>
            <a:r>
              <a:rPr sz="1400" b="0">
                <a:solidFill>
                  <a:srgbClr val="D8CFC2"/>
                </a:solidFill>
                <a:latin typeface="Calibri"/>
              </a:rPr>
              <a:t>   MED   ·   10.6 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109728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spcAft>
                <a:spcPts val="200"/>
              </a:spcAft>
            </a:pPr>
            <a:r>
              <a:rPr sz="1300" b="0">
                <a:solidFill>
                  <a:srgbClr val="D8CFC2"/>
                </a:solidFill>
                <a:latin typeface="Calibri"/>
              </a:rPr>
              <a:t>Act 0 · Cold open</a:t>
            </a:r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77240"/>
            <a:ext cx="6766560" cy="380619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4720590"/>
            <a:ext cx="6766560" cy="2011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B44A1E"/>
                </a:solidFill>
                <a:latin typeface="Calibri"/>
              </a:rPr>
              <a:t>VO</a:t>
            </a:r>
          </a:p>
          <a:p>
            <a:pPr>
              <a:spcAft>
                <a:spcPts val="200"/>
              </a:spcAft>
            </a:pPr>
            <a:r>
              <a:rPr sz="1800" b="0">
                <a:solidFill>
                  <a:srgbClr val="1E1B18"/>
                </a:solidFill>
                <a:latin typeface="Calibri"/>
              </a:rPr>
              <a:t>You silenced it, and from that second the day was already spoken for. Where to be. What to finish. How many hours belong to someone else.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60920" y="777240"/>
            <a:ext cx="4526280" cy="58521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VISUAL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Modern figure sits up, rubs eyes; a calendar fills with blocks behind him, one by one, on each phrase.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ON-SCREEN TEXT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—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ANIMATION NOTES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He sits up and rubs his eyes (2-beat arm move). Calendar blocks pop in one per phrase: 'where to be', 'what to finish', 'whose hours'.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2A2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600" b="1">
                <a:solidFill>
                  <a:srgbClr val="F6F1E8"/>
                </a:solidFill>
                <a:latin typeface="Calibri"/>
              </a:rPr>
              <a:t>AH 0.03</a:t>
            </a:r>
            <a:r>
              <a:rPr sz="1400" b="0">
                <a:solidFill>
                  <a:srgbClr val="D8CFC2"/>
                </a:solidFill>
                <a:latin typeface="Calibri"/>
              </a:rPr>
              <a:t>   WIDE   ·   3.0 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109728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spcAft>
                <a:spcPts val="200"/>
              </a:spcAft>
            </a:pPr>
            <a:r>
              <a:rPr sz="1300" b="0">
                <a:solidFill>
                  <a:srgbClr val="D8CFC2"/>
                </a:solidFill>
                <a:latin typeface="Calibri"/>
              </a:rPr>
              <a:t>Act 0 · Cold open</a:t>
            </a:r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77240"/>
            <a:ext cx="6766560" cy="380619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4720590"/>
            <a:ext cx="6766560" cy="2011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B44A1E"/>
                </a:solidFill>
                <a:latin typeface="Calibri"/>
              </a:rPr>
              <a:t>VO</a:t>
            </a:r>
          </a:p>
          <a:p>
            <a:pPr>
              <a:spcAft>
                <a:spcPts val="200"/>
              </a:spcAft>
            </a:pPr>
            <a:r>
              <a:rPr sz="1800" b="0">
                <a:solidFill>
                  <a:srgbClr val="1E1B18"/>
                </a:solidFill>
                <a:latin typeface="Calibri"/>
              </a:rPr>
              <a:t>Now go back fifty thousand years.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60920" y="777240"/>
            <a:ext cx="4526280" cy="58521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VISUAL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Hard cut: the calendar dissolves into dawn mist over an African savanna camp; painted golden light.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ON-SCREEN TEXT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50,000 YEARS AGO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ANIMATION NOTES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Calendar dissolves into dawn mist (0.8 s cross-dissolve). Slow pull-back reveals the camp; mist layers drift at different speeds (parallax).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2A2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600" b="1">
                <a:solidFill>
                  <a:srgbClr val="F6F1E8"/>
                </a:solidFill>
                <a:latin typeface="Calibri"/>
              </a:rPr>
              <a:t>AH 0.04</a:t>
            </a:r>
            <a:r>
              <a:rPr sz="1400" b="0">
                <a:solidFill>
                  <a:srgbClr val="D8CFC2"/>
                </a:solidFill>
                <a:latin typeface="Calibri"/>
              </a:rPr>
              <a:t>   MED   ·   6.4 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109728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spcAft>
                <a:spcPts val="200"/>
              </a:spcAft>
            </a:pPr>
            <a:r>
              <a:rPr sz="1300" b="0">
                <a:solidFill>
                  <a:srgbClr val="D8CFC2"/>
                </a:solidFill>
                <a:latin typeface="Calibri"/>
              </a:rPr>
              <a:t>Act 0 · Cold open</a:t>
            </a:r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77240"/>
            <a:ext cx="6766560" cy="380619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4720590"/>
            <a:ext cx="6766560" cy="2011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B44A1E"/>
                </a:solidFill>
                <a:latin typeface="Calibri"/>
              </a:rPr>
              <a:t>VO</a:t>
            </a:r>
          </a:p>
          <a:p>
            <a:pPr>
              <a:spcAft>
                <a:spcPts val="200"/>
              </a:spcAft>
            </a:pPr>
            <a:r>
              <a:rPr sz="1800" b="0">
                <a:solidFill>
                  <a:srgbClr val="1E1B18"/>
                </a:solidFill>
                <a:latin typeface="Calibri"/>
              </a:rPr>
              <a:t>A man wakes with the light. No alarm, no shift, no one waiting for him.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60920" y="777240"/>
            <a:ext cx="4526280" cy="58521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VISUAL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Hunter-gatherer wakes beside a smouldering fire, stretches slowly; birds cross the sky.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ON-SCREEN TEXT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—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ANIMATION NOTES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He rises from the hides and stretches, arms up, eased; birds cross the sky; the fire smoulders and smoke curls.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2A2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600" b="1">
                <a:solidFill>
                  <a:srgbClr val="F6F1E8"/>
                </a:solidFill>
                <a:latin typeface="Calibri"/>
              </a:rPr>
              <a:t>AH 0.05</a:t>
            </a:r>
            <a:r>
              <a:rPr sz="1400" b="0">
                <a:solidFill>
                  <a:srgbClr val="D8CFC2"/>
                </a:solidFill>
                <a:latin typeface="Calibri"/>
              </a:rPr>
              <a:t>   CU   ·   10.9 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109728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spcAft>
                <a:spcPts val="200"/>
              </a:spcAft>
            </a:pPr>
            <a:r>
              <a:rPr sz="1300" b="0">
                <a:solidFill>
                  <a:srgbClr val="D8CFC2"/>
                </a:solidFill>
                <a:latin typeface="Calibri"/>
              </a:rPr>
              <a:t>Act 0 · Cold open</a:t>
            </a:r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77240"/>
            <a:ext cx="6766560" cy="380619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4720590"/>
            <a:ext cx="6766560" cy="2011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B44A1E"/>
                </a:solidFill>
                <a:latin typeface="Calibri"/>
              </a:rPr>
              <a:t>VO</a:t>
            </a:r>
          </a:p>
          <a:p>
            <a:pPr>
              <a:spcAft>
                <a:spcPts val="200"/>
              </a:spcAft>
            </a:pPr>
            <a:r>
              <a:rPr sz="1800" b="0">
                <a:solidFill>
                  <a:srgbClr val="1E1B18"/>
                </a:solidFill>
                <a:latin typeface="Calibri"/>
              </a:rPr>
              <a:t>He owns a spear, two hides and a fire. And he gets to ask a question most of us never get to ask on a weekday morning.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60920" y="777240"/>
            <a:ext cx="4526280" cy="58521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VISUAL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Push in on his face; 3D props pop around him: spear, two hides, embers.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ON-SCREEN TEXT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—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ANIMATION NOTES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Push-in to medium close. The spear, hides and fire pop in around him with a small overshoot, each on its word.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2A2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600" b="1">
                <a:solidFill>
                  <a:srgbClr val="F6F1E8"/>
                </a:solidFill>
                <a:latin typeface="Calibri"/>
              </a:rPr>
              <a:t>AH 0.06</a:t>
            </a:r>
            <a:r>
              <a:rPr sz="1400" b="0">
                <a:solidFill>
                  <a:srgbClr val="D8CFC2"/>
                </a:solidFill>
                <a:latin typeface="Calibri"/>
              </a:rPr>
              <a:t>   CARD   ·   3.4 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109728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spcAft>
                <a:spcPts val="200"/>
              </a:spcAft>
            </a:pPr>
            <a:r>
              <a:rPr sz="1300" b="0">
                <a:solidFill>
                  <a:srgbClr val="D8CFC2"/>
                </a:solidFill>
                <a:latin typeface="Calibri"/>
              </a:rPr>
              <a:t>Act 0 · Cold open</a:t>
            </a:r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77240"/>
            <a:ext cx="6766560" cy="380619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4720590"/>
            <a:ext cx="6766560" cy="2011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B44A1E"/>
                </a:solidFill>
                <a:latin typeface="Calibri"/>
              </a:rPr>
              <a:t>VO</a:t>
            </a:r>
          </a:p>
          <a:p>
            <a:pPr>
              <a:spcAft>
                <a:spcPts val="200"/>
              </a:spcAft>
            </a:pPr>
            <a:r>
              <a:rPr sz="1800" b="0">
                <a:solidFill>
                  <a:srgbClr val="1E1B18"/>
                </a:solidFill>
                <a:latin typeface="Calibri"/>
              </a:rPr>
              <a:t>What do I feel like doing today?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60920" y="777240"/>
            <a:ext cx="4526280" cy="58521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VISUAL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Handwritten callout card, rotated -4 degrees, over the camp.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ON-SCREEN TEXT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WHAT SHOULD I DO TODAY?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ANIMATION NOTES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Handwritten card scales in at -4 degrees beside him as he looks out across the plain; a soft hold.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2A2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600" b="1">
                <a:solidFill>
                  <a:srgbClr val="F6F1E8"/>
                </a:solidFill>
                <a:latin typeface="Calibri"/>
              </a:rPr>
              <a:t>AH 0.07</a:t>
            </a:r>
            <a:r>
              <a:rPr sz="1400" b="0">
                <a:solidFill>
                  <a:srgbClr val="D8CFC2"/>
                </a:solidFill>
                <a:latin typeface="Calibri"/>
              </a:rPr>
              <a:t>   MED   ·   9.1 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109728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spcAft>
                <a:spcPts val="200"/>
              </a:spcAft>
            </a:pPr>
            <a:r>
              <a:rPr sz="1300" b="0">
                <a:solidFill>
                  <a:srgbClr val="D8CFC2"/>
                </a:solidFill>
                <a:latin typeface="Calibri"/>
              </a:rPr>
              <a:t>Act 0 · Cold open</a:t>
            </a:r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77240"/>
            <a:ext cx="6766560" cy="380619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4720590"/>
            <a:ext cx="6766560" cy="2011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B44A1E"/>
                </a:solidFill>
                <a:latin typeface="Calibri"/>
              </a:rPr>
              <a:t>VO</a:t>
            </a:r>
          </a:p>
          <a:p>
            <a:pPr>
              <a:spcAft>
                <a:spcPts val="200"/>
              </a:spcAft>
            </a:pPr>
            <a:r>
              <a:rPr sz="1800" b="0">
                <a:solidFill>
                  <a:srgbClr val="1E1B18"/>
                </a:solidFill>
                <a:latin typeface="Calibri"/>
              </a:rPr>
              <a:t>Your brain is already pushing back. Ancient life was short, brutal and hungry, wasn't it? Every hour a fight to stay alive.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60920" y="777240"/>
            <a:ext cx="4526280" cy="58521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VISUAL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Old textbook illustration style: a desperate caveman fighting a beast, stamped 'THE OFFICIAL STORY'.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ON-SCREEN TEXT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THE OFFICIAL STORY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ANIMATION NOTES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Old textbook-print look (halftone). A caveman fights a beast in a frozen illustration; 'THE OFFICIAL STORY' stamp slams in (SFX stamp).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2A2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600" b="1">
                <a:solidFill>
                  <a:srgbClr val="F6F1E8"/>
                </a:solidFill>
                <a:latin typeface="Calibri"/>
              </a:rPr>
              <a:t>AH 0.08</a:t>
            </a:r>
            <a:r>
              <a:rPr sz="1400" b="0">
                <a:solidFill>
                  <a:srgbClr val="D8CFC2"/>
                </a:solidFill>
                <a:latin typeface="Calibri"/>
              </a:rPr>
              <a:t>   WIDE   ·   8.7 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109728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spcAft>
                <a:spcPts val="200"/>
              </a:spcAft>
            </a:pPr>
            <a:r>
              <a:rPr sz="1300" b="0">
                <a:solidFill>
                  <a:srgbClr val="D8CFC2"/>
                </a:solidFill>
                <a:latin typeface="Calibri"/>
              </a:rPr>
              <a:t>Act 0 · Cold open</a:t>
            </a:r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77240"/>
            <a:ext cx="6766560" cy="380619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4720590"/>
            <a:ext cx="6766560" cy="2011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B44A1E"/>
                </a:solidFill>
                <a:latin typeface="Calibri"/>
              </a:rPr>
              <a:t>VO</a:t>
            </a:r>
          </a:p>
          <a:p>
            <a:pPr>
              <a:spcAft>
                <a:spcPts val="200"/>
              </a:spcAft>
            </a:pPr>
            <a:r>
              <a:rPr sz="1800" b="0">
                <a:solidFill>
                  <a:srgbClr val="1E1B18"/>
                </a:solidFill>
                <a:latin typeface="Calibri"/>
              </a:rPr>
              <a:t>For a long time, that was the version in every textbook. Then scientists started counting, and digging, and the story cracked.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60920" y="777240"/>
            <a:ext cx="4526280" cy="58521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VISUAL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The textbook page tears; behind it, an excavation trench with string grid lines.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ON-SCREEN TEXT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—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ANIMATION NOTES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The textbook page tears down the middle (paper SFX) and the camera pushes through into an excavation trench with string grid lines.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2A2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600" b="1">
                <a:solidFill>
                  <a:srgbClr val="F6F1E8"/>
                </a:solidFill>
                <a:latin typeface="Calibri"/>
              </a:rPr>
              <a:t>AH 0.09</a:t>
            </a:r>
            <a:r>
              <a:rPr sz="1400" b="0">
                <a:solidFill>
                  <a:srgbClr val="D8CFC2"/>
                </a:solidFill>
                <a:latin typeface="Calibri"/>
              </a:rPr>
              <a:t>   MED   ·   7.5 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109728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spcAft>
                <a:spcPts val="200"/>
              </a:spcAft>
            </a:pPr>
            <a:r>
              <a:rPr sz="1300" b="0">
                <a:solidFill>
                  <a:srgbClr val="D8CFC2"/>
                </a:solidFill>
                <a:latin typeface="Calibri"/>
              </a:rPr>
              <a:t>Act 0 · Cold open</a:t>
            </a:r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77240"/>
            <a:ext cx="6766560" cy="380619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4720590"/>
            <a:ext cx="6766560" cy="2011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B44A1E"/>
                </a:solidFill>
                <a:latin typeface="Calibri"/>
              </a:rPr>
              <a:t>VO</a:t>
            </a:r>
          </a:p>
          <a:p>
            <a:pPr>
              <a:spcAft>
                <a:spcPts val="200"/>
              </a:spcAft>
            </a:pPr>
            <a:r>
              <a:rPr sz="1800" b="0">
                <a:solidFill>
                  <a:srgbClr val="1E1B18"/>
                </a:solidFill>
                <a:latin typeface="Calibri"/>
              </a:rPr>
              <a:t>Which leaves a strange question. You live surrounded by machines built to save time. Washing machines, microwaves, cars.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60920" y="777240"/>
            <a:ext cx="4526280" cy="58521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VISUAL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Modern kitchen; each machine pops in as named, with a small 'TIME SAVED' tag.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ON-SCREEN TEXT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—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ANIMATION NOTES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Each machine pops in as it is named, a small 'TIME SAVED' tag swinging on each; the worker looks from one to the next.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2A2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600" b="1">
                <a:solidFill>
                  <a:srgbClr val="F6F1E8"/>
                </a:solidFill>
                <a:latin typeface="Calibri"/>
              </a:rPr>
              <a:t>AH 0.10</a:t>
            </a:r>
            <a:r>
              <a:rPr sz="1400" b="0">
                <a:solidFill>
                  <a:srgbClr val="D8CFC2"/>
                </a:solidFill>
                <a:latin typeface="Calibri"/>
              </a:rPr>
              <a:t>   CU   ·   9.1 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109728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spcAft>
                <a:spcPts val="200"/>
              </a:spcAft>
            </a:pPr>
            <a:r>
              <a:rPr sz="1300" b="0">
                <a:solidFill>
                  <a:srgbClr val="D8CFC2"/>
                </a:solidFill>
                <a:latin typeface="Calibri"/>
              </a:rPr>
              <a:t>Act 0 · Cold open</a:t>
            </a:r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77240"/>
            <a:ext cx="6766560" cy="380619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4720590"/>
            <a:ext cx="6766560" cy="2011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B44A1E"/>
                </a:solidFill>
                <a:latin typeface="Calibri"/>
              </a:rPr>
              <a:t>VO</a:t>
            </a:r>
          </a:p>
          <a:p>
            <a:pPr>
              <a:spcAft>
                <a:spcPts val="200"/>
              </a:spcAft>
            </a:pPr>
            <a:r>
              <a:rPr sz="1800" b="0">
                <a:solidFill>
                  <a:srgbClr val="1E1B18"/>
                </a:solidFill>
                <a:latin typeface="Calibri"/>
              </a:rPr>
              <a:t>So how did people with none of that end up with more free afternoons than you? And where did your hours go?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60920" y="777240"/>
            <a:ext cx="4526280" cy="58521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VISUAL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Split frame: hunter resting by the fire on the left, office worker at a desk on the right. Hours clock appears top left.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ON-SCREEN TEXT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WHERE DID YOUR TIME GO?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ANIMATION NOTES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Split frame wipes in from the centre line. Left side warm and moving (fire, breathing); right side cold and still. The hours clock appears top left.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2A2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600" b="1">
                <a:solidFill>
                  <a:srgbClr val="F6F1E8"/>
                </a:solidFill>
                <a:latin typeface="Calibri"/>
              </a:rPr>
              <a:t>AH 0.11</a:t>
            </a:r>
            <a:r>
              <a:rPr sz="1400" b="0">
                <a:solidFill>
                  <a:srgbClr val="D8CFC2"/>
                </a:solidFill>
                <a:latin typeface="Calibri"/>
              </a:rPr>
              <a:t>   TITLE   ·   4.0 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109728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spcAft>
                <a:spcPts val="200"/>
              </a:spcAft>
            </a:pPr>
            <a:r>
              <a:rPr sz="1300" b="0">
                <a:solidFill>
                  <a:srgbClr val="D8CFC2"/>
                </a:solidFill>
                <a:latin typeface="Calibri"/>
              </a:rPr>
              <a:t>Act 0 · Cold open</a:t>
            </a:r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77240"/>
            <a:ext cx="6766560" cy="380619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4720590"/>
            <a:ext cx="6766560" cy="2011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B44A1E"/>
                </a:solidFill>
                <a:latin typeface="Calibri"/>
              </a:rPr>
              <a:t>VO</a:t>
            </a:r>
          </a:p>
          <a:p>
            <a:pPr>
              <a:spcAft>
                <a:spcPts val="200"/>
              </a:spcAft>
            </a:pPr>
            <a:r>
              <a:rPr sz="1800" b="0">
                <a:solidFill>
                  <a:srgbClr val="1E1B18"/>
                </a:solidFill>
                <a:latin typeface="Calibri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60920" y="777240"/>
            <a:ext cx="4526280" cy="58521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VISUAL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Title card over a painted fire at dusk.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ON-SCREEN TEXT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WHAT DID ANCIENT HUMANS DO ALL DAY?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ANIMATION NOTES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Title scales in with a slight overshoot over the dusk fire; embers float upward; whoosh + low drum hit.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0"/>
            <a:ext cx="12191695" cy="1371600"/>
          </a:xfrm>
          <a:prstGeom prst="rect">
            <a:avLst/>
          </a:prstGeom>
          <a:solidFill>
            <a:srgbClr val="2A2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880360"/>
            <a:ext cx="1069848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3200" b="1">
                <a:solidFill>
                  <a:srgbClr val="F6F1E8"/>
                </a:solidFill>
                <a:latin typeface="Calibri"/>
              </a:rPr>
              <a:t>ACT 1 · ACT 1: TWO SKELETONS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520440"/>
            <a:ext cx="1069848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600" b="0">
                <a:solidFill>
                  <a:srgbClr val="D8CFC2"/>
                </a:solidFill>
                <a:latin typeface="Calibri"/>
              </a:rPr>
              <a:t>12 frames · 1:48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2A2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600" b="1">
                <a:solidFill>
                  <a:srgbClr val="F6F1E8"/>
                </a:solidFill>
                <a:latin typeface="Calibri"/>
              </a:rPr>
              <a:t>AH 1.01</a:t>
            </a:r>
            <a:r>
              <a:rPr sz="1400" b="0">
                <a:solidFill>
                  <a:srgbClr val="D8CFC2"/>
                </a:solidFill>
                <a:latin typeface="Calibri"/>
              </a:rPr>
              <a:t>   MAP   ·   9.4 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109728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spcAft>
                <a:spcPts val="200"/>
              </a:spcAft>
            </a:pPr>
            <a:r>
              <a:rPr sz="1300" b="0">
                <a:solidFill>
                  <a:srgbClr val="D8CFC2"/>
                </a:solidFill>
                <a:latin typeface="Calibri"/>
              </a:rPr>
              <a:t>Act 1 · Act 1: Two Skeletons</a:t>
            </a:r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77240"/>
            <a:ext cx="6766560" cy="380619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4720590"/>
            <a:ext cx="6766560" cy="2011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B44A1E"/>
                </a:solidFill>
                <a:latin typeface="Calibri"/>
              </a:rPr>
              <a:t>VO</a:t>
            </a:r>
          </a:p>
          <a:p>
            <a:pPr>
              <a:spcAft>
                <a:spcPts val="200"/>
              </a:spcAft>
            </a:pPr>
            <a:r>
              <a:rPr sz="1800" b="0">
                <a:solidFill>
                  <a:srgbClr val="1E1B18"/>
                </a:solidFill>
                <a:latin typeface="Calibri"/>
              </a:rPr>
              <a:t>The first clue comes out of the ground in the Middle East, the Levant and Anatolia, where some of the earliest farms began.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60920" y="777240"/>
            <a:ext cx="4526280" cy="58521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VISUAL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Parchment map of the eastern Mediterranean; the Levant and Anatolia glow; a dig marker drops.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ON-SCREEN TEXT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THE LEVANT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ANIMATION NOTES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Parchment map; the Levant and Anatolia glow in turn, a dig-site pin drops in with a bounce.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2A2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600" b="1">
                <a:solidFill>
                  <a:srgbClr val="F6F1E8"/>
                </a:solidFill>
                <a:latin typeface="Calibri"/>
              </a:rPr>
              <a:t>AH 1.02</a:t>
            </a:r>
            <a:r>
              <a:rPr sz="1400" b="0">
                <a:solidFill>
                  <a:srgbClr val="D8CFC2"/>
                </a:solidFill>
                <a:latin typeface="Calibri"/>
              </a:rPr>
              <a:t>   WIDE   ·   7.9 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109728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spcAft>
                <a:spcPts val="200"/>
              </a:spcAft>
            </a:pPr>
            <a:r>
              <a:rPr sz="1300" b="0">
                <a:solidFill>
                  <a:srgbClr val="D8CFC2"/>
                </a:solidFill>
                <a:latin typeface="Calibri"/>
              </a:rPr>
              <a:t>Act 1 · Act 1: Two Skeletons</a:t>
            </a:r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77240"/>
            <a:ext cx="6766560" cy="380619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4720590"/>
            <a:ext cx="6766560" cy="2011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B44A1E"/>
                </a:solidFill>
                <a:latin typeface="Calibri"/>
              </a:rPr>
              <a:t>VO</a:t>
            </a:r>
          </a:p>
          <a:p>
            <a:pPr>
              <a:spcAft>
                <a:spcPts val="200"/>
              </a:spcAft>
            </a:pPr>
            <a:r>
              <a:rPr sz="1800" b="0">
                <a:solidFill>
                  <a:srgbClr val="1E1B18"/>
                </a:solidFill>
                <a:latin typeface="Calibri"/>
              </a:rPr>
              <a:t>Over decades, archaeologists dug up skeletons from people who lived in the same region a few thousand years apart.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60920" y="777240"/>
            <a:ext cx="4526280" cy="58521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VISUAL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Excavation pit at dusk, lanterns, brushes; two outlined skeletons side by side in the soil.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ON-SCREEN TEXT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—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ANIMATION NOTES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Lanterns flicker; brushes sweep soil away to reveal two outlined skeletons; slow push.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2A2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600" b="1">
                <a:solidFill>
                  <a:srgbClr val="F6F1E8"/>
                </a:solidFill>
                <a:latin typeface="Calibri"/>
              </a:rPr>
              <a:t>AH 1.03</a:t>
            </a:r>
            <a:r>
              <a:rPr sz="1400" b="0">
                <a:solidFill>
                  <a:srgbClr val="D8CFC2"/>
                </a:solidFill>
                <a:latin typeface="Calibri"/>
              </a:rPr>
              <a:t>   PROP3D   ·   9.1 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109728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spcAft>
                <a:spcPts val="200"/>
              </a:spcAft>
            </a:pPr>
            <a:r>
              <a:rPr sz="1300" b="0">
                <a:solidFill>
                  <a:srgbClr val="D8CFC2"/>
                </a:solidFill>
                <a:latin typeface="Calibri"/>
              </a:rPr>
              <a:t>Act 1 · Act 1: Two Skeletons</a:t>
            </a:r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77240"/>
            <a:ext cx="6766560" cy="380619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4720590"/>
            <a:ext cx="6766560" cy="2011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B44A1E"/>
                </a:solidFill>
                <a:latin typeface="Calibri"/>
              </a:rPr>
              <a:t>VO</a:t>
            </a:r>
          </a:p>
          <a:p>
            <a:pPr>
              <a:spcAft>
                <a:spcPts val="200"/>
              </a:spcAft>
            </a:pPr>
            <a:r>
              <a:rPr sz="1800" b="0">
                <a:solidFill>
                  <a:srgbClr val="1E1B18"/>
                </a:solidFill>
                <a:latin typeface="Calibri"/>
              </a:rPr>
              <a:t>The first set of bones is tall and thick. The teeth are worn, but nearly free of decay. The joints are clean.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60920" y="777240"/>
            <a:ext cx="4526280" cy="58521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VISUAL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3D skeleton A rotates slowly on a lab table; labels point to long bones, teeth, joints.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ON-SCREEN TEXT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SKELETON A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ANIMATION NOTES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Skeleton A rotates slowly (3D prop). Labels draw on with lines to bones, teeth, joints as each is named.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2A2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600" b="1">
                <a:solidFill>
                  <a:srgbClr val="F6F1E8"/>
                </a:solidFill>
                <a:latin typeface="Calibri"/>
              </a:rPr>
              <a:t>AH 1.04</a:t>
            </a:r>
            <a:r>
              <a:rPr sz="1400" b="0">
                <a:solidFill>
                  <a:srgbClr val="D8CFC2"/>
                </a:solidFill>
                <a:latin typeface="Calibri"/>
              </a:rPr>
              <a:t>   PROP3D   ·   9.8 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109728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spcAft>
                <a:spcPts val="200"/>
              </a:spcAft>
            </a:pPr>
            <a:r>
              <a:rPr sz="1300" b="0">
                <a:solidFill>
                  <a:srgbClr val="D8CFC2"/>
                </a:solidFill>
                <a:latin typeface="Calibri"/>
              </a:rPr>
              <a:t>Act 1 · Act 1: Two Skeletons</a:t>
            </a:r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77240"/>
            <a:ext cx="6766560" cy="380619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4720590"/>
            <a:ext cx="6766560" cy="2011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B44A1E"/>
                </a:solidFill>
                <a:latin typeface="Calibri"/>
              </a:rPr>
              <a:t>VO</a:t>
            </a:r>
          </a:p>
          <a:p>
            <a:pPr>
              <a:spcAft>
                <a:spcPts val="200"/>
              </a:spcAft>
            </a:pPr>
            <a:r>
              <a:rPr sz="1800" b="0">
                <a:solidFill>
                  <a:srgbClr val="1E1B18"/>
                </a:solidFill>
                <a:latin typeface="Calibri"/>
              </a:rPr>
              <a:t>The second tells a harder story. Teeth full of cavities. A spine worn by the same motion, repeated thousands of times. A shorter life.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60920" y="777240"/>
            <a:ext cx="4526280" cy="58521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VISUAL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3D skeleton B beside it, shorter; red highlights on teeth, lower spine, knees.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ON-SCREEN TEXT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SKELETON B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ANIMATION NOTES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Skeleton B slides in beside A, shorter. Red highlights pulse on teeth, then spine, then knees, in time with the words.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2A2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600" b="1">
                <a:solidFill>
                  <a:srgbClr val="F6F1E8"/>
                </a:solidFill>
                <a:latin typeface="Calibri"/>
              </a:rPr>
              <a:t>AH 1.05</a:t>
            </a:r>
            <a:r>
              <a:rPr sz="1400" b="0">
                <a:solidFill>
                  <a:srgbClr val="D8CFC2"/>
                </a:solidFill>
                <a:latin typeface="Calibri"/>
              </a:rPr>
              <a:t>   CARD   ·   5.3 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109728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spcAft>
                <a:spcPts val="200"/>
              </a:spcAft>
            </a:pPr>
            <a:r>
              <a:rPr sz="1300" b="0">
                <a:solidFill>
                  <a:srgbClr val="D8CFC2"/>
                </a:solidFill>
                <a:latin typeface="Calibri"/>
              </a:rPr>
              <a:t>Act 1 · Act 1: Two Skeletons</a:t>
            </a:r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77240"/>
            <a:ext cx="6766560" cy="380619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4720590"/>
            <a:ext cx="6766560" cy="2011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B44A1E"/>
                </a:solidFill>
                <a:latin typeface="Calibri"/>
              </a:rPr>
              <a:t>VO</a:t>
            </a:r>
          </a:p>
          <a:p>
            <a:pPr>
              <a:spcAft>
                <a:spcPts val="200"/>
              </a:spcAft>
            </a:pPr>
            <a:r>
              <a:rPr sz="1800" b="0">
                <a:solidFill>
                  <a:srgbClr val="1E1B18"/>
                </a:solidFill>
                <a:latin typeface="Calibri"/>
              </a:rPr>
              <a:t>One was a hunter-gatherer. One was an early farmer. Take a guess.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60920" y="777240"/>
            <a:ext cx="4526280" cy="58521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VISUAL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Two question-mark tags swing over the skeletons.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ON-SCREEN TEXT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WHICH ONE WAS THE FARMER?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ANIMATION NOTES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Two question-mark tags swing on strings above them; a ticking clock SFX gives the viewer a beat to guess.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2A2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600" b="1">
                <a:solidFill>
                  <a:srgbClr val="F6F1E8"/>
                </a:solidFill>
                <a:latin typeface="Calibri"/>
              </a:rPr>
              <a:t>AH 1.06</a:t>
            </a:r>
            <a:r>
              <a:rPr sz="1400" b="0">
                <a:solidFill>
                  <a:srgbClr val="D8CFC2"/>
                </a:solidFill>
                <a:latin typeface="Calibri"/>
              </a:rPr>
              <a:t>   MED   ·   8.3 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109728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spcAft>
                <a:spcPts val="200"/>
              </a:spcAft>
            </a:pPr>
            <a:r>
              <a:rPr sz="1300" b="0">
                <a:solidFill>
                  <a:srgbClr val="D8CFC2"/>
                </a:solidFill>
                <a:latin typeface="Calibri"/>
              </a:rPr>
              <a:t>Act 1 · Act 1: Two Skeletons</a:t>
            </a:r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77240"/>
            <a:ext cx="6766560" cy="380619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4720590"/>
            <a:ext cx="6766560" cy="2011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B44A1E"/>
                </a:solidFill>
                <a:latin typeface="Calibri"/>
              </a:rPr>
              <a:t>VO</a:t>
            </a:r>
          </a:p>
          <a:p>
            <a:pPr>
              <a:spcAft>
                <a:spcPts val="200"/>
              </a:spcAft>
            </a:pPr>
            <a:r>
              <a:rPr sz="1800" b="0">
                <a:solidFill>
                  <a:srgbClr val="1E1B18"/>
                </a:solidFill>
                <a:latin typeface="Calibri"/>
              </a:rPr>
              <a:t>Most people pick the strong one as the farmer. Stored grain, a roof, tools. Surely that is the better life.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60920" y="777240"/>
            <a:ext cx="4526280" cy="58521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VISUAL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A viewer-like character in a museum points confidently at skeleton A.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ON-SCREEN TEXT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—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ANIMATION NOTES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A museum visitor walks in (walk cycle) and points confidently at A; small smug nod.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2A2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600" b="1">
                <a:solidFill>
                  <a:srgbClr val="F6F1E8"/>
                </a:solidFill>
                <a:latin typeface="Calibri"/>
              </a:rPr>
              <a:t>AH 1.07</a:t>
            </a:r>
            <a:r>
              <a:rPr sz="1400" b="0">
                <a:solidFill>
                  <a:srgbClr val="D8CFC2"/>
                </a:solidFill>
                <a:latin typeface="Calibri"/>
              </a:rPr>
              <a:t>   CU   ·   7.5 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109728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spcAft>
                <a:spcPts val="200"/>
              </a:spcAft>
            </a:pPr>
            <a:r>
              <a:rPr sz="1300" b="0">
                <a:solidFill>
                  <a:srgbClr val="D8CFC2"/>
                </a:solidFill>
                <a:latin typeface="Calibri"/>
              </a:rPr>
              <a:t>Act 1 · Act 1: Two Skeletons</a:t>
            </a:r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77240"/>
            <a:ext cx="6766560" cy="380619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4720590"/>
            <a:ext cx="6766560" cy="2011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B44A1E"/>
                </a:solidFill>
                <a:latin typeface="Calibri"/>
              </a:rPr>
              <a:t>VO</a:t>
            </a:r>
          </a:p>
          <a:p>
            <a:pPr>
              <a:spcAft>
                <a:spcPts val="200"/>
              </a:spcAft>
            </a:pPr>
            <a:r>
              <a:rPr sz="1800" b="0">
                <a:solidFill>
                  <a:srgbClr val="1E1B18"/>
                </a:solidFill>
                <a:latin typeface="Calibri"/>
              </a:rPr>
              <a:t>It's the other way round. The tall, healthy skeleton was the hunter-gatherer. The worn-out one was the farmer.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60920" y="777240"/>
            <a:ext cx="4526280" cy="58521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VISUAL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Tags flip: A gets 'HUNTER-GATHERER', B gets 'FARMER'. Gentle stamp sound.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ON-SCREEN TEXT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A = HUNTER-GATHERER   B = FARMER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ANIMATION NOTES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The tags flip over like cards (scaleX through 0); a soft stamp SFX on each.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2A2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600" b="1">
                <a:solidFill>
                  <a:srgbClr val="F6F1E8"/>
                </a:solidFill>
                <a:latin typeface="Calibri"/>
              </a:rPr>
              <a:t>AH 1.08</a:t>
            </a:r>
            <a:r>
              <a:rPr sz="1400" b="0">
                <a:solidFill>
                  <a:srgbClr val="D8CFC2"/>
                </a:solidFill>
                <a:latin typeface="Calibri"/>
              </a:rPr>
              <a:t>   CHART   ·   11.3 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109728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spcAft>
                <a:spcPts val="200"/>
              </a:spcAft>
            </a:pPr>
            <a:r>
              <a:rPr sz="1300" b="0">
                <a:solidFill>
                  <a:srgbClr val="D8CFC2"/>
                </a:solidFill>
                <a:latin typeface="Calibri"/>
              </a:rPr>
              <a:t>Act 1 · Act 1: Two Skeletons</a:t>
            </a:r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77240"/>
            <a:ext cx="6766560" cy="380619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4720590"/>
            <a:ext cx="6766560" cy="2011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B44A1E"/>
                </a:solidFill>
                <a:latin typeface="Calibri"/>
              </a:rPr>
              <a:t>VO</a:t>
            </a:r>
          </a:p>
          <a:p>
            <a:pPr>
              <a:spcAft>
                <a:spcPts val="200"/>
              </a:spcAft>
            </a:pPr>
            <a:r>
              <a:rPr sz="1800" b="0">
                <a:solidFill>
                  <a:srgbClr val="1E1B18"/>
                </a:solidFill>
                <a:latin typeface="Calibri"/>
              </a:rPr>
              <a:t>And it isn't one odd pair. In study after study, where farming took over, average height dropped and tooth decay, worn joints and signs of hunger went up.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60920" y="777240"/>
            <a:ext cx="4526280" cy="58521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VISUAL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Simple bar chart: average height before and after farming, plus three icons (tooth, spine, hunger lines) rising.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ON-SCREEN TEXT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HEIGHT DOWN. DECAY UP.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ANIMATION NOTES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Bars drop on 'height dropped'; tooth, spine and hunger icons rise one by one; ink-line chart style.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2A2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600" b="1">
                <a:solidFill>
                  <a:srgbClr val="F6F1E8"/>
                </a:solidFill>
                <a:latin typeface="Calibri"/>
              </a:rPr>
              <a:t>AH 1.09</a:t>
            </a:r>
            <a:r>
              <a:rPr sz="1400" b="0">
                <a:solidFill>
                  <a:srgbClr val="D8CFC2"/>
                </a:solidFill>
                <a:latin typeface="Calibri"/>
              </a:rPr>
              <a:t>   MED   ·   10.2 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109728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spcAft>
                <a:spcPts val="200"/>
              </a:spcAft>
            </a:pPr>
            <a:r>
              <a:rPr sz="1300" b="0">
                <a:solidFill>
                  <a:srgbClr val="D8CFC2"/>
                </a:solidFill>
                <a:latin typeface="Calibri"/>
              </a:rPr>
              <a:t>Act 1 · Act 1: Two Skeletons</a:t>
            </a:r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77240"/>
            <a:ext cx="6766560" cy="380619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4720590"/>
            <a:ext cx="6766560" cy="2011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B44A1E"/>
                </a:solidFill>
                <a:latin typeface="Calibri"/>
              </a:rPr>
              <a:t>VO</a:t>
            </a:r>
          </a:p>
          <a:p>
            <a:pPr>
              <a:spcAft>
                <a:spcPts val="200"/>
              </a:spcAft>
            </a:pPr>
            <a:r>
              <a:rPr sz="1800" b="0">
                <a:solidFill>
                  <a:srgbClr val="1E1B18"/>
                </a:solidFill>
                <a:latin typeface="Calibri"/>
              </a:rPr>
              <a:t>In parts of Greece and Turkey, men's average height fell by around fifteen centimetres after farming arrived, and took thousands of years to come back.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60920" y="777240"/>
            <a:ext cx="4526280" cy="58521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VISUAL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Two painted men stand back to back with a height marker between them; the gap is highlighted.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ON-SCREEN TEXT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-15 CM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ANIMATION NOTES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Two men stand back to back; a height marker slides up between them and the gap highlights red.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2A2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600" b="1">
                <a:solidFill>
                  <a:srgbClr val="F6F1E8"/>
                </a:solidFill>
                <a:latin typeface="Calibri"/>
              </a:rPr>
              <a:t>AH 1.10</a:t>
            </a:r>
            <a:r>
              <a:rPr sz="1400" b="0">
                <a:solidFill>
                  <a:srgbClr val="D8CFC2"/>
                </a:solidFill>
                <a:latin typeface="Calibri"/>
              </a:rPr>
              <a:t>   WIDE   ·   11.3 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109728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spcAft>
                <a:spcPts val="200"/>
              </a:spcAft>
            </a:pPr>
            <a:r>
              <a:rPr sz="1300" b="0">
                <a:solidFill>
                  <a:srgbClr val="D8CFC2"/>
                </a:solidFill>
                <a:latin typeface="Calibri"/>
              </a:rPr>
              <a:t>Act 1 · Act 1: Two Skeletons</a:t>
            </a:r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77240"/>
            <a:ext cx="6766560" cy="380619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4720590"/>
            <a:ext cx="6766560" cy="2011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B44A1E"/>
                </a:solidFill>
                <a:latin typeface="Calibri"/>
              </a:rPr>
              <a:t>VO</a:t>
            </a:r>
          </a:p>
          <a:p>
            <a:pPr>
              <a:spcAft>
                <a:spcPts val="200"/>
              </a:spcAft>
            </a:pPr>
            <a:r>
              <a:rPr sz="1800" b="0">
                <a:solidFill>
                  <a:srgbClr val="1E1B18"/>
                </a:solidFill>
                <a:latin typeface="Calibri"/>
              </a:rPr>
              <a:t>A skeleton works like a diary. It records how you ate, how you moved and how hard you worked, and it keeps that record for thousands of years.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60920" y="777240"/>
            <a:ext cx="4526280" cy="58521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VISUAL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Bones fade into a leather diary; pages turn, each page a sketch of a body at work.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ON-SCREEN TEXT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YOUR BONES KEEP A DIARY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ANIMATION NOTES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Bones dissolve into a leather diary; pages turn on their own (paper SFX), each page a sketch of a body at work.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2A2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600" b="1">
                <a:solidFill>
                  <a:srgbClr val="F6F1E8"/>
                </a:solidFill>
                <a:latin typeface="Calibri"/>
              </a:rPr>
              <a:t>AH 1.11</a:t>
            </a:r>
            <a:r>
              <a:rPr sz="1400" b="0">
                <a:solidFill>
                  <a:srgbClr val="D8CFC2"/>
                </a:solidFill>
                <a:latin typeface="Calibri"/>
              </a:rPr>
              <a:t>   MED   ·   10.6 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109728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spcAft>
                <a:spcPts val="200"/>
              </a:spcAft>
            </a:pPr>
            <a:r>
              <a:rPr sz="1300" b="0">
                <a:solidFill>
                  <a:srgbClr val="D8CFC2"/>
                </a:solidFill>
                <a:latin typeface="Calibri"/>
              </a:rPr>
              <a:t>Act 1 · Act 1: Two Skeletons</a:t>
            </a:r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77240"/>
            <a:ext cx="6766560" cy="380619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4720590"/>
            <a:ext cx="6766560" cy="2011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B44A1E"/>
                </a:solidFill>
                <a:latin typeface="Calibri"/>
              </a:rPr>
              <a:t>VO</a:t>
            </a:r>
          </a:p>
          <a:p>
            <a:pPr>
              <a:spcAft>
                <a:spcPts val="200"/>
              </a:spcAft>
            </a:pPr>
            <a:r>
              <a:rPr sz="1800" b="0">
                <a:solidFill>
                  <a:srgbClr val="1E1B18"/>
                </a:solidFill>
                <a:latin typeface="Calibri"/>
              </a:rPr>
              <a:t>And those diaries say the people with only spears were, in many ways, better fed and less worn down than the farmers who came after them.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60920" y="777240"/>
            <a:ext cx="4526280" cy="58521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VISUAL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Diary page shows the hunter's camp, warm; the next page shows a bent farmer in a field, grey.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ON-SCREEN TEXT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—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ANIMATION NOTES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Diary page left warm and colourful, page turn to the grey bent farmer; the colour drains as the page turns.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2A2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600" b="1">
                <a:solidFill>
                  <a:srgbClr val="F6F1E8"/>
                </a:solidFill>
                <a:latin typeface="Calibri"/>
              </a:rPr>
              <a:t>AH 1.12</a:t>
            </a:r>
            <a:r>
              <a:rPr sz="1400" b="0">
                <a:solidFill>
                  <a:srgbClr val="D8CFC2"/>
                </a:solidFill>
                <a:latin typeface="Calibri"/>
              </a:rPr>
              <a:t>   CU   ·   7.9 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109728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spcAft>
                <a:spcPts val="200"/>
              </a:spcAft>
            </a:pPr>
            <a:r>
              <a:rPr sz="1300" b="0">
                <a:solidFill>
                  <a:srgbClr val="D8CFC2"/>
                </a:solidFill>
                <a:latin typeface="Calibri"/>
              </a:rPr>
              <a:t>Act 1 · Act 1: Two Skeletons</a:t>
            </a:r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77240"/>
            <a:ext cx="6766560" cy="380619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4720590"/>
            <a:ext cx="6766560" cy="2011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B44A1E"/>
                </a:solidFill>
                <a:latin typeface="Calibri"/>
              </a:rPr>
              <a:t>VO</a:t>
            </a:r>
          </a:p>
          <a:p>
            <a:pPr>
              <a:spcAft>
                <a:spcPts val="200"/>
              </a:spcAft>
            </a:pPr>
            <a:r>
              <a:rPr sz="1800" b="0">
                <a:solidFill>
                  <a:srgbClr val="1E1B18"/>
                </a:solidFill>
                <a:latin typeface="Calibri"/>
              </a:rPr>
              <a:t>But bones can't tell you what an ordinary day felt like. For that, we need to walk through one.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60920" y="777240"/>
            <a:ext cx="4526280" cy="58521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VISUAL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Push in on the hunter page until it becomes the next scene.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ON-SCREEN TEXT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—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ANIMATION NOTES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Camera pushes into the hunter page until it fills the frame and becomes the next scene (match cut).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0"/>
            <a:ext cx="12191695" cy="1371600"/>
          </a:xfrm>
          <a:prstGeom prst="rect">
            <a:avLst/>
          </a:prstGeom>
          <a:solidFill>
            <a:srgbClr val="2A2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880360"/>
            <a:ext cx="1069848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3200" b="1">
                <a:solidFill>
                  <a:srgbClr val="F6F1E8"/>
                </a:solidFill>
                <a:latin typeface="Calibri"/>
              </a:rPr>
              <a:t>ACT 2 · ACT 2: A DAY WITHOUT A CLOCK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520440"/>
            <a:ext cx="1069848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600" b="0">
                <a:solidFill>
                  <a:srgbClr val="D8CFC2"/>
                </a:solidFill>
                <a:latin typeface="Calibri"/>
              </a:rPr>
              <a:t>8 frames · 0:57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2A2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600" b="1">
                <a:solidFill>
                  <a:srgbClr val="F6F1E8"/>
                </a:solidFill>
                <a:latin typeface="Calibri"/>
              </a:rPr>
              <a:t>AH 2.01</a:t>
            </a:r>
            <a:r>
              <a:rPr sz="1400" b="0">
                <a:solidFill>
                  <a:srgbClr val="D8CFC2"/>
                </a:solidFill>
                <a:latin typeface="Calibri"/>
              </a:rPr>
              <a:t>   WIDE   ·   5.3 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109728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spcAft>
                <a:spcPts val="200"/>
              </a:spcAft>
            </a:pPr>
            <a:r>
              <a:rPr sz="1300" b="0">
                <a:solidFill>
                  <a:srgbClr val="D8CFC2"/>
                </a:solidFill>
                <a:latin typeface="Calibri"/>
              </a:rPr>
              <a:t>Act 2 · Act 2: A Day Without a Clock</a:t>
            </a:r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77240"/>
            <a:ext cx="6766560" cy="380619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4720590"/>
            <a:ext cx="6766560" cy="2011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B44A1E"/>
                </a:solidFill>
                <a:latin typeface="Calibri"/>
              </a:rPr>
              <a:t>VO</a:t>
            </a:r>
          </a:p>
          <a:p>
            <a:pPr>
              <a:spcAft>
                <a:spcPts val="200"/>
              </a:spcAft>
            </a:pPr>
            <a:r>
              <a:rPr sz="1800" b="0">
                <a:solidFill>
                  <a:srgbClr val="1E1B18"/>
                </a:solidFill>
                <a:latin typeface="Calibri"/>
              </a:rPr>
              <a:t>You wake at first light, on your own, because you slept enough.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60920" y="777240"/>
            <a:ext cx="4526280" cy="58521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VISUAL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Dawn camp: grass shelters, sleeping hides, low fire; mist on the plain.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ON-SCREEN TEXT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—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ANIMATION NOTES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Dawn camp, mist drifting; slow pan right across shelters; a sleeper turns over and sits up on his own.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2A2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600" b="1">
                <a:solidFill>
                  <a:srgbClr val="F6F1E8"/>
                </a:solidFill>
                <a:latin typeface="Calibri"/>
              </a:rPr>
              <a:t>AH 2.02</a:t>
            </a:r>
            <a:r>
              <a:rPr sz="1400" b="0">
                <a:solidFill>
                  <a:srgbClr val="D8CFC2"/>
                </a:solidFill>
                <a:latin typeface="Calibri"/>
              </a:rPr>
              <a:t>   MED   ·   6.4 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109728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spcAft>
                <a:spcPts val="200"/>
              </a:spcAft>
            </a:pPr>
            <a:r>
              <a:rPr sz="1300" b="0">
                <a:solidFill>
                  <a:srgbClr val="D8CFC2"/>
                </a:solidFill>
                <a:latin typeface="Calibri"/>
              </a:rPr>
              <a:t>Act 2 · Act 2: A Day Without a Clock</a:t>
            </a:r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77240"/>
            <a:ext cx="6766560" cy="380619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4720590"/>
            <a:ext cx="6766560" cy="2011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B44A1E"/>
                </a:solidFill>
                <a:latin typeface="Calibri"/>
              </a:rPr>
              <a:t>VO</a:t>
            </a:r>
          </a:p>
          <a:p>
            <a:pPr>
              <a:spcAft>
                <a:spcPts val="200"/>
              </a:spcAft>
            </a:pPr>
            <a:r>
              <a:rPr sz="1800" b="0">
                <a:solidFill>
                  <a:srgbClr val="1E1B18"/>
                </a:solidFill>
                <a:latin typeface="Calibri"/>
              </a:rPr>
              <a:t>Last night's fire is still alive. People sit around it, eating leftover meat and nuts.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60920" y="777240"/>
            <a:ext cx="4526280" cy="58521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VISUAL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Group of six around the fire, eating; steam rises; small kids lean on adults.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ON-SCREEN TEXT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—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ANIMATION NOTES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Six people eat around the fire; hands to mouths on staggered timers; steam rises; a child leans on an adult.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2A2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600" b="1">
                <a:solidFill>
                  <a:srgbClr val="F6F1E8"/>
                </a:solidFill>
                <a:latin typeface="Calibri"/>
              </a:rPr>
              <a:t>AH 2.03</a:t>
            </a:r>
            <a:r>
              <a:rPr sz="1400" b="0">
                <a:solidFill>
                  <a:srgbClr val="D8CFC2"/>
                </a:solidFill>
                <a:latin typeface="Calibri"/>
              </a:rPr>
              <a:t>   MED   ·   11.7 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109728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spcAft>
                <a:spcPts val="200"/>
              </a:spcAft>
            </a:pPr>
            <a:r>
              <a:rPr sz="1300" b="0">
                <a:solidFill>
                  <a:srgbClr val="D8CFC2"/>
                </a:solidFill>
                <a:latin typeface="Calibri"/>
              </a:rPr>
              <a:t>Act 2 · Act 2: A Day Without a Clock</a:t>
            </a:r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77240"/>
            <a:ext cx="6766560" cy="380619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4720590"/>
            <a:ext cx="6766560" cy="2011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B44A1E"/>
                </a:solidFill>
                <a:latin typeface="Calibri"/>
              </a:rPr>
              <a:t>VO</a:t>
            </a:r>
          </a:p>
          <a:p>
            <a:pPr>
              <a:spcAft>
                <a:spcPts val="200"/>
              </a:spcAft>
            </a:pPr>
            <a:r>
              <a:rPr sz="1800" b="0">
                <a:solidFill>
                  <a:srgbClr val="1E1B18"/>
                </a:solidFill>
                <a:latin typeface="Calibri"/>
              </a:rPr>
              <a:t>The talk is simple: where the water is good, where someone saw fresh tracks. That is the whole plan for the day, and everyone has a say in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60920" y="777240"/>
            <a:ext cx="4526280" cy="58521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VISUAL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Elder draws a map in the dirt with a stick; others lean in and point.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ON-SCREEN TEXT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THE MORNING MEETING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ANIMATION NOTES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The elder draws a map in the dirt with a stick (line draws on); others lean in and point; heads turn to whoever speaks.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2A2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600" b="1">
                <a:solidFill>
                  <a:srgbClr val="F6F1E8"/>
                </a:solidFill>
                <a:latin typeface="Calibri"/>
              </a:rPr>
              <a:t>AH 2.04</a:t>
            </a:r>
            <a:r>
              <a:rPr sz="1400" b="0">
                <a:solidFill>
                  <a:srgbClr val="D8CFC2"/>
                </a:solidFill>
                <a:latin typeface="Calibri"/>
              </a:rPr>
              <a:t>   CARD   ·   7.2 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109728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spcAft>
                <a:spcPts val="200"/>
              </a:spcAft>
            </a:pPr>
            <a:r>
              <a:rPr sz="1300" b="0">
                <a:solidFill>
                  <a:srgbClr val="D8CFC2"/>
                </a:solidFill>
                <a:latin typeface="Calibri"/>
              </a:rPr>
              <a:t>Act 2 · Act 2: A Day Without a Clock</a:t>
            </a:r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77240"/>
            <a:ext cx="6766560" cy="380619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4720590"/>
            <a:ext cx="6766560" cy="2011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B44A1E"/>
                </a:solidFill>
                <a:latin typeface="Calibri"/>
              </a:rPr>
              <a:t>VO</a:t>
            </a:r>
          </a:p>
          <a:p>
            <a:pPr>
              <a:spcAft>
                <a:spcPts val="200"/>
              </a:spcAft>
            </a:pPr>
            <a:r>
              <a:rPr sz="1800" b="0">
                <a:solidFill>
                  <a:srgbClr val="1E1B18"/>
                </a:solidFill>
                <a:latin typeface="Calibri"/>
              </a:rPr>
              <a:t>Today, nobody needs to hunt. The last kill was two days ago, and there is still food.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60920" y="777240"/>
            <a:ext cx="4526280" cy="58521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VISUAL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Calendar-style tally carved on a stick: two notches since the last hunt.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ON-SCREEN TEXT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LAST HUNT: 2 DAYS AGO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ANIMATION NOTES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Notches carve themselves into a stick one by one (scrape SFX).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2A2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600" b="1">
                <a:solidFill>
                  <a:srgbClr val="F6F1E8"/>
                </a:solidFill>
                <a:latin typeface="Calibri"/>
              </a:rPr>
              <a:t>AH 2.05</a:t>
            </a:r>
            <a:r>
              <a:rPr sz="1400" b="0">
                <a:solidFill>
                  <a:srgbClr val="D8CFC2"/>
                </a:solidFill>
                <a:latin typeface="Calibri"/>
              </a:rPr>
              <a:t>   WIDE   ·   4.9 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109728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spcAft>
                <a:spcPts val="200"/>
              </a:spcAft>
            </a:pPr>
            <a:r>
              <a:rPr sz="1300" b="0">
                <a:solidFill>
                  <a:srgbClr val="D8CFC2"/>
                </a:solidFill>
                <a:latin typeface="Calibri"/>
              </a:rPr>
              <a:t>Act 2 · Act 2: A Day Without a Clock</a:t>
            </a:r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77240"/>
            <a:ext cx="6766560" cy="380619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4720590"/>
            <a:ext cx="6766560" cy="2011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B44A1E"/>
                </a:solidFill>
                <a:latin typeface="Calibri"/>
              </a:rPr>
              <a:t>VO</a:t>
            </a:r>
          </a:p>
          <a:p>
            <a:pPr>
              <a:spcAft>
                <a:spcPts val="200"/>
              </a:spcAft>
            </a:pPr>
            <a:r>
              <a:rPr sz="1800" b="0">
                <a:solidFill>
                  <a:srgbClr val="1E1B18"/>
                </a:solidFill>
                <a:latin typeface="Calibri"/>
              </a:rPr>
              <a:t>A few people walk out to gather roots, nuts and berries.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60920" y="777240"/>
            <a:ext cx="4526280" cy="58521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VISUAL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Two women and a teenager walk into the bush with digging sticks and carrying bags, walking cycle with distance covered.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ON-SCREEN TEXT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—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ANIMATION NOTES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Three gatherers walk out into the bush with digging sticks; real walk cycle covering ground; they shrink into the distance.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2A2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600" b="1">
                <a:solidFill>
                  <a:srgbClr val="F6F1E8"/>
                </a:solidFill>
                <a:latin typeface="Calibri"/>
              </a:rPr>
              <a:t>AH 2.06</a:t>
            </a:r>
            <a:r>
              <a:rPr sz="1400" b="0">
                <a:solidFill>
                  <a:srgbClr val="D8CFC2"/>
                </a:solidFill>
                <a:latin typeface="Calibri"/>
              </a:rPr>
              <a:t>   MED   ·   8.7 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109728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spcAft>
                <a:spcPts val="200"/>
              </a:spcAft>
            </a:pPr>
            <a:r>
              <a:rPr sz="1300" b="0">
                <a:solidFill>
                  <a:srgbClr val="D8CFC2"/>
                </a:solidFill>
                <a:latin typeface="Calibri"/>
              </a:rPr>
              <a:t>Act 2 · Act 2: A Day Without a Clock</a:t>
            </a:r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77240"/>
            <a:ext cx="6766560" cy="380619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4720590"/>
            <a:ext cx="6766560" cy="2011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B44A1E"/>
                </a:solidFill>
                <a:latin typeface="Calibri"/>
              </a:rPr>
              <a:t>VO</a:t>
            </a:r>
          </a:p>
          <a:p>
            <a:pPr>
              <a:spcAft>
                <a:spcPts val="200"/>
              </a:spcAft>
            </a:pPr>
            <a:r>
              <a:rPr sz="1800" b="0">
                <a:solidFill>
                  <a:srgbClr val="1E1B18"/>
                </a:solidFill>
                <a:latin typeface="Calibri"/>
              </a:rPr>
              <a:t>You stay and work on your gear. You sharpen a spear point. You work a stiff hide until it turns soft.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60920" y="777240"/>
            <a:ext cx="4526280" cy="58521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VISUAL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Close shots of hands knapping stone and scraping a pegged-out hide; 3D spear and hide props.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ON-SCREEN TEXT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—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ANIMATION NOTES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Close shots: hands knapping stone (chip SFX, sparks of flake), then scraping the pegged hide in rhythm.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2A2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600" b="1">
                <a:solidFill>
                  <a:srgbClr val="F6F1E8"/>
                </a:solidFill>
                <a:latin typeface="Calibri"/>
              </a:rPr>
              <a:t>AH 2.07</a:t>
            </a:r>
            <a:r>
              <a:rPr sz="1400" b="0">
                <a:solidFill>
                  <a:srgbClr val="D8CFC2"/>
                </a:solidFill>
                <a:latin typeface="Calibri"/>
              </a:rPr>
              <a:t>   CU   ·   8.7 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109728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spcAft>
                <a:spcPts val="200"/>
              </a:spcAft>
            </a:pPr>
            <a:r>
              <a:rPr sz="1300" b="0">
                <a:solidFill>
                  <a:srgbClr val="D8CFC2"/>
                </a:solidFill>
                <a:latin typeface="Calibri"/>
              </a:rPr>
              <a:t>Act 2 · Act 2: A Day Without a Clock</a:t>
            </a:r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77240"/>
            <a:ext cx="6766560" cy="380619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4720590"/>
            <a:ext cx="6766560" cy="2011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B44A1E"/>
                </a:solidFill>
                <a:latin typeface="Calibri"/>
              </a:rPr>
              <a:t>VO</a:t>
            </a:r>
          </a:p>
          <a:p>
            <a:pPr>
              <a:spcAft>
                <a:spcPts val="200"/>
              </a:spcAft>
            </a:pPr>
            <a:r>
              <a:rPr sz="1800" b="0">
                <a:solidFill>
                  <a:srgbClr val="1E1B18"/>
                </a:solidFill>
                <a:latin typeface="Calibri"/>
              </a:rPr>
              <a:t>Not because a boss told you to. Here, skill earns respect, and respect is worth more than anything you could own.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60920" y="777240"/>
            <a:ext cx="4526280" cy="58521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VISUAL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Others glance over admiringly at the finished spear point.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ON-SCREEN TEXT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—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ANIMATION NOTES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Others glance over; one nods; a small smile; the spear point catches the light.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2A2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600" b="1">
                <a:solidFill>
                  <a:srgbClr val="F6F1E8"/>
                </a:solidFill>
                <a:latin typeface="Calibri"/>
              </a:rPr>
              <a:t>AH 2.08</a:t>
            </a:r>
            <a:r>
              <a:rPr sz="1400" b="0">
                <a:solidFill>
                  <a:srgbClr val="D8CFC2"/>
                </a:solidFill>
                <a:latin typeface="Calibri"/>
              </a:rPr>
              <a:t>   WIDE   ·   4.5 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109728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spcAft>
                <a:spcPts val="200"/>
              </a:spcAft>
            </a:pPr>
            <a:r>
              <a:rPr sz="1300" b="0">
                <a:solidFill>
                  <a:srgbClr val="D8CFC2"/>
                </a:solidFill>
                <a:latin typeface="Calibri"/>
              </a:rPr>
              <a:t>Act 2 · Act 2: A Day Without a Clock</a:t>
            </a:r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77240"/>
            <a:ext cx="6766560" cy="380619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4720590"/>
            <a:ext cx="6766560" cy="2011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B44A1E"/>
                </a:solidFill>
                <a:latin typeface="Calibri"/>
              </a:rPr>
              <a:t>VO</a:t>
            </a:r>
          </a:p>
          <a:p>
            <a:pPr>
              <a:spcAft>
                <a:spcPts val="200"/>
              </a:spcAft>
            </a:pPr>
            <a:r>
              <a:rPr sz="1800" b="0">
                <a:solidFill>
                  <a:srgbClr val="1E1B18"/>
                </a:solidFill>
                <a:latin typeface="Calibri"/>
              </a:rPr>
              <a:t>By early afternoon, the jobs that needed doing are done.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60920" y="777240"/>
            <a:ext cx="4526280" cy="58521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VISUAL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Sun higher; the gatherers return with full bags; tools laid out finished. Hours clock shows a big free block.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ON-SCREEN TEXT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DONE BY EARLY AFTERNOON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ANIMATION NOTES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Sun shadow swings (time passes). Gatherers return with full bags. Hours clock fills with a large free block (tick SFX).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0"/>
            <a:ext cx="12191695" cy="1371600"/>
          </a:xfrm>
          <a:prstGeom prst="rect">
            <a:avLst/>
          </a:prstGeom>
          <a:solidFill>
            <a:srgbClr val="2A2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880360"/>
            <a:ext cx="1069848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3200" b="1">
                <a:solidFill>
                  <a:srgbClr val="F6F1E8"/>
                </a:solidFill>
                <a:latin typeface="Calibri"/>
              </a:rPr>
              <a:t>ACT 3 · ACT 3: THE HUNTER WHO NEVER STOPS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520440"/>
            <a:ext cx="1069848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600" b="0">
                <a:solidFill>
                  <a:srgbClr val="D8CFC2"/>
                </a:solidFill>
                <a:latin typeface="Calibri"/>
              </a:rPr>
              <a:t>9 frames · 1:07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2A2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600" b="1">
                <a:solidFill>
                  <a:srgbClr val="F6F1E8"/>
                </a:solidFill>
                <a:latin typeface="Calibri"/>
              </a:rPr>
              <a:t>AH 3.01</a:t>
            </a:r>
            <a:r>
              <a:rPr sz="1400" b="0">
                <a:solidFill>
                  <a:srgbClr val="D8CFC2"/>
                </a:solidFill>
                <a:latin typeface="Calibri"/>
              </a:rPr>
              <a:t>   WIDE   ·   4.5 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109728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spcAft>
                <a:spcPts val="200"/>
              </a:spcAft>
            </a:pPr>
            <a:r>
              <a:rPr sz="1300" b="0">
                <a:solidFill>
                  <a:srgbClr val="D8CFC2"/>
                </a:solidFill>
                <a:latin typeface="Calibri"/>
              </a:rPr>
              <a:t>Act 3 · Act 3: The Hunter Who Never Stops</a:t>
            </a:r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77240"/>
            <a:ext cx="6766560" cy="380619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4720590"/>
            <a:ext cx="6766560" cy="2011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B44A1E"/>
                </a:solidFill>
                <a:latin typeface="Calibri"/>
              </a:rPr>
              <a:t>VO</a:t>
            </a:r>
          </a:p>
          <a:p>
            <a:pPr>
              <a:spcAft>
                <a:spcPts val="200"/>
              </a:spcAft>
            </a:pPr>
            <a:r>
              <a:rPr sz="1800" b="0">
                <a:solidFill>
                  <a:srgbClr val="1E1B18"/>
                </a:solidFill>
                <a:latin typeface="Calibri"/>
              </a:rPr>
              <a:t>Two days later, the meat runs low. Today you hunt.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60920" y="777240"/>
            <a:ext cx="4526280" cy="58521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VISUAL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Morning: three hunters set out across a wide hot plain carrying spears and water gourds.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ON-SCREEN TEXT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HUNT DAY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ANIMATION NOTES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Three hunters set out across a hot plain, walk cycles in step; heat shimmer distortion on the horizon.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2A2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600" b="1">
                <a:solidFill>
                  <a:srgbClr val="F6F1E8"/>
                </a:solidFill>
                <a:latin typeface="Calibri"/>
              </a:rPr>
              <a:t>AH 3.02</a:t>
            </a:r>
            <a:r>
              <a:rPr sz="1400" b="0">
                <a:solidFill>
                  <a:srgbClr val="D8CFC2"/>
                </a:solidFill>
                <a:latin typeface="Calibri"/>
              </a:rPr>
              <a:t>   MED   ·   10.2 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109728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spcAft>
                <a:spcPts val="200"/>
              </a:spcAft>
            </a:pPr>
            <a:r>
              <a:rPr sz="1300" b="0">
                <a:solidFill>
                  <a:srgbClr val="D8CFC2"/>
                </a:solidFill>
                <a:latin typeface="Calibri"/>
              </a:rPr>
              <a:t>Act 3 · Act 3: The Hunter Who Never Stops</a:t>
            </a:r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77240"/>
            <a:ext cx="6766560" cy="380619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4720590"/>
            <a:ext cx="6766560" cy="2011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B44A1E"/>
                </a:solidFill>
                <a:latin typeface="Calibri"/>
              </a:rPr>
              <a:t>VO</a:t>
            </a:r>
          </a:p>
          <a:p>
            <a:pPr>
              <a:spcAft>
                <a:spcPts val="200"/>
              </a:spcAft>
            </a:pPr>
            <a:r>
              <a:rPr sz="1800" b="0">
                <a:solidFill>
                  <a:srgbClr val="1E1B18"/>
                </a:solidFill>
                <a:latin typeface="Calibri"/>
              </a:rPr>
              <a:t>Some hunters in Africa have been recorded using a method that looks nothing like the movies. They don't try to outrun the animal. They can't.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60920" y="777240"/>
            <a:ext cx="4526280" cy="58521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VISUAL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A kudu bolts away; the hunters don't sprint, they keep a steady jog.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ON-SCREEN TEXT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—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ANIMATION NOTES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The kudu bolts away fast (animal run cycle); the hunters keep an even jog; dust kicks up.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2A2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600" b="1">
                <a:solidFill>
                  <a:srgbClr val="F6F1E8"/>
                </a:solidFill>
                <a:latin typeface="Calibri"/>
              </a:rPr>
              <a:t>AH 3.03</a:t>
            </a:r>
            <a:r>
              <a:rPr sz="1400" b="0">
                <a:solidFill>
                  <a:srgbClr val="D8CFC2"/>
                </a:solidFill>
                <a:latin typeface="Calibri"/>
              </a:rPr>
              <a:t>   MED   ·   6.0 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109728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spcAft>
                <a:spcPts val="200"/>
              </a:spcAft>
            </a:pPr>
            <a:r>
              <a:rPr sz="1300" b="0">
                <a:solidFill>
                  <a:srgbClr val="D8CFC2"/>
                </a:solidFill>
                <a:latin typeface="Calibri"/>
              </a:rPr>
              <a:t>Act 3 · Act 3: The Hunter Who Never Stops</a:t>
            </a:r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77240"/>
            <a:ext cx="6766560" cy="380619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4720590"/>
            <a:ext cx="6766560" cy="2011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B44A1E"/>
                </a:solidFill>
                <a:latin typeface="Calibri"/>
              </a:rPr>
              <a:t>VO</a:t>
            </a:r>
          </a:p>
          <a:p>
            <a:pPr>
              <a:spcAft>
                <a:spcPts val="200"/>
              </a:spcAft>
            </a:pPr>
            <a:r>
              <a:rPr sz="1800" b="0">
                <a:solidFill>
                  <a:srgbClr val="1E1B18"/>
                </a:solidFill>
                <a:latin typeface="Calibri"/>
              </a:rPr>
              <a:t>Instead they track it, at a steady pace, for hours, in the midday heat.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60920" y="777240"/>
            <a:ext cx="4526280" cy="58521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VISUAL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Footprints in sand; hunters read the tracks, then jog on; sun high and harsh.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ON-SCREEN TEXT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—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ANIMATION NOTES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Close on footprints in the sand; a hand touches a track; then they jog on; sun high and harsh.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2A2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600" b="1">
                <a:solidFill>
                  <a:srgbClr val="F6F1E8"/>
                </a:solidFill>
                <a:latin typeface="Calibri"/>
              </a:rPr>
              <a:t>AH 3.04</a:t>
            </a:r>
            <a:r>
              <a:rPr sz="1400" b="0">
                <a:solidFill>
                  <a:srgbClr val="D8CFC2"/>
                </a:solidFill>
                <a:latin typeface="Calibri"/>
              </a:rPr>
              <a:t>   CHART   ·   10.9 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109728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spcAft>
                <a:spcPts val="200"/>
              </a:spcAft>
            </a:pPr>
            <a:r>
              <a:rPr sz="1300" b="0">
                <a:solidFill>
                  <a:srgbClr val="D8CFC2"/>
                </a:solidFill>
                <a:latin typeface="Calibri"/>
              </a:rPr>
              <a:t>Act 3 · Act 3: The Hunter Who Never Stops</a:t>
            </a:r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77240"/>
            <a:ext cx="6766560" cy="380619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4720590"/>
            <a:ext cx="6766560" cy="2011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B44A1E"/>
                </a:solidFill>
                <a:latin typeface="Calibri"/>
              </a:rPr>
              <a:t>VO</a:t>
            </a:r>
          </a:p>
          <a:p>
            <a:pPr>
              <a:spcAft>
                <a:spcPts val="200"/>
              </a:spcAft>
            </a:pPr>
            <a:r>
              <a:rPr sz="1800" b="0">
                <a:solidFill>
                  <a:srgbClr val="1E1B18"/>
                </a:solidFill>
                <a:latin typeface="Calibri"/>
              </a:rPr>
              <a:t>A human can sweat and keep cooling while moving. A four-legged runner has to stop to pant. Push it hard enough, for long enough, and it overheats.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60920" y="777240"/>
            <a:ext cx="4526280" cy="58521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VISUAL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Side-by-side thermometer graphic: human steady, antelope climbing into red.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ON-SCREEN TEXT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SWEAT VS PANT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ANIMATION NOTES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Two thermometers: the human line stays level, the antelope's climbs into red with a warning pulse.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2A2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600" b="1">
                <a:solidFill>
                  <a:srgbClr val="F6F1E8"/>
                </a:solidFill>
                <a:latin typeface="Calibri"/>
              </a:rPr>
              <a:t>AH 3.05</a:t>
            </a:r>
            <a:r>
              <a:rPr sz="1400" b="0">
                <a:solidFill>
                  <a:srgbClr val="D8CFC2"/>
                </a:solidFill>
                <a:latin typeface="Calibri"/>
              </a:rPr>
              <a:t>   WIDE   ·   6.0 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109728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spcAft>
                <a:spcPts val="200"/>
              </a:spcAft>
            </a:pPr>
            <a:r>
              <a:rPr sz="1300" b="0">
                <a:solidFill>
                  <a:srgbClr val="D8CFC2"/>
                </a:solidFill>
                <a:latin typeface="Calibri"/>
              </a:rPr>
              <a:t>Act 3 · Act 3: The Hunter Who Never Stops</a:t>
            </a:r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77240"/>
            <a:ext cx="6766560" cy="380619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4720590"/>
            <a:ext cx="6766560" cy="2011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B44A1E"/>
                </a:solidFill>
                <a:latin typeface="Calibri"/>
              </a:rPr>
              <a:t>VO</a:t>
            </a:r>
          </a:p>
          <a:p>
            <a:pPr>
              <a:spcAft>
                <a:spcPts val="200"/>
              </a:spcAft>
            </a:pPr>
            <a:r>
              <a:rPr sz="1800" b="0">
                <a:solidFill>
                  <a:srgbClr val="1E1B18"/>
                </a:solidFill>
                <a:latin typeface="Calibri"/>
              </a:rPr>
              <a:t>Eventually the animal stops and can't run again. The hunters walk up to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60920" y="777240"/>
            <a:ext cx="4526280" cy="58521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VISUAL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Long shot: the kudu stands still under a lone tree; hunters approach slowly. Non-graphic; cut away before the kill.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ON-SCREEN TEXT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—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ANIMATION NOTES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Long shot: the kudu stands still under a lone tree; hunters approach slowly. Cut away before any kill.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2A2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600" b="1">
                <a:solidFill>
                  <a:srgbClr val="F6F1E8"/>
                </a:solidFill>
                <a:latin typeface="Calibri"/>
              </a:rPr>
              <a:t>AH 3.06</a:t>
            </a:r>
            <a:r>
              <a:rPr sz="1400" b="0">
                <a:solidFill>
                  <a:srgbClr val="D8CFC2"/>
                </a:solidFill>
                <a:latin typeface="Calibri"/>
              </a:rPr>
              <a:t>   CU   ·   7.2 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109728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spcAft>
                <a:spcPts val="200"/>
              </a:spcAft>
            </a:pPr>
            <a:r>
              <a:rPr sz="1300" b="0">
                <a:solidFill>
                  <a:srgbClr val="D8CFC2"/>
                </a:solidFill>
                <a:latin typeface="Calibri"/>
              </a:rPr>
              <a:t>Act 3 · Act 3: The Hunter Who Never Stops</a:t>
            </a:r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77240"/>
            <a:ext cx="6766560" cy="380619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4720590"/>
            <a:ext cx="6766560" cy="2011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B44A1E"/>
                </a:solidFill>
                <a:latin typeface="Calibri"/>
              </a:rPr>
              <a:t>VO</a:t>
            </a:r>
          </a:p>
          <a:p>
            <a:pPr>
              <a:spcAft>
                <a:spcPts val="200"/>
              </a:spcAft>
            </a:pPr>
            <a:r>
              <a:rPr sz="1800" b="0">
                <a:solidFill>
                  <a:srgbClr val="1E1B18"/>
                </a:solidFill>
                <a:latin typeface="Calibri"/>
              </a:rPr>
              <a:t>You were never the fastest thing on the plain. You were the thing that could keep going.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60920" y="777240"/>
            <a:ext cx="4526280" cy="58521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VISUAL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Silhouette of the hunter against the sun, breathing hard but steady.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ON-SCREEN TEXT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THE ONE THAT NEVER STOPS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ANIMATION NOTES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Silhouette against the sun; chest heaving slowly; low heartbeat SFX; slow push-in.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2A2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600" b="1">
                <a:solidFill>
                  <a:srgbClr val="F6F1E8"/>
                </a:solidFill>
                <a:latin typeface="Calibri"/>
              </a:rPr>
              <a:t>AH 3.07</a:t>
            </a:r>
            <a:r>
              <a:rPr sz="1400" b="0">
                <a:solidFill>
                  <a:srgbClr val="D8CFC2"/>
                </a:solidFill>
                <a:latin typeface="Calibri"/>
              </a:rPr>
              <a:t>   MED   ·   8.7 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109728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spcAft>
                <a:spcPts val="200"/>
              </a:spcAft>
            </a:pPr>
            <a:r>
              <a:rPr sz="1300" b="0">
                <a:solidFill>
                  <a:srgbClr val="D8CFC2"/>
                </a:solidFill>
                <a:latin typeface="Calibri"/>
              </a:rPr>
              <a:t>Act 3 · Act 3: The Hunter Who Never Stops</a:t>
            </a:r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77240"/>
            <a:ext cx="6766560" cy="380619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4720590"/>
            <a:ext cx="6766560" cy="2011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B44A1E"/>
                </a:solidFill>
                <a:latin typeface="Calibri"/>
              </a:rPr>
              <a:t>VO</a:t>
            </a:r>
          </a:p>
          <a:p>
            <a:pPr>
              <a:spcAft>
                <a:spcPts val="200"/>
              </a:spcAft>
            </a:pPr>
            <a:r>
              <a:rPr sz="1800" b="0">
                <a:solidFill>
                  <a:srgbClr val="1E1B18"/>
                </a:solidFill>
                <a:latin typeface="Calibri"/>
              </a:rPr>
              <a:t>This is called persistence hunting, and it's only one method among many. Most hunts used traps, snares, ambush and poisoned arrows.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60920" y="777240"/>
            <a:ext cx="4526280" cy="58521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VISUAL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Quick montage card: snare, bow with arrows, ambush behind a bush.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ON-SCREEN TEXT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ONE METHOD OF MANY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ANIMATION NOTES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Three small vignettes pop in left to right on each word.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2A2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600" b="1">
                <a:solidFill>
                  <a:srgbClr val="F6F1E8"/>
                </a:solidFill>
                <a:latin typeface="Calibri"/>
              </a:rPr>
              <a:t>AH 3.08</a:t>
            </a:r>
            <a:r>
              <a:rPr sz="1400" b="0">
                <a:solidFill>
                  <a:srgbClr val="D8CFC2"/>
                </a:solidFill>
                <a:latin typeface="Calibri"/>
              </a:rPr>
              <a:t>   WIDE   ·   10.6 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109728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spcAft>
                <a:spcPts val="200"/>
              </a:spcAft>
            </a:pPr>
            <a:r>
              <a:rPr sz="1300" b="0">
                <a:solidFill>
                  <a:srgbClr val="D8CFC2"/>
                </a:solidFill>
                <a:latin typeface="Calibri"/>
              </a:rPr>
              <a:t>Act 3 · Act 3: The Hunter Who Never Stops</a:t>
            </a:r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77240"/>
            <a:ext cx="6766560" cy="380619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4720590"/>
            <a:ext cx="6766560" cy="2011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B44A1E"/>
                </a:solidFill>
                <a:latin typeface="Calibri"/>
              </a:rPr>
              <a:t>VO</a:t>
            </a:r>
          </a:p>
          <a:p>
            <a:pPr>
              <a:spcAft>
                <a:spcPts val="200"/>
              </a:spcAft>
            </a:pPr>
            <a:r>
              <a:rPr sz="1800" b="0">
                <a:solidFill>
                  <a:srgbClr val="1E1B18"/>
                </a:solidFill>
                <a:latin typeface="Calibri"/>
              </a:rPr>
              <a:t>A big hunt can take the whole day, and it's the hardest work this life asks for. But one good kill feeds the camp for days.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60920" y="777240"/>
            <a:ext cx="4526280" cy="58521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VISUAL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Hunters return at dusk carrying meat; the camp gathers; fire built up.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ON-SCREEN TEXT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—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ANIMATION NOTES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Dusk: hunters return carrying meat; the camp stands to greet them; the fire is built up and flares.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2A2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600" b="1">
                <a:solidFill>
                  <a:srgbClr val="F6F1E8"/>
                </a:solidFill>
                <a:latin typeface="Calibri"/>
              </a:rPr>
              <a:t>AH 3.09</a:t>
            </a:r>
            <a:r>
              <a:rPr sz="1400" b="0">
                <a:solidFill>
                  <a:srgbClr val="D8CFC2"/>
                </a:solidFill>
                <a:latin typeface="Calibri"/>
              </a:rPr>
              <a:t>   CU   ·   3.4 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109728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spcAft>
                <a:spcPts val="200"/>
              </a:spcAft>
            </a:pPr>
            <a:r>
              <a:rPr sz="1300" b="0">
                <a:solidFill>
                  <a:srgbClr val="D8CFC2"/>
                </a:solidFill>
                <a:latin typeface="Calibri"/>
              </a:rPr>
              <a:t>Act 3 · Act 3: The Hunter Who Never Stops</a:t>
            </a:r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77240"/>
            <a:ext cx="6766560" cy="380619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4720590"/>
            <a:ext cx="6766560" cy="2011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B44A1E"/>
                </a:solidFill>
                <a:latin typeface="Calibri"/>
              </a:rPr>
              <a:t>VO</a:t>
            </a:r>
          </a:p>
          <a:p>
            <a:pPr>
              <a:spcAft>
                <a:spcPts val="200"/>
              </a:spcAft>
            </a:pPr>
            <a:r>
              <a:rPr sz="1800" b="0">
                <a:solidFill>
                  <a:srgbClr val="1E1B18"/>
                </a:solidFill>
                <a:latin typeface="Calibri"/>
              </a:rPr>
              <a:t>So tomorrow, the free time comes back.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60920" y="777240"/>
            <a:ext cx="4526280" cy="58521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VISUAL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Hours clock fills back up with a free afternoon.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ON-SCREEN TEXT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—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ANIMATION NOTES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The hours clock refills with a free afternoon block (soft chime).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0"/>
            <a:ext cx="12191695" cy="1371600"/>
          </a:xfrm>
          <a:prstGeom prst="rect">
            <a:avLst/>
          </a:prstGeom>
          <a:solidFill>
            <a:srgbClr val="2A2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880360"/>
            <a:ext cx="1069848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3200" b="1">
                <a:solidFill>
                  <a:srgbClr val="F6F1E8"/>
                </a:solidFill>
                <a:latin typeface="Calibri"/>
              </a:rPr>
              <a:t>ACT 4 · ACT 4: THE MAN WITH THE STOPWATCH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520440"/>
            <a:ext cx="1069848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600" b="0">
                <a:solidFill>
                  <a:srgbClr val="D8CFC2"/>
                </a:solidFill>
                <a:latin typeface="Calibri"/>
              </a:rPr>
              <a:t>11 frames · 1:39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2A2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600" b="1">
                <a:solidFill>
                  <a:srgbClr val="F6F1E8"/>
                </a:solidFill>
                <a:latin typeface="Calibri"/>
              </a:rPr>
              <a:t>AH 4.01</a:t>
            </a:r>
            <a:r>
              <a:rPr sz="1400" b="0">
                <a:solidFill>
                  <a:srgbClr val="D8CFC2"/>
                </a:solidFill>
                <a:latin typeface="Calibri"/>
              </a:rPr>
              <a:t>   MED   ·   8.7 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109728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spcAft>
                <a:spcPts val="200"/>
              </a:spcAft>
            </a:pPr>
            <a:r>
              <a:rPr sz="1300" b="0">
                <a:solidFill>
                  <a:srgbClr val="D8CFC2"/>
                </a:solidFill>
                <a:latin typeface="Calibri"/>
              </a:rPr>
              <a:t>Act 4 · Act 4: The Man With the Stopwatch</a:t>
            </a:r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77240"/>
            <a:ext cx="6766560" cy="380619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4720590"/>
            <a:ext cx="6766560" cy="2011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B44A1E"/>
                </a:solidFill>
                <a:latin typeface="Calibri"/>
              </a:rPr>
              <a:t>VO</a:t>
            </a:r>
          </a:p>
          <a:p>
            <a:pPr>
              <a:spcAft>
                <a:spcPts val="200"/>
              </a:spcAft>
            </a:pPr>
            <a:r>
              <a:rPr sz="1800" b="0">
                <a:solidFill>
                  <a:srgbClr val="1E1B18"/>
                </a:solidFill>
                <a:latin typeface="Calibri"/>
              </a:rPr>
              <a:t>If this sounds too easy, you're not the first to think so. In 1963, a young anthropologist had the same doubt.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60920" y="777240"/>
            <a:ext cx="4526280" cy="58521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VISUAL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Sepia 1960s look: a young researcher with a notebook steps off a Land Rover.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ON-SCREEN TEXT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1963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ANIMATION NOTES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Sepia 1960s grade. A Land Rover rolls in and stops (eased); the researcher steps out with a notebook.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2A2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600" b="1">
                <a:solidFill>
                  <a:srgbClr val="F6F1E8"/>
                </a:solidFill>
                <a:latin typeface="Calibri"/>
              </a:rPr>
              <a:t>AH 4.02</a:t>
            </a:r>
            <a:r>
              <a:rPr sz="1400" b="0">
                <a:solidFill>
                  <a:srgbClr val="D8CFC2"/>
                </a:solidFill>
                <a:latin typeface="Calibri"/>
              </a:rPr>
              <a:t>   MAP   ·   7.9 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109728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spcAft>
                <a:spcPts val="200"/>
              </a:spcAft>
            </a:pPr>
            <a:r>
              <a:rPr sz="1300" b="0">
                <a:solidFill>
                  <a:srgbClr val="D8CFC2"/>
                </a:solidFill>
                <a:latin typeface="Calibri"/>
              </a:rPr>
              <a:t>Act 4 · Act 4: The Man With the Stopwatch</a:t>
            </a:r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77240"/>
            <a:ext cx="6766560" cy="380619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4720590"/>
            <a:ext cx="6766560" cy="2011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B44A1E"/>
                </a:solidFill>
                <a:latin typeface="Calibri"/>
              </a:rPr>
              <a:t>VO</a:t>
            </a:r>
          </a:p>
          <a:p>
            <a:pPr>
              <a:spcAft>
                <a:spcPts val="200"/>
              </a:spcAft>
            </a:pPr>
            <a:r>
              <a:rPr sz="1800" b="0">
                <a:solidFill>
                  <a:srgbClr val="1E1B18"/>
                </a:solidFill>
                <a:latin typeface="Calibri"/>
              </a:rPr>
              <a:t>His name was Richard Lee. He went to the Dobe area on the edge of the Kalahari, in Botswana.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60920" y="777240"/>
            <a:ext cx="4526280" cy="58521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VISUAL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Map of southern Africa; the Kalahari shaded; a pin on Dobe near the Namibia border.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ON-SCREEN TEXT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DOBE, BOTSWANA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ANIMATION NOTES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Map of southern Africa; Kalahari shades in; pin drops on Dobe near the Namibia border.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2A2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600" b="1">
                <a:solidFill>
                  <a:srgbClr val="F6F1E8"/>
                </a:solidFill>
                <a:latin typeface="Calibri"/>
              </a:rPr>
              <a:t>AH 4.03</a:t>
            </a:r>
            <a:r>
              <a:rPr sz="1400" b="0">
                <a:solidFill>
                  <a:srgbClr val="D8CFC2"/>
                </a:solidFill>
                <a:latin typeface="Calibri"/>
              </a:rPr>
              <a:t>   WIDE   ·   7.5 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109728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spcAft>
                <a:spcPts val="200"/>
              </a:spcAft>
            </a:pPr>
            <a:r>
              <a:rPr sz="1300" b="0">
                <a:solidFill>
                  <a:srgbClr val="D8CFC2"/>
                </a:solidFill>
                <a:latin typeface="Calibri"/>
              </a:rPr>
              <a:t>Act 4 · Act 4: The Man With the Stopwatch</a:t>
            </a:r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77240"/>
            <a:ext cx="6766560" cy="380619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4720590"/>
            <a:ext cx="6766560" cy="2011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B44A1E"/>
                </a:solidFill>
                <a:latin typeface="Calibri"/>
              </a:rPr>
              <a:t>VO</a:t>
            </a:r>
          </a:p>
          <a:p>
            <a:pPr>
              <a:spcAft>
                <a:spcPts val="200"/>
              </a:spcAft>
            </a:pPr>
            <a:r>
              <a:rPr sz="1800" b="0">
                <a:solidFill>
                  <a:srgbClr val="1E1B18"/>
                </a:solidFill>
                <a:latin typeface="Calibri"/>
              </a:rPr>
              <a:t>He lived with the Ju/'hoansi, people who at the time still lived largely by hunting and gathering.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60920" y="777240"/>
            <a:ext cx="4526280" cy="58521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VISUAL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Painted Kalahari camp: grass huts, mongongo trees, dry sand; the researcher sits apart, writing.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ON-SCREEN TEXT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THE JU/'HOANSI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ANIMATION NOTES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Painted Kalahari camp, mongongo trees; the researcher sits apart, writing; camp life moves around him.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2A2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600" b="1">
                <a:solidFill>
                  <a:srgbClr val="F6F1E8"/>
                </a:solidFill>
                <a:latin typeface="Calibri"/>
              </a:rPr>
              <a:t>AH 4.04</a:t>
            </a:r>
            <a:r>
              <a:rPr sz="1400" b="0">
                <a:solidFill>
                  <a:srgbClr val="D8CFC2"/>
                </a:solidFill>
                <a:latin typeface="Calibri"/>
              </a:rPr>
              <a:t>   MED   ·   9.8 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109728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spcAft>
                <a:spcPts val="200"/>
              </a:spcAft>
            </a:pPr>
            <a:r>
              <a:rPr sz="1300" b="0">
                <a:solidFill>
                  <a:srgbClr val="D8CFC2"/>
                </a:solidFill>
                <a:latin typeface="Calibri"/>
              </a:rPr>
              <a:t>Act 4 · Act 4: The Man With the Stopwatch</a:t>
            </a:r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77240"/>
            <a:ext cx="6766560" cy="380619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4720590"/>
            <a:ext cx="6766560" cy="2011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B44A1E"/>
                </a:solidFill>
                <a:latin typeface="Calibri"/>
              </a:rPr>
              <a:t>VO</a:t>
            </a:r>
          </a:p>
          <a:p>
            <a:pPr>
              <a:spcAft>
                <a:spcPts val="200"/>
              </a:spcAft>
            </a:pPr>
            <a:r>
              <a:rPr sz="1800" b="0">
                <a:solidFill>
                  <a:srgbClr val="1E1B18"/>
                </a:solidFill>
                <a:latin typeface="Calibri"/>
              </a:rPr>
              <a:t>The textbook story said life like this meant working every daylight hour just to survive. Lee decided not to assume it. He counted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60920" y="777240"/>
            <a:ext cx="4526280" cy="58521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VISUAL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Notebook pages fill with tally marks; a stopwatch ticks.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ON-SCREEN TEXT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—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ANIMATION NOTES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Tally marks write themselves into the notebook; the stopwatch hand sweeps (tick SFX).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2A2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600" b="1">
                <a:solidFill>
                  <a:srgbClr val="F6F1E8"/>
                </a:solidFill>
                <a:latin typeface="Calibri"/>
              </a:rPr>
              <a:t>AH 4.05</a:t>
            </a:r>
            <a:r>
              <a:rPr sz="1400" b="0">
                <a:solidFill>
                  <a:srgbClr val="D8CFC2"/>
                </a:solidFill>
                <a:latin typeface="Calibri"/>
              </a:rPr>
              <a:t>   MED   ·   7.2 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109728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spcAft>
                <a:spcPts val="200"/>
              </a:spcAft>
            </a:pPr>
            <a:r>
              <a:rPr sz="1300" b="0">
                <a:solidFill>
                  <a:srgbClr val="D8CFC2"/>
                </a:solidFill>
                <a:latin typeface="Calibri"/>
              </a:rPr>
              <a:t>Act 4 · Act 4: The Man With the Stopwatch</a:t>
            </a:r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77240"/>
            <a:ext cx="6766560" cy="380619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4720590"/>
            <a:ext cx="6766560" cy="2011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B44A1E"/>
                </a:solidFill>
                <a:latin typeface="Calibri"/>
              </a:rPr>
              <a:t>VO</a:t>
            </a:r>
          </a:p>
          <a:p>
            <a:pPr>
              <a:spcAft>
                <a:spcPts val="200"/>
              </a:spcAft>
            </a:pPr>
            <a:r>
              <a:rPr sz="1800" b="0">
                <a:solidFill>
                  <a:srgbClr val="1E1B18"/>
                </a:solidFill>
                <a:latin typeface="Calibri"/>
              </a:rPr>
              <a:t>For weeks, he recorded who went out for food, for how long, and what they brought back.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60920" y="777240"/>
            <a:ext cx="4526280" cy="58521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VISUAL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Montage: Lee follows a gatherer, notes times, weighs nuts on a hanging scale.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ON-SCREEN TEXT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—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ANIMATION NOTES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Lee follows a gatherer (two walk cycles); nuts tip onto a hanging scale that swings and settles.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2A2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600" b="1">
                <a:solidFill>
                  <a:srgbClr val="F6F1E8"/>
                </a:solidFill>
                <a:latin typeface="Calibri"/>
              </a:rPr>
              <a:t>AH 4.06</a:t>
            </a:r>
            <a:r>
              <a:rPr sz="1400" b="0">
                <a:solidFill>
                  <a:srgbClr val="D8CFC2"/>
                </a:solidFill>
                <a:latin typeface="Calibri"/>
              </a:rPr>
              <a:t>   CHART   ·   7.9 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109728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spcAft>
                <a:spcPts val="200"/>
              </a:spcAft>
            </a:pPr>
            <a:r>
              <a:rPr sz="1300" b="0">
                <a:solidFill>
                  <a:srgbClr val="D8CFC2"/>
                </a:solidFill>
                <a:latin typeface="Calibri"/>
              </a:rPr>
              <a:t>Act 4 · Act 4: The Man With the Stopwatch</a:t>
            </a:r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77240"/>
            <a:ext cx="6766560" cy="380619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4720590"/>
            <a:ext cx="6766560" cy="2011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B44A1E"/>
                </a:solidFill>
                <a:latin typeface="Calibri"/>
              </a:rPr>
              <a:t>VO</a:t>
            </a:r>
          </a:p>
          <a:p>
            <a:pPr>
              <a:spcAft>
                <a:spcPts val="200"/>
              </a:spcAft>
            </a:pPr>
            <a:r>
              <a:rPr sz="1800" b="0">
                <a:solidFill>
                  <a:srgbClr val="1E1B18"/>
                </a:solidFill>
                <a:latin typeface="Calibri"/>
              </a:rPr>
              <a:t>The result surprised everyone. Finding food took adults about fifteen hours a week. Roughly two and a half days.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60920" y="777240"/>
            <a:ext cx="4526280" cy="58521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VISUAL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Big number reveal over a week calendar: 15 HRS highlighted across Mon-Wed.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ON-SCREEN TEXT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~15 HOURS A WEEK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ANIMATION NOTES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A week calendar; 15 hours shade in across Mon to Wed; the big number counts up 0 to 15.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2A2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600" b="1">
                <a:solidFill>
                  <a:srgbClr val="F6F1E8"/>
                </a:solidFill>
                <a:latin typeface="Calibri"/>
              </a:rPr>
              <a:t>AH 4.07</a:t>
            </a:r>
            <a:r>
              <a:rPr sz="1400" b="0">
                <a:solidFill>
                  <a:srgbClr val="D8CFC2"/>
                </a:solidFill>
                <a:latin typeface="Calibri"/>
              </a:rPr>
              <a:t>   CU   ·   5.7 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109728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spcAft>
                <a:spcPts val="200"/>
              </a:spcAft>
            </a:pPr>
            <a:r>
              <a:rPr sz="1300" b="0">
                <a:solidFill>
                  <a:srgbClr val="D8CFC2"/>
                </a:solidFill>
                <a:latin typeface="Calibri"/>
              </a:rPr>
              <a:t>Act 4 · Act 4: The Man With the Stopwatch</a:t>
            </a:r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77240"/>
            <a:ext cx="6766560" cy="380619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4720590"/>
            <a:ext cx="6766560" cy="2011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B44A1E"/>
                </a:solidFill>
                <a:latin typeface="Calibri"/>
              </a:rPr>
              <a:t>VO</a:t>
            </a:r>
          </a:p>
          <a:p>
            <a:pPr>
              <a:spcAft>
                <a:spcPts val="200"/>
              </a:spcAft>
            </a:pPr>
            <a:r>
              <a:rPr sz="1800" b="0">
                <a:solidFill>
                  <a:srgbClr val="1E1B18"/>
                </a:solidFill>
                <a:latin typeface="Calibri"/>
              </a:rPr>
              <a:t>If you work a normal job, you pass fifteen hours by Tuesday afternoon.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60920" y="777240"/>
            <a:ext cx="4526280" cy="58521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VISUAL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Office clock on Tuesday, 3 pm; the hours clock in the corner tips into overtime.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ON-SCREEN TEXT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YOU: BY TUESDAY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ANIMATION NOTES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Office wall clock spins fast to Tuesday 3 pm; the hours clock in the corner tips into red.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2A2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600" b="1">
                <a:solidFill>
                  <a:srgbClr val="F6F1E8"/>
                </a:solidFill>
                <a:latin typeface="Calibri"/>
              </a:rPr>
              <a:t>AH 4.08</a:t>
            </a:r>
            <a:r>
              <a:rPr sz="1400" b="0">
                <a:solidFill>
                  <a:srgbClr val="D8CFC2"/>
                </a:solidFill>
                <a:latin typeface="Calibri"/>
              </a:rPr>
              <a:t>   CARD   ·   10.9 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109728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spcAft>
                <a:spcPts val="200"/>
              </a:spcAft>
            </a:pPr>
            <a:r>
              <a:rPr sz="1300" b="0">
                <a:solidFill>
                  <a:srgbClr val="D8CFC2"/>
                </a:solidFill>
                <a:latin typeface="Calibri"/>
              </a:rPr>
              <a:t>Act 4 · Act 4: The Man With the Stopwatch</a:t>
            </a:r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77240"/>
            <a:ext cx="6766560" cy="380619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4720590"/>
            <a:ext cx="6766560" cy="2011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B44A1E"/>
                </a:solidFill>
                <a:latin typeface="Calibri"/>
              </a:rPr>
              <a:t>VO</a:t>
            </a:r>
          </a:p>
          <a:p>
            <a:pPr>
              <a:spcAft>
                <a:spcPts val="200"/>
              </a:spcAft>
            </a:pPr>
            <a:r>
              <a:rPr sz="1800" b="0">
                <a:solidFill>
                  <a:srgbClr val="1E1B18"/>
                </a:solidFill>
                <a:latin typeface="Calibri"/>
              </a:rPr>
              <a:t>To be fair, that number is only food. When Lee later added tool-making, cracking nuts, cooking and chores, the total rose to around forty hours a week.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60920" y="777240"/>
            <a:ext cx="4526280" cy="58521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VISUAL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Calendar adds stacked bars: food, tools, processing, chores; the total climbs to ~40.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ON-SCREEN TEXT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WITH CHORES: ~40 HRS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ANIMATION NOTES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Stacked bars add layer by layer: food, tools, processing, chores; total climbs to about 40.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2A2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600" b="1">
                <a:solidFill>
                  <a:srgbClr val="F6F1E8"/>
                </a:solidFill>
                <a:latin typeface="Calibri"/>
              </a:rPr>
              <a:t>AH 4.09</a:t>
            </a:r>
            <a:r>
              <a:rPr sz="1400" b="0">
                <a:solidFill>
                  <a:srgbClr val="D8CFC2"/>
                </a:solidFill>
                <a:latin typeface="Calibri"/>
              </a:rPr>
              <a:t>   MED   ·   12.1 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109728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spcAft>
                <a:spcPts val="200"/>
              </a:spcAft>
            </a:pPr>
            <a:r>
              <a:rPr sz="1300" b="0">
                <a:solidFill>
                  <a:srgbClr val="D8CFC2"/>
                </a:solidFill>
                <a:latin typeface="Calibri"/>
              </a:rPr>
              <a:t>Act 4 · Act 4: The Man With the Stopwatch</a:t>
            </a:r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77240"/>
            <a:ext cx="6766560" cy="380619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4720590"/>
            <a:ext cx="6766560" cy="2011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B44A1E"/>
                </a:solidFill>
                <a:latin typeface="Calibri"/>
              </a:rPr>
              <a:t>VO</a:t>
            </a:r>
          </a:p>
          <a:p>
            <a:pPr>
              <a:spcAft>
                <a:spcPts val="200"/>
              </a:spcAft>
            </a:pPr>
            <a:r>
              <a:rPr sz="1800" b="0">
                <a:solidFill>
                  <a:srgbClr val="1E1B18"/>
                </a:solidFill>
                <a:latin typeface="Calibri"/>
              </a:rPr>
              <a:t>That's close to a modern full-time job. But the shape was completely different. No commute, no fixed shift, no boss, and the work happened with family and friends around you.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60920" y="777240"/>
            <a:ext cx="4526280" cy="58521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VISUAL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Split frame: Ju/'hoan woman cracking nuts while chatting with friends vs. office worker alone in a cubicle.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ON-SCREEN TEXT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SAME HOURS. DIFFERENT LIFE.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ANIMATION NOTES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Split: left, friends cracking nuts and laughing (talk mouths); right, one worker alone typing. Same clock on both sides.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2A2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600" b="1">
                <a:solidFill>
                  <a:srgbClr val="F6F1E8"/>
                </a:solidFill>
                <a:latin typeface="Calibri"/>
              </a:rPr>
              <a:t>AH 4.10</a:t>
            </a:r>
            <a:r>
              <a:rPr sz="1400" b="0">
                <a:solidFill>
                  <a:srgbClr val="D8CFC2"/>
                </a:solidFill>
                <a:latin typeface="Calibri"/>
              </a:rPr>
              <a:t>   MAP   ·   12.1 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109728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spcAft>
                <a:spcPts val="200"/>
              </a:spcAft>
            </a:pPr>
            <a:r>
              <a:rPr sz="1300" b="0">
                <a:solidFill>
                  <a:srgbClr val="D8CFC2"/>
                </a:solidFill>
                <a:latin typeface="Calibri"/>
              </a:rPr>
              <a:t>Act 4 · Act 4: The Man With the Stopwatch</a:t>
            </a:r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77240"/>
            <a:ext cx="6766560" cy="380619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4720590"/>
            <a:ext cx="6766560" cy="2011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B44A1E"/>
                </a:solidFill>
                <a:latin typeface="Calibri"/>
              </a:rPr>
              <a:t>VO</a:t>
            </a:r>
          </a:p>
          <a:p>
            <a:pPr>
              <a:spcAft>
                <a:spcPts val="200"/>
              </a:spcAft>
            </a:pPr>
            <a:r>
              <a:rPr sz="1800" b="0">
                <a:solidFill>
                  <a:srgbClr val="1E1B18"/>
                </a:solidFill>
                <a:latin typeface="Calibri"/>
              </a:rPr>
              <a:t>Researchers later studied other foraging groups: the Hadza in Tanzania, the Aché in Paraguay, the Martu in Australia. The numbers vary a lot. Some groups spend far longer finding food.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60920" y="777240"/>
            <a:ext cx="4526280" cy="58521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VISUAL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World map with three pins lighting up in turn, each with a small hours bar of different length.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ON-SCREEN TEXT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HADZA · ACHÉ · MARTU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ANIMATION NOTES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World map; three pins light in turn, each with a small bar of different length growing beside it.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2A2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600" b="1">
                <a:solidFill>
                  <a:srgbClr val="F6F1E8"/>
                </a:solidFill>
                <a:latin typeface="Calibri"/>
              </a:rPr>
              <a:t>AH 4.11</a:t>
            </a:r>
            <a:r>
              <a:rPr sz="1400" b="0">
                <a:solidFill>
                  <a:srgbClr val="D8CFC2"/>
                </a:solidFill>
                <a:latin typeface="Calibri"/>
              </a:rPr>
              <a:t>   CU   ·   9.8 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109728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spcAft>
                <a:spcPts val="200"/>
              </a:spcAft>
            </a:pPr>
            <a:r>
              <a:rPr sz="1300" b="0">
                <a:solidFill>
                  <a:srgbClr val="D8CFC2"/>
                </a:solidFill>
                <a:latin typeface="Calibri"/>
              </a:rPr>
              <a:t>Act 4 · Act 4: The Man With the Stopwatch</a:t>
            </a:r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77240"/>
            <a:ext cx="6766560" cy="380619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4720590"/>
            <a:ext cx="6766560" cy="2011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B44A1E"/>
                </a:solidFill>
                <a:latin typeface="Calibri"/>
              </a:rPr>
              <a:t>VO</a:t>
            </a:r>
          </a:p>
          <a:p>
            <a:pPr>
              <a:spcAft>
                <a:spcPts val="200"/>
              </a:spcAft>
            </a:pPr>
            <a:r>
              <a:rPr sz="1800" b="0">
                <a:solidFill>
                  <a:srgbClr val="1E1B18"/>
                </a:solidFill>
                <a:latin typeface="Calibri"/>
              </a:rPr>
              <a:t>So the real lesson isn't a magic number. It's who owned the hours. They decided when to work, how hard, and when to stop.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60920" y="777240"/>
            <a:ext cx="4526280" cy="58521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VISUAL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The hours clock changes label to 'HOURS THAT ARE YOURS'.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ON-SCREEN TEXT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WHO OWNED THE HOURS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ANIMATION NOTES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The corner clock moves to centre and grows; its label rewrites to HOURS THAT ARE YOURS.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0"/>
            <a:ext cx="12191695" cy="1371600"/>
          </a:xfrm>
          <a:prstGeom prst="rect">
            <a:avLst/>
          </a:prstGeom>
          <a:solidFill>
            <a:srgbClr val="2A2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880360"/>
            <a:ext cx="1069848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3200" b="1">
                <a:solidFill>
                  <a:srgbClr val="F6F1E8"/>
                </a:solidFill>
                <a:latin typeface="Calibri"/>
              </a:rPr>
              <a:t>ACT 5 · ACT 5: BEADS AND A FLUTE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520440"/>
            <a:ext cx="1069848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600" b="0">
                <a:solidFill>
                  <a:srgbClr val="D8CFC2"/>
                </a:solidFill>
                <a:latin typeface="Calibri"/>
              </a:rPr>
              <a:t>13 frames · 1:35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2A2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600" b="1">
                <a:solidFill>
                  <a:srgbClr val="F6F1E8"/>
                </a:solidFill>
                <a:latin typeface="Calibri"/>
              </a:rPr>
              <a:t>AH 5.01</a:t>
            </a:r>
            <a:r>
              <a:rPr sz="1400" b="0">
                <a:solidFill>
                  <a:srgbClr val="D8CFC2"/>
                </a:solidFill>
                <a:latin typeface="Calibri"/>
              </a:rPr>
              <a:t>   WIDE   ·   4.5 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109728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spcAft>
                <a:spcPts val="200"/>
              </a:spcAft>
            </a:pPr>
            <a:r>
              <a:rPr sz="1300" b="0">
                <a:solidFill>
                  <a:srgbClr val="D8CFC2"/>
                </a:solidFill>
                <a:latin typeface="Calibri"/>
              </a:rPr>
              <a:t>Act 5 · Act 5: Beads and a Flute</a:t>
            </a:r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77240"/>
            <a:ext cx="6766560" cy="380619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4720590"/>
            <a:ext cx="6766560" cy="2011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B44A1E"/>
                </a:solidFill>
                <a:latin typeface="Calibri"/>
              </a:rPr>
              <a:t>VO</a:t>
            </a:r>
          </a:p>
          <a:p>
            <a:pPr>
              <a:spcAft>
                <a:spcPts val="200"/>
              </a:spcAft>
            </a:pPr>
            <a:r>
              <a:rPr sz="1800" b="0">
                <a:solidFill>
                  <a:srgbClr val="1E1B18"/>
                </a:solidFill>
                <a:latin typeface="Calibri"/>
              </a:rPr>
              <a:t>Back at camp, it's afternoon, and the pace slows down.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60920" y="777240"/>
            <a:ext cx="4526280" cy="58521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VISUAL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Shaded camp under a big tree; light dapples; people lounge.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ON-SCREEN TEXT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—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ANIMATION NOTES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Dappled light moves through the big tree; people lounge; slow drift camera.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2A2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600" b="1">
                <a:solidFill>
                  <a:srgbClr val="F6F1E8"/>
                </a:solidFill>
                <a:latin typeface="Calibri"/>
              </a:rPr>
              <a:t>AH 5.02</a:t>
            </a:r>
            <a:r>
              <a:rPr sz="1400" b="0">
                <a:solidFill>
                  <a:srgbClr val="D8CFC2"/>
                </a:solidFill>
                <a:latin typeface="Calibri"/>
              </a:rPr>
              <a:t>   MED   ·   7.9 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109728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spcAft>
                <a:spcPts val="200"/>
              </a:spcAft>
            </a:pPr>
            <a:r>
              <a:rPr sz="1300" b="0">
                <a:solidFill>
                  <a:srgbClr val="D8CFC2"/>
                </a:solidFill>
                <a:latin typeface="Calibri"/>
              </a:rPr>
              <a:t>Act 5 · Act 5: Beads and a Flute</a:t>
            </a:r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77240"/>
            <a:ext cx="6766560" cy="380619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4720590"/>
            <a:ext cx="6766560" cy="2011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B44A1E"/>
                </a:solidFill>
                <a:latin typeface="Calibri"/>
              </a:rPr>
              <a:t>VO</a:t>
            </a:r>
          </a:p>
          <a:p>
            <a:pPr>
              <a:spcAft>
                <a:spcPts val="200"/>
              </a:spcAft>
            </a:pPr>
            <a:r>
              <a:rPr sz="1800" b="0">
                <a:solidFill>
                  <a:srgbClr val="1E1B18"/>
                </a:solidFill>
                <a:latin typeface="Calibri"/>
              </a:rPr>
              <a:t>People sit in the shade and talk. Kids play. Someone combs through a friend's hair while the conversation wanders.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60920" y="777240"/>
            <a:ext cx="4526280" cy="58521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VISUAL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Several moving vignettes: kids playing with a hoop, two women chatting, an old man laughing.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ON-SCREEN TEXT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—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ANIMATION NOTES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Kids chase a hoop (run cycles); two women talk (mouths animate); an old man laughs (shoulders bounce).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2A2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600" b="1">
                <a:solidFill>
                  <a:srgbClr val="F6F1E8"/>
                </a:solidFill>
                <a:latin typeface="Calibri"/>
              </a:rPr>
              <a:t>AH 5.03</a:t>
            </a:r>
            <a:r>
              <a:rPr sz="1400" b="0">
                <a:solidFill>
                  <a:srgbClr val="D8CFC2"/>
                </a:solidFill>
                <a:latin typeface="Calibri"/>
              </a:rPr>
              <a:t>   CU   ·   6.0 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109728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spcAft>
                <a:spcPts val="200"/>
              </a:spcAft>
            </a:pPr>
            <a:r>
              <a:rPr sz="1300" b="0">
                <a:solidFill>
                  <a:srgbClr val="D8CFC2"/>
                </a:solidFill>
                <a:latin typeface="Calibri"/>
              </a:rPr>
              <a:t>Act 5 · Act 5: Beads and a Flute</a:t>
            </a:r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77240"/>
            <a:ext cx="6766560" cy="380619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4720590"/>
            <a:ext cx="6766560" cy="2011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B44A1E"/>
                </a:solidFill>
                <a:latin typeface="Calibri"/>
              </a:rPr>
              <a:t>VO</a:t>
            </a:r>
          </a:p>
          <a:p>
            <a:pPr>
              <a:spcAft>
                <a:spcPts val="200"/>
              </a:spcAft>
            </a:pPr>
            <a:r>
              <a:rPr sz="1800" b="0">
                <a:solidFill>
                  <a:srgbClr val="1E1B18"/>
                </a:solidFill>
                <a:latin typeface="Calibri"/>
              </a:rPr>
              <a:t>Someone is drilling tiny holes through small shells, to string them as a necklace.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60920" y="777240"/>
            <a:ext cx="4526280" cy="58521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VISUAL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Close-up hands with a stone awl drilling a shell; 3D shell beads.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ON-SCREEN TEXT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—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ANIMATION NOTES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Close on hands drilling a tiny shell with a stone awl, twisting back and forth; shell dust puffs.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2A2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600" b="1">
                <a:solidFill>
                  <a:srgbClr val="F6F1E8"/>
                </a:solidFill>
                <a:latin typeface="Calibri"/>
              </a:rPr>
              <a:t>AH 5.04</a:t>
            </a:r>
            <a:r>
              <a:rPr sz="1400" b="0">
                <a:solidFill>
                  <a:srgbClr val="D8CFC2"/>
                </a:solidFill>
                <a:latin typeface="Calibri"/>
              </a:rPr>
              <a:t>   MAP   ·   8.7 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109728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spcAft>
                <a:spcPts val="200"/>
              </a:spcAft>
            </a:pPr>
            <a:r>
              <a:rPr sz="1300" b="0">
                <a:solidFill>
                  <a:srgbClr val="D8CFC2"/>
                </a:solidFill>
                <a:latin typeface="Calibri"/>
              </a:rPr>
              <a:t>Act 5 · Act 5: Beads and a Flute</a:t>
            </a:r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77240"/>
            <a:ext cx="6766560" cy="380619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4720590"/>
            <a:ext cx="6766560" cy="2011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B44A1E"/>
                </a:solidFill>
                <a:latin typeface="Calibri"/>
              </a:rPr>
              <a:t>VO</a:t>
            </a:r>
          </a:p>
          <a:p>
            <a:pPr>
              <a:spcAft>
                <a:spcPts val="200"/>
              </a:spcAft>
            </a:pPr>
            <a:r>
              <a:rPr sz="1800" b="0">
                <a:solidFill>
                  <a:srgbClr val="1E1B18"/>
                </a:solidFill>
                <a:latin typeface="Calibri"/>
              </a:rPr>
              <a:t>We know people did this, because at Blombos Cave in South Africa, archaeologists found shell beads about seventy-five thousand years old.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60920" y="777240"/>
            <a:ext cx="4526280" cy="58521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VISUAL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Map of South Africa's southern coast; Blombos Cave pin; then a painted cave mouth above the sea.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ON-SCREEN TEXT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BLOMBOS CAVE · ~75,000 YEARS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ANIMATION NOTES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Map of the southern Cape; pin drops; dissolve to a painted cave mouth above the sea with waves rolling.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2A2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600" b="1">
                <a:solidFill>
                  <a:srgbClr val="F6F1E8"/>
                </a:solidFill>
                <a:latin typeface="Calibri"/>
              </a:rPr>
              <a:t>AH 5.05</a:t>
            </a:r>
            <a:r>
              <a:rPr sz="1400" b="0">
                <a:solidFill>
                  <a:srgbClr val="D8CFC2"/>
                </a:solidFill>
                <a:latin typeface="Calibri"/>
              </a:rPr>
              <a:t>   PROP3D   ·   9.8 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109728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spcAft>
                <a:spcPts val="200"/>
              </a:spcAft>
            </a:pPr>
            <a:r>
              <a:rPr sz="1300" b="0">
                <a:solidFill>
                  <a:srgbClr val="D8CFC2"/>
                </a:solidFill>
                <a:latin typeface="Calibri"/>
              </a:rPr>
              <a:t>Act 5 · Act 5: Beads and a Flute</a:t>
            </a:r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77240"/>
            <a:ext cx="6766560" cy="380619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4720590"/>
            <a:ext cx="6766560" cy="2011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B44A1E"/>
                </a:solidFill>
                <a:latin typeface="Calibri"/>
              </a:rPr>
              <a:t>VO</a:t>
            </a:r>
          </a:p>
          <a:p>
            <a:pPr>
              <a:spcAft>
                <a:spcPts val="200"/>
              </a:spcAft>
            </a:pPr>
            <a:r>
              <a:rPr sz="1800" b="0">
                <a:solidFill>
                  <a:srgbClr val="1E1B18"/>
                </a:solidFill>
                <a:latin typeface="Calibri"/>
              </a:rPr>
              <a:t>Dozens of tiny snail shells, each pierced and worn smooth where a string rubbed against it. Some were brought from river mouths kilometres away.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60920" y="777240"/>
            <a:ext cx="4526280" cy="58521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VISUAL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3D row of Nassarius shell beads rotates, wear marks highlighted.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ON-SCREEN TEXT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MADE TO BE WORN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ANIMATION NOTES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3D row of shell beads rotates; wear marks highlight with small circles.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2A2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600" b="1">
                <a:solidFill>
                  <a:srgbClr val="F6F1E8"/>
                </a:solidFill>
                <a:latin typeface="Calibri"/>
              </a:rPr>
              <a:t>AH 5.06</a:t>
            </a:r>
            <a:r>
              <a:rPr sz="1400" b="0">
                <a:solidFill>
                  <a:srgbClr val="D8CFC2"/>
                </a:solidFill>
                <a:latin typeface="Calibri"/>
              </a:rPr>
              <a:t>   CU   ·   6.0 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109728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spcAft>
                <a:spcPts val="200"/>
              </a:spcAft>
            </a:pPr>
            <a:r>
              <a:rPr sz="1300" b="0">
                <a:solidFill>
                  <a:srgbClr val="D8CFC2"/>
                </a:solidFill>
                <a:latin typeface="Calibri"/>
              </a:rPr>
              <a:t>Act 5 · Act 5: Beads and a Flute</a:t>
            </a:r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77240"/>
            <a:ext cx="6766560" cy="380619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4720590"/>
            <a:ext cx="6766560" cy="2011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B44A1E"/>
                </a:solidFill>
                <a:latin typeface="Calibri"/>
              </a:rPr>
              <a:t>VO</a:t>
            </a:r>
          </a:p>
          <a:p>
            <a:pPr>
              <a:spcAft>
                <a:spcPts val="200"/>
              </a:spcAft>
            </a:pPr>
            <a:r>
              <a:rPr sz="1800" b="0">
                <a:solidFill>
                  <a:srgbClr val="1E1B18"/>
                </a:solidFill>
                <a:latin typeface="Calibri"/>
              </a:rPr>
              <a:t>Gathered, carried home and drilled by hand. Not to eat. Just to look good.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60920" y="777240"/>
            <a:ext cx="4526280" cy="58521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VISUAL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A young woman ties the finished necklace on and smiles.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ON-SCREEN TEXT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—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ANIMATION NOTES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She ties the necklace on and smiles; beads catch the light.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2A2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600" b="1">
                <a:solidFill>
                  <a:srgbClr val="F6F1E8"/>
                </a:solidFill>
                <a:latin typeface="Calibri"/>
              </a:rPr>
              <a:t>AH 5.07</a:t>
            </a:r>
            <a:r>
              <a:rPr sz="1400" b="0">
                <a:solidFill>
                  <a:srgbClr val="D8CFC2"/>
                </a:solidFill>
                <a:latin typeface="Calibri"/>
              </a:rPr>
              <a:t>   MAP   ·   8.3 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109728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spcAft>
                <a:spcPts val="200"/>
              </a:spcAft>
            </a:pPr>
            <a:r>
              <a:rPr sz="1300" b="0">
                <a:solidFill>
                  <a:srgbClr val="D8CFC2"/>
                </a:solidFill>
                <a:latin typeface="Calibri"/>
              </a:rPr>
              <a:t>Act 5 · Act 5: Beads and a Flute</a:t>
            </a:r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77240"/>
            <a:ext cx="6766560" cy="380619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4720590"/>
            <a:ext cx="6766560" cy="2011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B44A1E"/>
                </a:solidFill>
                <a:latin typeface="Calibri"/>
              </a:rPr>
              <a:t>VO</a:t>
            </a:r>
          </a:p>
          <a:p>
            <a:pPr>
              <a:spcAft>
                <a:spcPts val="200"/>
              </a:spcAft>
            </a:pPr>
            <a:r>
              <a:rPr sz="1800" b="0">
                <a:solidFill>
                  <a:srgbClr val="1E1B18"/>
                </a:solidFill>
                <a:latin typeface="Calibri"/>
              </a:rPr>
              <a:t>And in 2008, in Hohle Fels cave in Germany, researchers pieced together a flute carved from a vulture's wing bone.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60920" y="777240"/>
            <a:ext cx="4526280" cy="58521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VISUAL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Map of Europe; a pin in south-west Germany; snowy Ice Age landscape plate.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ON-SCREEN TEXT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HOHLE FELS · 2008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ANIMATION NOTES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Map of Europe to snowy Ice Age plate; snow falls; pin on south-west Germany.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2A2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600" b="1">
                <a:solidFill>
                  <a:srgbClr val="F6F1E8"/>
                </a:solidFill>
                <a:latin typeface="Calibri"/>
              </a:rPr>
              <a:t>AH 5.08</a:t>
            </a:r>
            <a:r>
              <a:rPr sz="1400" b="0">
                <a:solidFill>
                  <a:srgbClr val="D8CFC2"/>
                </a:solidFill>
                <a:latin typeface="Calibri"/>
              </a:rPr>
              <a:t>   PROP3D   ·   5.3 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109728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spcAft>
                <a:spcPts val="200"/>
              </a:spcAft>
            </a:pPr>
            <a:r>
              <a:rPr sz="1300" b="0">
                <a:solidFill>
                  <a:srgbClr val="D8CFC2"/>
                </a:solidFill>
                <a:latin typeface="Calibri"/>
              </a:rPr>
              <a:t>Act 5 · Act 5: Beads and a Flute</a:t>
            </a:r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77240"/>
            <a:ext cx="6766560" cy="380619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4720590"/>
            <a:ext cx="6766560" cy="2011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B44A1E"/>
                </a:solidFill>
                <a:latin typeface="Calibri"/>
              </a:rPr>
              <a:t>VO</a:t>
            </a:r>
          </a:p>
          <a:p>
            <a:pPr>
              <a:spcAft>
                <a:spcPts val="200"/>
              </a:spcAft>
            </a:pPr>
            <a:r>
              <a:rPr sz="1800" b="0">
                <a:solidFill>
                  <a:srgbClr val="1E1B18"/>
                </a:solidFill>
                <a:latin typeface="Calibri"/>
              </a:rPr>
              <a:t>It's around forty thousand years old, and it has five finger holes.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60920" y="777240"/>
            <a:ext cx="4526280" cy="58521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VISUAL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3D bone flute rotates; the five holes glow one by one with a soft note each.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ON-SCREEN TEXT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~40,000 YEARS · 5 HOLES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ANIMATION NOTES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The bone flute rotates; its five holes glow one by one, each with a soft flute note.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2A2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600" b="1">
                <a:solidFill>
                  <a:srgbClr val="F6F1E8"/>
                </a:solidFill>
                <a:latin typeface="Calibri"/>
              </a:rPr>
              <a:t>AH 5.09</a:t>
            </a:r>
            <a:r>
              <a:rPr sz="1400" b="0">
                <a:solidFill>
                  <a:srgbClr val="D8CFC2"/>
                </a:solidFill>
                <a:latin typeface="Calibri"/>
              </a:rPr>
              <a:t>   CU   ·   7.5 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109728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spcAft>
                <a:spcPts val="200"/>
              </a:spcAft>
            </a:pPr>
            <a:r>
              <a:rPr sz="1300" b="0">
                <a:solidFill>
                  <a:srgbClr val="D8CFC2"/>
                </a:solidFill>
                <a:latin typeface="Calibri"/>
              </a:rPr>
              <a:t>Act 5 · Act 5: Beads and a Flute</a:t>
            </a:r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77240"/>
            <a:ext cx="6766560" cy="380619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4720590"/>
            <a:ext cx="6766560" cy="2011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B44A1E"/>
                </a:solidFill>
                <a:latin typeface="Calibri"/>
              </a:rPr>
              <a:t>VO</a:t>
            </a:r>
          </a:p>
          <a:p>
            <a:pPr>
              <a:spcAft>
                <a:spcPts val="200"/>
              </a:spcAft>
            </a:pPr>
            <a:r>
              <a:rPr sz="1800" b="0">
                <a:solidFill>
                  <a:srgbClr val="1E1B18"/>
                </a:solidFill>
                <a:latin typeface="Calibri"/>
              </a:rPr>
              <a:t>Someone in the Ice Age made an instrument. Someone else had the time to learn to play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60920" y="777240"/>
            <a:ext cx="4526280" cy="58521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VISUAL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Ice Age musician plays by a fire; others listen; breath visible in the cold.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ON-SCREEN TEXT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—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ANIMATION NOTES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Ice Age musician plays by the fire, fingers lifting; listeners sway; breath visible in the cold.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2A2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600" b="1">
                <a:solidFill>
                  <a:srgbClr val="F6F1E8"/>
                </a:solidFill>
                <a:latin typeface="Calibri"/>
              </a:rPr>
              <a:t>AH 5.10</a:t>
            </a:r>
            <a:r>
              <a:rPr sz="1400" b="0">
                <a:solidFill>
                  <a:srgbClr val="D8CFC2"/>
                </a:solidFill>
                <a:latin typeface="Calibri"/>
              </a:rPr>
              <a:t>   WIDE   ·   6.0 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109728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spcAft>
                <a:spcPts val="200"/>
              </a:spcAft>
            </a:pPr>
            <a:r>
              <a:rPr sz="1300" b="0">
                <a:solidFill>
                  <a:srgbClr val="D8CFC2"/>
                </a:solidFill>
                <a:latin typeface="Calibri"/>
              </a:rPr>
              <a:t>Act 5 · Act 5: Beads and a Flute</a:t>
            </a:r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77240"/>
            <a:ext cx="6766560" cy="380619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4720590"/>
            <a:ext cx="6766560" cy="2011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B44A1E"/>
                </a:solidFill>
                <a:latin typeface="Calibri"/>
              </a:rPr>
              <a:t>VO</a:t>
            </a:r>
          </a:p>
          <a:p>
            <a:pPr>
              <a:spcAft>
                <a:spcPts val="200"/>
              </a:spcAft>
            </a:pPr>
            <a:r>
              <a:rPr sz="1800" b="0">
                <a:solidFill>
                  <a:srgbClr val="1E1B18"/>
                </a:solidFill>
                <a:latin typeface="Calibri"/>
              </a:rPr>
              <a:t>Now think about what kept you alive here. No money. No police. No hospital.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60920" y="777240"/>
            <a:ext cx="4526280" cy="58521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VISUAL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Camp scene desaturates slightly; icons of money, a police badge and a hospital cross appear and get crossed out.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ON-SCREEN TEXT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NO MONEY · NO POLICE · NO HOSPITAL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ANIMATION NOTES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Camp desaturates; three icons appear and each is struck out with an ink X.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2A2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600" b="1">
                <a:solidFill>
                  <a:srgbClr val="F6F1E8"/>
                </a:solidFill>
                <a:latin typeface="Calibri"/>
              </a:rPr>
              <a:t>AH 5.11</a:t>
            </a:r>
            <a:r>
              <a:rPr sz="1400" b="0">
                <a:solidFill>
                  <a:srgbClr val="D8CFC2"/>
                </a:solidFill>
                <a:latin typeface="Calibri"/>
              </a:rPr>
              <a:t>   MED   ·   9.1 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109728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spcAft>
                <a:spcPts val="200"/>
              </a:spcAft>
            </a:pPr>
            <a:r>
              <a:rPr sz="1300" b="0">
                <a:solidFill>
                  <a:srgbClr val="D8CFC2"/>
                </a:solidFill>
                <a:latin typeface="Calibri"/>
              </a:rPr>
              <a:t>Act 5 · Act 5: Beads and a Flute</a:t>
            </a:r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77240"/>
            <a:ext cx="6766560" cy="380619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4720590"/>
            <a:ext cx="6766560" cy="2011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B44A1E"/>
                </a:solidFill>
                <a:latin typeface="Calibri"/>
              </a:rPr>
              <a:t>VO</a:t>
            </a:r>
          </a:p>
          <a:p>
            <a:pPr>
              <a:spcAft>
                <a:spcPts val="200"/>
              </a:spcAft>
            </a:pPr>
            <a:r>
              <a:rPr sz="1800" b="0">
                <a:solidFill>
                  <a:srgbClr val="1E1B18"/>
                </a:solidFill>
                <a:latin typeface="Calibri"/>
              </a:rPr>
              <a:t>If your hunt fails, or you break a leg and can't walk for a month, the only safety net is other people.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60920" y="777240"/>
            <a:ext cx="4526280" cy="58521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VISUAL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An injured man sits with his leg bound; others bring him food.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ON-SCREEN TEXT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—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ANIMATION NOTES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An injured man with a bound leg; someone walks up and hands him food; he nods.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2A2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600" b="1">
                <a:solidFill>
                  <a:srgbClr val="F6F1E8"/>
                </a:solidFill>
                <a:latin typeface="Calibri"/>
              </a:rPr>
              <a:t>AH 5.12</a:t>
            </a:r>
            <a:r>
              <a:rPr sz="1400" b="0">
                <a:solidFill>
                  <a:srgbClr val="D8CFC2"/>
                </a:solidFill>
                <a:latin typeface="Calibri"/>
              </a:rPr>
              <a:t>   CU   ·   6.0 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109728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spcAft>
                <a:spcPts val="200"/>
              </a:spcAft>
            </a:pPr>
            <a:r>
              <a:rPr sz="1300" b="0">
                <a:solidFill>
                  <a:srgbClr val="D8CFC2"/>
                </a:solidFill>
                <a:latin typeface="Calibri"/>
              </a:rPr>
              <a:t>Act 5 · Act 5: Beads and a Flute</a:t>
            </a:r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77240"/>
            <a:ext cx="6766560" cy="380619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4720590"/>
            <a:ext cx="6766560" cy="2011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B44A1E"/>
                </a:solidFill>
                <a:latin typeface="Calibri"/>
              </a:rPr>
              <a:t>VO</a:t>
            </a:r>
          </a:p>
          <a:p>
            <a:pPr>
              <a:spcAft>
                <a:spcPts val="200"/>
              </a:spcAft>
            </a:pPr>
            <a:r>
              <a:rPr sz="1800" b="0">
                <a:solidFill>
                  <a:srgbClr val="1E1B18"/>
                </a:solidFill>
                <a:latin typeface="Calibri"/>
              </a:rPr>
              <a:t>If people like you, they feed you. If they don't, nobody owes you anything.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60920" y="777240"/>
            <a:ext cx="4526280" cy="58521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VISUAL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Close on the food being handed over.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ON-SCREEN TEXT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—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ANIMATION NOTES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Close on the hand-over of food; warm light.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2A2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600" b="1">
                <a:solidFill>
                  <a:srgbClr val="F6F1E8"/>
                </a:solidFill>
                <a:latin typeface="Calibri"/>
              </a:rPr>
              <a:t>AH 5.13</a:t>
            </a:r>
            <a:r>
              <a:rPr sz="1400" b="0">
                <a:solidFill>
                  <a:srgbClr val="D8CFC2"/>
                </a:solidFill>
                <a:latin typeface="Calibri"/>
              </a:rPr>
              <a:t>   WIDE   ·   10.2 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109728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spcAft>
                <a:spcPts val="200"/>
              </a:spcAft>
            </a:pPr>
            <a:r>
              <a:rPr sz="1300" b="0">
                <a:solidFill>
                  <a:srgbClr val="D8CFC2"/>
                </a:solidFill>
                <a:latin typeface="Calibri"/>
              </a:rPr>
              <a:t>Act 5 · Act 5: Beads and a Flute</a:t>
            </a:r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77240"/>
            <a:ext cx="6766560" cy="380619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4720590"/>
            <a:ext cx="6766560" cy="2011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B44A1E"/>
                </a:solidFill>
                <a:latin typeface="Calibri"/>
              </a:rPr>
              <a:t>VO</a:t>
            </a:r>
          </a:p>
          <a:p>
            <a:pPr>
              <a:spcAft>
                <a:spcPts val="200"/>
              </a:spcAft>
            </a:pPr>
            <a:r>
              <a:rPr sz="1800" b="0">
                <a:solidFill>
                  <a:srgbClr val="1E1B18"/>
                </a:solidFill>
                <a:latin typeface="Calibri"/>
              </a:rPr>
              <a:t>So those slow afternoons of talking and joking weren't wasted. They were insurance. Friendships were your bank, your hospital and your pension, all at once.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60920" y="777240"/>
            <a:ext cx="4526280" cy="58521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VISUAL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Three labels attach to the circle of people: BANK, HOSPITAL, PENSION.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ON-SCREEN TEXT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FRIENDS = INSURANCE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ANIMATION NOTES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Circle of people; three labels (BANK, HOSPITAL, PENSION) attach with lines and pop in.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0"/>
            <a:ext cx="12191695" cy="1371600"/>
          </a:xfrm>
          <a:prstGeom prst="rect">
            <a:avLst/>
          </a:prstGeom>
          <a:solidFill>
            <a:srgbClr val="2A2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880360"/>
            <a:ext cx="1069848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3200" b="1">
                <a:solidFill>
                  <a:srgbClr val="F6F1E8"/>
                </a:solidFill>
                <a:latin typeface="Calibri"/>
              </a:rPr>
              <a:t>ACT 6 · ACT 6: FIRELIGHT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520440"/>
            <a:ext cx="1069848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600" b="0">
                <a:solidFill>
                  <a:srgbClr val="D8CFC2"/>
                </a:solidFill>
                <a:latin typeface="Calibri"/>
              </a:rPr>
              <a:t>8 frames · 0:59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2A2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600" b="1">
                <a:solidFill>
                  <a:srgbClr val="F6F1E8"/>
                </a:solidFill>
                <a:latin typeface="Calibri"/>
              </a:rPr>
              <a:t>AH 6.01</a:t>
            </a:r>
            <a:r>
              <a:rPr sz="1400" b="0">
                <a:solidFill>
                  <a:srgbClr val="D8CFC2"/>
                </a:solidFill>
                <a:latin typeface="Calibri"/>
              </a:rPr>
              <a:t>   WIDE   ·   5.7 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109728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spcAft>
                <a:spcPts val="200"/>
              </a:spcAft>
            </a:pPr>
            <a:r>
              <a:rPr sz="1300" b="0">
                <a:solidFill>
                  <a:srgbClr val="D8CFC2"/>
                </a:solidFill>
                <a:latin typeface="Calibri"/>
              </a:rPr>
              <a:t>Act 6 · Act 6: Firelight</a:t>
            </a:r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77240"/>
            <a:ext cx="6766560" cy="380619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4720590"/>
            <a:ext cx="6766560" cy="2011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B44A1E"/>
                </a:solidFill>
                <a:latin typeface="Calibri"/>
              </a:rPr>
              <a:t>VO</a:t>
            </a:r>
          </a:p>
          <a:p>
            <a:pPr>
              <a:spcAft>
                <a:spcPts val="200"/>
              </a:spcAft>
            </a:pPr>
            <a:r>
              <a:rPr sz="1800" b="0">
                <a:solidFill>
                  <a:srgbClr val="1E1B18"/>
                </a:solidFill>
                <a:latin typeface="Calibri"/>
              </a:rPr>
              <a:t>Then the sun goes down, and the best part of the day begins.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60920" y="777240"/>
            <a:ext cx="4526280" cy="58521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VISUAL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Time-lapse sunset over the Kalahari; the fire is built up; sparks rise.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ON-SCREEN TEXT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—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ANIMATION NOTES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Time-lapse sunset: sky colour shifts warm to deep blue; the fire is built up and sparks rise.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2A2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600" b="1">
                <a:solidFill>
                  <a:srgbClr val="F6F1E8"/>
                </a:solidFill>
                <a:latin typeface="Calibri"/>
              </a:rPr>
              <a:t>AH 6.02</a:t>
            </a:r>
            <a:r>
              <a:rPr sz="1400" b="0">
                <a:solidFill>
                  <a:srgbClr val="D8CFC2"/>
                </a:solidFill>
                <a:latin typeface="Calibri"/>
              </a:rPr>
              <a:t>   MED   ·   6.8 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109728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spcAft>
                <a:spcPts val="200"/>
              </a:spcAft>
            </a:pPr>
            <a:r>
              <a:rPr sz="1300" b="0">
                <a:solidFill>
                  <a:srgbClr val="D8CFC2"/>
                </a:solidFill>
                <a:latin typeface="Calibri"/>
              </a:rPr>
              <a:t>Act 6 · Act 6: Firelight</a:t>
            </a:r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77240"/>
            <a:ext cx="6766560" cy="380619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4720590"/>
            <a:ext cx="6766560" cy="2011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B44A1E"/>
                </a:solidFill>
                <a:latin typeface="Calibri"/>
              </a:rPr>
              <a:t>VO</a:t>
            </a:r>
          </a:p>
          <a:p>
            <a:pPr>
              <a:spcAft>
                <a:spcPts val="200"/>
              </a:spcAft>
            </a:pPr>
            <a:r>
              <a:rPr sz="1800" b="0">
                <a:solidFill>
                  <a:srgbClr val="1E1B18"/>
                </a:solidFill>
                <a:latin typeface="Calibri"/>
              </a:rPr>
              <a:t>In 2014, anthropologist Polly Wiessner published a study of how Ju/'hoan conversation changes after dark.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60920" y="777240"/>
            <a:ext cx="4526280" cy="58521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VISUAL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Researcher at a desk with old notebooks and a recorder; then the paper title card.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ON-SCREEN TEXT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POLLY WIESSNER · 2014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ANIMATION NOTES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Researcher at a desk with old notebooks and a tape recorder; the paper's title card slides in.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2A2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600" b="1">
                <a:solidFill>
                  <a:srgbClr val="F6F1E8"/>
                </a:solidFill>
                <a:latin typeface="Calibri"/>
              </a:rPr>
              <a:t>AH 6.03</a:t>
            </a:r>
            <a:r>
              <a:rPr sz="1400" b="0">
                <a:solidFill>
                  <a:srgbClr val="D8CFC2"/>
                </a:solidFill>
                <a:latin typeface="Calibri"/>
              </a:rPr>
              <a:t>   MED   ·   9.1 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109728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spcAft>
                <a:spcPts val="200"/>
              </a:spcAft>
            </a:pPr>
            <a:r>
              <a:rPr sz="1300" b="0">
                <a:solidFill>
                  <a:srgbClr val="D8CFC2"/>
                </a:solidFill>
                <a:latin typeface="Calibri"/>
              </a:rPr>
              <a:t>Act 6 · Act 6: Firelight</a:t>
            </a:r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77240"/>
            <a:ext cx="6766560" cy="380619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4720590"/>
            <a:ext cx="6766560" cy="2011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B44A1E"/>
                </a:solidFill>
                <a:latin typeface="Calibri"/>
              </a:rPr>
              <a:t>VO</a:t>
            </a:r>
          </a:p>
          <a:p>
            <a:pPr>
              <a:spcAft>
                <a:spcPts val="200"/>
              </a:spcAft>
            </a:pPr>
            <a:r>
              <a:rPr sz="1800" b="0">
                <a:solidFill>
                  <a:srgbClr val="1E1B18"/>
                </a:solidFill>
                <a:latin typeface="Calibri"/>
              </a:rPr>
              <a:t>She had notes and recordings gathered over decades, and she split them into two piles: talk by day, and talk by firelight.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60920" y="777240"/>
            <a:ext cx="4526280" cy="58521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VISUAL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Two piles of cards slide apart: a sun icon and a fire icon.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ON-SCREEN TEXT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DAY · NIGHT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ANIMATION NOTES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A pile of cards splits into two piles sliding apart under sun and fire icons.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2A2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600" b="1">
                <a:solidFill>
                  <a:srgbClr val="F6F1E8"/>
                </a:solidFill>
                <a:latin typeface="Calibri"/>
              </a:rPr>
              <a:t>AH 6.04</a:t>
            </a:r>
            <a:r>
              <a:rPr sz="1400" b="0">
                <a:solidFill>
                  <a:srgbClr val="D8CFC2"/>
                </a:solidFill>
                <a:latin typeface="Calibri"/>
              </a:rPr>
              <a:t>   CHART   ·   8.3 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109728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spcAft>
                <a:spcPts val="200"/>
              </a:spcAft>
            </a:pPr>
            <a:r>
              <a:rPr sz="1300" b="0">
                <a:solidFill>
                  <a:srgbClr val="D8CFC2"/>
                </a:solidFill>
                <a:latin typeface="Calibri"/>
              </a:rPr>
              <a:t>Act 6 · Act 6: Firelight</a:t>
            </a:r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77240"/>
            <a:ext cx="6766560" cy="380619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4720590"/>
            <a:ext cx="6766560" cy="2011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B44A1E"/>
                </a:solidFill>
                <a:latin typeface="Calibri"/>
              </a:rPr>
              <a:t>VO</a:t>
            </a:r>
          </a:p>
          <a:p>
            <a:pPr>
              <a:spcAft>
                <a:spcPts val="200"/>
              </a:spcAft>
            </a:pPr>
            <a:r>
              <a:rPr sz="1800" b="0">
                <a:solidFill>
                  <a:srgbClr val="1E1B18"/>
                </a:solidFill>
                <a:latin typeface="Calibri"/>
              </a:rPr>
              <a:t>Daytime talk was practical. Food, tracks, money and trade, and a lot of complaining and gossip about who wasn't sharing.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60920" y="777240"/>
            <a:ext cx="4526280" cy="58521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VISUAL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Daytime pie chart: work talk, complaints and gossip, jokes.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ON-SCREEN TEXT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DAY: WORK + GOSSIP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ANIMATION NOTES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Daytime pie draws on clockwise: work talk, complaints and gossip, jokes.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2A2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600" b="1">
                <a:solidFill>
                  <a:srgbClr val="F6F1E8"/>
                </a:solidFill>
                <a:latin typeface="Calibri"/>
              </a:rPr>
              <a:t>AH 6.05</a:t>
            </a:r>
            <a:r>
              <a:rPr sz="1400" b="0">
                <a:solidFill>
                  <a:srgbClr val="D8CFC2"/>
                </a:solidFill>
                <a:latin typeface="Calibri"/>
              </a:rPr>
              <a:t>   CHART   ·   6.0 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109728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spcAft>
                <a:spcPts val="200"/>
              </a:spcAft>
            </a:pPr>
            <a:r>
              <a:rPr sz="1300" b="0">
                <a:solidFill>
                  <a:srgbClr val="D8CFC2"/>
                </a:solidFill>
                <a:latin typeface="Calibri"/>
              </a:rPr>
              <a:t>Act 6 · Act 6: Firelight</a:t>
            </a:r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77240"/>
            <a:ext cx="6766560" cy="380619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4720590"/>
            <a:ext cx="6766560" cy="2011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B44A1E"/>
                </a:solidFill>
                <a:latin typeface="Calibri"/>
              </a:rPr>
              <a:t>VO</a:t>
            </a:r>
          </a:p>
          <a:p>
            <a:pPr>
              <a:spcAft>
                <a:spcPts val="200"/>
              </a:spcAft>
            </a:pPr>
            <a:r>
              <a:rPr sz="1800" b="0">
                <a:solidFill>
                  <a:srgbClr val="1E1B18"/>
                </a:solidFill>
                <a:latin typeface="Calibri"/>
              </a:rPr>
              <a:t>By the fire, it changed. In the long night conversations, eighty-one percent were stories.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60920" y="777240"/>
            <a:ext cx="4526280" cy="58521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VISUAL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Night pie fills to 81% in firelight orange.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ON-SCREEN TEXT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NIGHT: 81% STORIES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ANIMATION NOTES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Night pie fills to 81% in firelight orange; number counts up.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2A2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600" b="1">
                <a:solidFill>
                  <a:srgbClr val="F6F1E8"/>
                </a:solidFill>
                <a:latin typeface="Calibri"/>
              </a:rPr>
              <a:t>AH 6.06</a:t>
            </a:r>
            <a:r>
              <a:rPr sz="1400" b="0">
                <a:solidFill>
                  <a:srgbClr val="D8CFC2"/>
                </a:solidFill>
                <a:latin typeface="Calibri"/>
              </a:rPr>
              <a:t>   WIDE   ·   8.3 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109728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spcAft>
                <a:spcPts val="200"/>
              </a:spcAft>
            </a:pPr>
            <a:r>
              <a:rPr sz="1300" b="0">
                <a:solidFill>
                  <a:srgbClr val="D8CFC2"/>
                </a:solidFill>
                <a:latin typeface="Calibri"/>
              </a:rPr>
              <a:t>Act 6 · Act 6: Firelight</a:t>
            </a:r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77240"/>
            <a:ext cx="6766560" cy="380619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4720590"/>
            <a:ext cx="6766560" cy="2011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B44A1E"/>
                </a:solidFill>
                <a:latin typeface="Calibri"/>
              </a:rPr>
              <a:t>VO</a:t>
            </a:r>
          </a:p>
          <a:p>
            <a:pPr>
              <a:spcAft>
                <a:spcPts val="200"/>
              </a:spcAft>
            </a:pPr>
            <a:r>
              <a:rPr sz="1800" b="0">
                <a:solidFill>
                  <a:srgbClr val="1E1B18"/>
                </a:solidFill>
                <a:latin typeface="Calibri"/>
              </a:rPr>
              <a:t>Stories about ancestors, about how the world began, about people far away. Long jokes that ran deep into the night.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60920" y="777240"/>
            <a:ext cx="4526280" cy="58521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VISUAL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Firelit faces; shadows on the rocks behind form the story: ancestors, animals, stars.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ON-SCREEN TEXT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—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ANIMATION NOTES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Firelit faces; shadows on the rock wall behind act out the story (ancestors, animals, stars).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2A2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600" b="1">
                <a:solidFill>
                  <a:srgbClr val="F6F1E8"/>
                </a:solidFill>
                <a:latin typeface="Calibri"/>
              </a:rPr>
              <a:t>AH 6.07</a:t>
            </a:r>
            <a:r>
              <a:rPr sz="1400" b="0">
                <a:solidFill>
                  <a:srgbClr val="D8CFC2"/>
                </a:solidFill>
                <a:latin typeface="Calibri"/>
              </a:rPr>
              <a:t>   CU   ·   9.1 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109728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spcAft>
                <a:spcPts val="200"/>
              </a:spcAft>
            </a:pPr>
            <a:r>
              <a:rPr sz="1300" b="0">
                <a:solidFill>
                  <a:srgbClr val="D8CFC2"/>
                </a:solidFill>
                <a:latin typeface="Calibri"/>
              </a:rPr>
              <a:t>Act 6 · Act 6: Firelight</a:t>
            </a:r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77240"/>
            <a:ext cx="6766560" cy="380619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4720590"/>
            <a:ext cx="6766560" cy="2011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B44A1E"/>
                </a:solidFill>
                <a:latin typeface="Calibri"/>
              </a:rPr>
              <a:t>VO</a:t>
            </a:r>
          </a:p>
          <a:p>
            <a:pPr>
              <a:spcAft>
                <a:spcPts val="200"/>
              </a:spcAft>
            </a:pPr>
            <a:r>
              <a:rPr sz="1800" b="0">
                <a:solidFill>
                  <a:srgbClr val="1E1B18"/>
                </a:solidFill>
                <a:latin typeface="Calibri"/>
              </a:rPr>
              <a:t>Wiessner argued that these firelit hours helped build what makes us human: shared memory, imagination and trust in people beyond the camp.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60920" y="777240"/>
            <a:ext cx="4526280" cy="58521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VISUAL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Embers rise into the stars, forming faint constellations.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ON-SCREEN TEXT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WHERE CULTURE GREW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ANIMATION NOTES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Embers rise into the sky and join into faint constellations; camera tilts up with them.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2A2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600" b="1">
                <a:solidFill>
                  <a:srgbClr val="F6F1E8"/>
                </a:solidFill>
                <a:latin typeface="Calibri"/>
              </a:rPr>
              <a:t>AH 6.08</a:t>
            </a:r>
            <a:r>
              <a:rPr sz="1400" b="0">
                <a:solidFill>
                  <a:srgbClr val="D8CFC2"/>
                </a:solidFill>
                <a:latin typeface="Calibri"/>
              </a:rPr>
              <a:t>   CU   ·   5.7 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109728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spcAft>
                <a:spcPts val="200"/>
              </a:spcAft>
            </a:pPr>
            <a:r>
              <a:rPr sz="1300" b="0">
                <a:solidFill>
                  <a:srgbClr val="D8CFC2"/>
                </a:solidFill>
                <a:latin typeface="Calibri"/>
              </a:rPr>
              <a:t>Act 6 · Act 6: Firelight</a:t>
            </a:r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77240"/>
            <a:ext cx="6766560" cy="380619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4720590"/>
            <a:ext cx="6766560" cy="2011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B44A1E"/>
                </a:solidFill>
                <a:latin typeface="Calibri"/>
              </a:rPr>
              <a:t>VO</a:t>
            </a:r>
          </a:p>
          <a:p>
            <a:pPr>
              <a:spcAft>
                <a:spcPts val="200"/>
              </a:spcAft>
            </a:pPr>
            <a:r>
              <a:rPr sz="1800" b="0">
                <a:solidFill>
                  <a:srgbClr val="1E1B18"/>
                </a:solidFill>
                <a:latin typeface="Calibri"/>
              </a:rPr>
              <a:t>Not in the middle of the work, but in the calm after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60920" y="777240"/>
            <a:ext cx="4526280" cy="58521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VISUAL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Slow push into the fire.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ON-SCREEN TEXT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—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ANIMATION NOTES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Slow push into the fire; crackle SFX up.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0"/>
            <a:ext cx="12191695" cy="1371600"/>
          </a:xfrm>
          <a:prstGeom prst="rect">
            <a:avLst/>
          </a:prstGeom>
          <a:solidFill>
            <a:srgbClr val="2A2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880360"/>
            <a:ext cx="1069848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3200" b="1">
                <a:solidFill>
                  <a:srgbClr val="F6F1E8"/>
                </a:solidFill>
                <a:latin typeface="Calibri"/>
              </a:rPr>
              <a:t>ACT 7 · ACT 7: TWO SLEEPS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520440"/>
            <a:ext cx="1069848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600" b="0">
                <a:solidFill>
                  <a:srgbClr val="D8CFC2"/>
                </a:solidFill>
                <a:latin typeface="Calibri"/>
              </a:rPr>
              <a:t>6 frames · 0:49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2A2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600" b="1">
                <a:solidFill>
                  <a:srgbClr val="F6F1E8"/>
                </a:solidFill>
                <a:latin typeface="Calibri"/>
              </a:rPr>
              <a:t>AH 7.01</a:t>
            </a:r>
            <a:r>
              <a:rPr sz="1400" b="0">
                <a:solidFill>
                  <a:srgbClr val="D8CFC2"/>
                </a:solidFill>
                <a:latin typeface="Calibri"/>
              </a:rPr>
              <a:t>   WIDE   ·   6.0 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109728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spcAft>
                <a:spcPts val="200"/>
              </a:spcAft>
            </a:pPr>
            <a:r>
              <a:rPr sz="1300" b="0">
                <a:solidFill>
                  <a:srgbClr val="D8CFC2"/>
                </a:solidFill>
                <a:latin typeface="Calibri"/>
              </a:rPr>
              <a:t>Act 7 · Act 7: Two Sleeps</a:t>
            </a:r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77240"/>
            <a:ext cx="6766560" cy="380619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4720590"/>
            <a:ext cx="6766560" cy="2011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B44A1E"/>
                </a:solidFill>
                <a:latin typeface="Calibri"/>
              </a:rPr>
              <a:t>VO</a:t>
            </a:r>
          </a:p>
          <a:p>
            <a:pPr>
              <a:spcAft>
                <a:spcPts val="200"/>
              </a:spcAft>
            </a:pPr>
            <a:r>
              <a:rPr sz="1800" b="0">
                <a:solidFill>
                  <a:srgbClr val="1E1B18"/>
                </a:solidFill>
                <a:latin typeface="Calibri"/>
              </a:rPr>
              <a:t>When the fire burns low, people sleep. But maybe not the way you do.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60920" y="777240"/>
            <a:ext cx="4526280" cy="58521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VISUAL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Moonlit camp; figures asleep under hides; embers glow.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ON-SCREEN TEXT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—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ANIMATION NOTES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Moonlit camp; sleepers breathe; embers glow and fade.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2A2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600" b="1">
                <a:solidFill>
                  <a:srgbClr val="F6F1E8"/>
                </a:solidFill>
                <a:latin typeface="Calibri"/>
              </a:rPr>
              <a:t>AH 7.02</a:t>
            </a:r>
            <a:r>
              <a:rPr sz="1400" b="0">
                <a:solidFill>
                  <a:srgbClr val="D8CFC2"/>
                </a:solidFill>
                <a:latin typeface="Calibri"/>
              </a:rPr>
              <a:t>   MED   ·   9.8 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109728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spcAft>
                <a:spcPts val="200"/>
              </a:spcAft>
            </a:pPr>
            <a:r>
              <a:rPr sz="1300" b="0">
                <a:solidFill>
                  <a:srgbClr val="D8CFC2"/>
                </a:solidFill>
                <a:latin typeface="Calibri"/>
              </a:rPr>
              <a:t>Act 7 · Act 7: Two Sleeps</a:t>
            </a:r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77240"/>
            <a:ext cx="6766560" cy="380619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4720590"/>
            <a:ext cx="6766560" cy="2011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B44A1E"/>
                </a:solidFill>
                <a:latin typeface="Calibri"/>
              </a:rPr>
              <a:t>VO</a:t>
            </a:r>
          </a:p>
          <a:p>
            <a:pPr>
              <a:spcAft>
                <a:spcPts val="200"/>
              </a:spcAft>
            </a:pPr>
            <a:r>
              <a:rPr sz="1800" b="0">
                <a:solidFill>
                  <a:srgbClr val="1E1B18"/>
                </a:solidFill>
                <a:latin typeface="Calibri"/>
              </a:rPr>
              <a:t>Historian Roger Ekirch found hundreds of old European records that mention a first sleep and a second sleep, with a waking hour in between.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60920" y="777240"/>
            <a:ext cx="4526280" cy="58521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VISUAL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Old parchment documents with highlighted phrases 'first sleep' and 'second sleep'; candlelight.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ON-SCREEN TEXT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'FIRST SLEEP' · 'SECOND SLEEP'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ANIMATION NOTES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Candlelit parchment; the phrases highlight as if underlined by hand.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2A2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600" b="1">
                <a:solidFill>
                  <a:srgbClr val="F6F1E8"/>
                </a:solidFill>
                <a:latin typeface="Calibri"/>
              </a:rPr>
              <a:t>AH 7.03</a:t>
            </a:r>
            <a:r>
              <a:rPr sz="1400" b="0">
                <a:solidFill>
                  <a:srgbClr val="D8CFC2"/>
                </a:solidFill>
                <a:latin typeface="Calibri"/>
              </a:rPr>
              <a:t>   MED   ·   6.4 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109728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spcAft>
                <a:spcPts val="200"/>
              </a:spcAft>
            </a:pPr>
            <a:r>
              <a:rPr sz="1300" b="0">
                <a:solidFill>
                  <a:srgbClr val="D8CFC2"/>
                </a:solidFill>
                <a:latin typeface="Calibri"/>
              </a:rPr>
              <a:t>Act 7 · Act 7: Two Sleeps</a:t>
            </a:r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77240"/>
            <a:ext cx="6766560" cy="380619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4720590"/>
            <a:ext cx="6766560" cy="2011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B44A1E"/>
                </a:solidFill>
                <a:latin typeface="Calibri"/>
              </a:rPr>
              <a:t>VO</a:t>
            </a:r>
          </a:p>
          <a:p>
            <a:pPr>
              <a:spcAft>
                <a:spcPts val="200"/>
              </a:spcAft>
            </a:pPr>
            <a:r>
              <a:rPr sz="1800" b="0">
                <a:solidFill>
                  <a:srgbClr val="1E1B18"/>
                </a:solidFill>
                <a:latin typeface="Calibri"/>
              </a:rPr>
              <a:t>People would wake around midnight, lie quietly, think, pray or talk, and then sleep again.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60920" y="777240"/>
            <a:ext cx="4526280" cy="58521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VISUAL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A medieval couple wakes by candlelight and talks softly, then lies back down.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ON-SCREEN TEXT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—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ANIMATION NOTES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A medieval couple wakes by candle, talks softly, then lies back down; the candle flickers.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2A2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600" b="1">
                <a:solidFill>
                  <a:srgbClr val="F6F1E8"/>
                </a:solidFill>
                <a:latin typeface="Calibri"/>
              </a:rPr>
              <a:t>AH 7.04</a:t>
            </a:r>
            <a:r>
              <a:rPr sz="1400" b="0">
                <a:solidFill>
                  <a:srgbClr val="D8CFC2"/>
                </a:solidFill>
                <a:latin typeface="Calibri"/>
              </a:rPr>
              <a:t>   CHART   ·   9.1 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109728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spcAft>
                <a:spcPts val="200"/>
              </a:spcAft>
            </a:pPr>
            <a:r>
              <a:rPr sz="1300" b="0">
                <a:solidFill>
                  <a:srgbClr val="D8CFC2"/>
                </a:solidFill>
                <a:latin typeface="Calibri"/>
              </a:rPr>
              <a:t>Act 7 · Act 7: Two Sleeps</a:t>
            </a:r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77240"/>
            <a:ext cx="6766560" cy="380619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4720590"/>
            <a:ext cx="6766560" cy="2011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B44A1E"/>
                </a:solidFill>
                <a:latin typeface="Calibri"/>
              </a:rPr>
              <a:t>VO</a:t>
            </a:r>
          </a:p>
          <a:p>
            <a:pPr>
              <a:spcAft>
                <a:spcPts val="200"/>
              </a:spcAft>
            </a:pPr>
            <a:r>
              <a:rPr sz="1800" b="0">
                <a:solidFill>
                  <a:srgbClr val="1E1B18"/>
                </a:solidFill>
                <a:latin typeface="Calibri"/>
              </a:rPr>
              <a:t>And when a 1990s experiment kept volunteers in long winter nights with no artificial light, many slipped into the same split pattern.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60920" y="777240"/>
            <a:ext cx="4526280" cy="58521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VISUAL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Two sleep blocks on a night timeline with a gap in the middle.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ON-SCREEN TEXT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SLEEP · AWAKE · SLEEP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ANIMATION NOTES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A night timeline draws left to right: sleep block, gap, sleep block.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2A2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600" b="1">
                <a:solidFill>
                  <a:srgbClr val="F6F1E8"/>
                </a:solidFill>
                <a:latin typeface="Calibri"/>
              </a:rPr>
              <a:t>AH 7.05</a:t>
            </a:r>
            <a:r>
              <a:rPr sz="1400" b="0">
                <a:solidFill>
                  <a:srgbClr val="D8CFC2"/>
                </a:solidFill>
                <a:latin typeface="Calibri"/>
              </a:rPr>
              <a:t>   CARD   ·   8.7 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109728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spcAft>
                <a:spcPts val="200"/>
              </a:spcAft>
            </a:pPr>
            <a:r>
              <a:rPr sz="1300" b="0">
                <a:solidFill>
                  <a:srgbClr val="D8CFC2"/>
                </a:solidFill>
                <a:latin typeface="Calibri"/>
              </a:rPr>
              <a:t>Act 7 · Act 7: Two Sleeps</a:t>
            </a:r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77240"/>
            <a:ext cx="6766560" cy="380619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4720590"/>
            <a:ext cx="6766560" cy="2011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B44A1E"/>
                </a:solidFill>
                <a:latin typeface="Calibri"/>
              </a:rPr>
              <a:t>VO</a:t>
            </a:r>
          </a:p>
          <a:p>
            <a:pPr>
              <a:spcAft>
                <a:spcPts val="200"/>
              </a:spcAft>
            </a:pPr>
            <a:r>
              <a:rPr sz="1800" b="0">
                <a:solidFill>
                  <a:srgbClr val="1E1B18"/>
                </a:solidFill>
                <a:latin typeface="Calibri"/>
              </a:rPr>
              <a:t>Not every study agrees. When researchers tracked sleep among the Hadza, the San and the Tsimane, most slept in one block.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60920" y="777240"/>
            <a:ext cx="4526280" cy="58521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VISUAL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Card with three group names and a single solid sleep bar.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ON-SCREEN TEXT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THE DEBATE IS OPEN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ANIMATION NOTES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A card with three group names slides in; a single solid sleep bar draws under it.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2A2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600" b="1">
                <a:solidFill>
                  <a:srgbClr val="F6F1E8"/>
                </a:solidFill>
                <a:latin typeface="Calibri"/>
              </a:rPr>
              <a:t>AH 7.06</a:t>
            </a:r>
            <a:r>
              <a:rPr sz="1400" b="0">
                <a:solidFill>
                  <a:srgbClr val="D8CFC2"/>
                </a:solidFill>
                <a:latin typeface="Calibri"/>
              </a:rPr>
              <a:t>   CU   ·   9.8 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109728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spcAft>
                <a:spcPts val="200"/>
              </a:spcAft>
            </a:pPr>
            <a:r>
              <a:rPr sz="1300" b="0">
                <a:solidFill>
                  <a:srgbClr val="D8CFC2"/>
                </a:solidFill>
                <a:latin typeface="Calibri"/>
              </a:rPr>
              <a:t>Act 7 · Act 7: Two Sleeps</a:t>
            </a:r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77240"/>
            <a:ext cx="6766560" cy="380619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4720590"/>
            <a:ext cx="6766560" cy="2011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B44A1E"/>
                </a:solidFill>
                <a:latin typeface="Calibri"/>
              </a:rPr>
              <a:t>VO</a:t>
            </a:r>
          </a:p>
          <a:p>
            <a:pPr>
              <a:spcAft>
                <a:spcPts val="200"/>
              </a:spcAft>
            </a:pPr>
            <a:r>
              <a:rPr sz="1800" b="0">
                <a:solidFill>
                  <a:srgbClr val="1E1B18"/>
                </a:solidFill>
                <a:latin typeface="Calibri"/>
              </a:rPr>
              <a:t>So if you wake at two in the morning, it may not be a disorder. Your body may just be doing something very old.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60920" y="777240"/>
            <a:ext cx="4526280" cy="58521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VISUAL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Modern bedroom: phone shows 2:00; the figure lies calmly instead of panicking.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ON-SCREEN TEXT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2:00 AM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ANIMATION NOTES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Modern bedroom; phone glows 2:00; he lies calmly, breathing; no panic.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0"/>
            <a:ext cx="12191695" cy="1371600"/>
          </a:xfrm>
          <a:prstGeom prst="rect">
            <a:avLst/>
          </a:prstGeom>
          <a:solidFill>
            <a:srgbClr val="2A2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880360"/>
            <a:ext cx="1069848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3200" b="1">
                <a:solidFill>
                  <a:srgbClr val="F6F1E8"/>
                </a:solidFill>
                <a:latin typeface="Calibri"/>
              </a:rPr>
              <a:t>ACT 8 · ACT 8: THE TRAP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520440"/>
            <a:ext cx="1069848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600" b="0">
                <a:solidFill>
                  <a:srgbClr val="D8CFC2"/>
                </a:solidFill>
                <a:latin typeface="Calibri"/>
              </a:rPr>
              <a:t>10 frames · 1:26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2A2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600" b="1">
                <a:solidFill>
                  <a:srgbClr val="F6F1E8"/>
                </a:solidFill>
                <a:latin typeface="Calibri"/>
              </a:rPr>
              <a:t>AH 8.01</a:t>
            </a:r>
            <a:r>
              <a:rPr sz="1400" b="0">
                <a:solidFill>
                  <a:srgbClr val="D8CFC2"/>
                </a:solidFill>
                <a:latin typeface="Calibri"/>
              </a:rPr>
              <a:t>   WIDE   ·   8.7 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109728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spcAft>
                <a:spcPts val="200"/>
              </a:spcAft>
            </a:pPr>
            <a:r>
              <a:rPr sz="1300" b="0">
                <a:solidFill>
                  <a:srgbClr val="D8CFC2"/>
                </a:solidFill>
                <a:latin typeface="Calibri"/>
              </a:rPr>
              <a:t>Act 8 · Act 8: The Trap</a:t>
            </a:r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77240"/>
            <a:ext cx="6766560" cy="380619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4720590"/>
            <a:ext cx="6766560" cy="2011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B44A1E"/>
                </a:solidFill>
                <a:latin typeface="Calibri"/>
              </a:rPr>
              <a:t>VO</a:t>
            </a:r>
          </a:p>
          <a:p>
            <a:pPr>
              <a:spcAft>
                <a:spcPts val="200"/>
              </a:spcAft>
            </a:pPr>
            <a:r>
              <a:rPr sz="1800" b="0">
                <a:solidFill>
                  <a:srgbClr val="1E1B18"/>
                </a:solidFill>
                <a:latin typeface="Calibri"/>
              </a:rPr>
              <a:t>That was the human rhythm for a very long time. Food in the morning, people in the afternoon, stories at night.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60920" y="777240"/>
            <a:ext cx="4526280" cy="58521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VISUAL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Montage of the three earlier moments across one painted panorama; the hours clock is mostly free.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ON-SCREEN TEXT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—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ANIMATION NOTES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A long panorama of the three earlier moments; camera pans across it; the hours clock is mostly free.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2A2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600" b="1">
                <a:solidFill>
                  <a:srgbClr val="F6F1E8"/>
                </a:solidFill>
                <a:latin typeface="Calibri"/>
              </a:rPr>
              <a:t>AH 8.02</a:t>
            </a:r>
            <a:r>
              <a:rPr sz="1400" b="0">
                <a:solidFill>
                  <a:srgbClr val="D8CFC2"/>
                </a:solidFill>
                <a:latin typeface="Calibri"/>
              </a:rPr>
              <a:t>   MAP   ·   7.5 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109728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spcAft>
                <a:spcPts val="200"/>
              </a:spcAft>
            </a:pPr>
            <a:r>
              <a:rPr sz="1300" b="0">
                <a:solidFill>
                  <a:srgbClr val="D8CFC2"/>
                </a:solidFill>
                <a:latin typeface="Calibri"/>
              </a:rPr>
              <a:t>Act 8 · Act 8: The Trap</a:t>
            </a:r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77240"/>
            <a:ext cx="6766560" cy="380619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4720590"/>
            <a:ext cx="6766560" cy="2011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B44A1E"/>
                </a:solidFill>
                <a:latin typeface="Calibri"/>
              </a:rPr>
              <a:t>VO</a:t>
            </a:r>
          </a:p>
          <a:p>
            <a:pPr>
              <a:spcAft>
                <a:spcPts val="200"/>
              </a:spcAft>
            </a:pPr>
            <a:r>
              <a:rPr sz="1800" b="0">
                <a:solidFill>
                  <a:srgbClr val="1E1B18"/>
                </a:solidFill>
                <a:latin typeface="Calibri"/>
              </a:rPr>
              <a:t>Then, roughly twelve thousand years ago, in the Fertile Crescent, people began planting wild grains and keeping animals.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60920" y="777240"/>
            <a:ext cx="4526280" cy="58521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VISUAL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Map of the Fertile Crescent arc lighting up green from the Levant to the Tigris and Euphrates.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ON-SCREEN TEXT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THE FERTILE CRESCENT · ~12,000 YEARS AGO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ANIMATION NOTES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The crescent arc lights green from the Levant to the Tigris and Euphrates.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2A2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600" b="1">
                <a:solidFill>
                  <a:srgbClr val="F6F1E8"/>
                </a:solidFill>
                <a:latin typeface="Calibri"/>
              </a:rPr>
              <a:t>AH 8.03</a:t>
            </a:r>
            <a:r>
              <a:rPr sz="1400" b="0">
                <a:solidFill>
                  <a:srgbClr val="D8CFC2"/>
                </a:solidFill>
                <a:latin typeface="Calibri"/>
              </a:rPr>
              <a:t>   MED   ·   7.9 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109728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spcAft>
                <a:spcPts val="200"/>
              </a:spcAft>
            </a:pPr>
            <a:r>
              <a:rPr sz="1300" b="0">
                <a:solidFill>
                  <a:srgbClr val="D8CFC2"/>
                </a:solidFill>
                <a:latin typeface="Calibri"/>
              </a:rPr>
              <a:t>Act 8 · Act 8: The Trap</a:t>
            </a:r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77240"/>
            <a:ext cx="6766560" cy="380619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4720590"/>
            <a:ext cx="6766560" cy="2011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B44A1E"/>
                </a:solidFill>
                <a:latin typeface="Calibri"/>
              </a:rPr>
              <a:t>VO</a:t>
            </a:r>
          </a:p>
          <a:p>
            <a:pPr>
              <a:spcAft>
                <a:spcPts val="200"/>
              </a:spcAft>
            </a:pPr>
            <a:r>
              <a:rPr sz="1800" b="0">
                <a:solidFill>
                  <a:srgbClr val="1E1B18"/>
                </a:solidFill>
                <a:latin typeface="Calibri"/>
              </a:rPr>
              <a:t>On paper, it looked like an upgrade. More food. More control. No more tracking an antelope across the plain.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60920" y="777240"/>
            <a:ext cx="4526280" cy="58521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VISUAL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First farmer scatters seed; neat field rows appear; a pen of goats.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ON-SCREEN TEXT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—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ANIMATION NOTES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First farmer scatters seed (arm sweep); field rows draw in behind; goats in a pen.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2A2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600" b="1">
                <a:solidFill>
                  <a:srgbClr val="F6F1E8"/>
                </a:solidFill>
                <a:latin typeface="Calibri"/>
              </a:rPr>
              <a:t>AH 8.04</a:t>
            </a:r>
            <a:r>
              <a:rPr sz="1400" b="0">
                <a:solidFill>
                  <a:srgbClr val="D8CFC2"/>
                </a:solidFill>
                <a:latin typeface="Calibri"/>
              </a:rPr>
              <a:t>   CHART   ·   11.3 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109728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spcAft>
                <a:spcPts val="200"/>
              </a:spcAft>
            </a:pPr>
            <a:r>
              <a:rPr sz="1300" b="0">
                <a:solidFill>
                  <a:srgbClr val="D8CFC2"/>
                </a:solidFill>
                <a:latin typeface="Calibri"/>
              </a:rPr>
              <a:t>Act 8 · Act 8: The Trap</a:t>
            </a:r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77240"/>
            <a:ext cx="6766560" cy="380619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4720590"/>
            <a:ext cx="6766560" cy="2011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B44A1E"/>
                </a:solidFill>
                <a:latin typeface="Calibri"/>
              </a:rPr>
              <a:t>VO</a:t>
            </a:r>
          </a:p>
          <a:p>
            <a:pPr>
              <a:spcAft>
                <a:spcPts val="200"/>
              </a:spcAft>
            </a:pPr>
            <a:r>
              <a:rPr sz="1800" b="0">
                <a:solidFill>
                  <a:srgbClr val="1E1B18"/>
                </a:solidFill>
                <a:latin typeface="Calibri"/>
              </a:rPr>
              <a:t>But it set off a loop. More food meant more children survived. More people needed more food. More food meant more fields, and more fields meant more work.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60920" y="777240"/>
            <a:ext cx="4526280" cy="58521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VISUAL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Circular diagram, each arrow lighting as spoken: FOOD → PEOPLE → FIELDS → WORK → FOOD.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ON-SCREEN TEXT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THE FARMING LOOP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ANIMATION NOTES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The loop's arrows light one after another as each word is said, then spin faster.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2A2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600" b="1">
                <a:solidFill>
                  <a:srgbClr val="F6F1E8"/>
                </a:solidFill>
                <a:latin typeface="Calibri"/>
              </a:rPr>
              <a:t>AH 8.05</a:t>
            </a:r>
            <a:r>
              <a:rPr sz="1400" b="0">
                <a:solidFill>
                  <a:srgbClr val="D8CFC2"/>
                </a:solidFill>
                <a:latin typeface="Calibri"/>
              </a:rPr>
              <a:t>   CU   ·   8.7 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109728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spcAft>
                <a:spcPts val="200"/>
              </a:spcAft>
            </a:pPr>
            <a:r>
              <a:rPr sz="1300" b="0">
                <a:solidFill>
                  <a:srgbClr val="D8CFC2"/>
                </a:solidFill>
                <a:latin typeface="Calibri"/>
              </a:rPr>
              <a:t>Act 8 · Act 8: The Trap</a:t>
            </a:r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77240"/>
            <a:ext cx="6766560" cy="380619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4720590"/>
            <a:ext cx="6766560" cy="2011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B44A1E"/>
                </a:solidFill>
                <a:latin typeface="Calibri"/>
              </a:rPr>
              <a:t>VO</a:t>
            </a:r>
          </a:p>
          <a:p>
            <a:pPr>
              <a:spcAft>
                <a:spcPts val="200"/>
              </a:spcAft>
            </a:pPr>
            <a:r>
              <a:rPr sz="1800" b="0">
                <a:solidFill>
                  <a:srgbClr val="1E1B18"/>
                </a:solidFill>
                <a:latin typeface="Calibri"/>
              </a:rPr>
              <a:t>And then the door shut. Once a village grew too big to live off wild food, there was no going back.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60920" y="777240"/>
            <a:ext cx="4526280" cy="58521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VISUAL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A wooden gate swings shut on the field; the forest behind it fades.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ON-SCREEN TEXT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NO WAY BACK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ANIMATION NOTES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A wooden gate swings shut (creak + thud); the forest behind it fades out.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2A2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600" b="1">
                <a:solidFill>
                  <a:srgbClr val="F6F1E8"/>
                </a:solidFill>
                <a:latin typeface="Calibri"/>
              </a:rPr>
              <a:t>AH 8.06</a:t>
            </a:r>
            <a:r>
              <a:rPr sz="1400" b="0">
                <a:solidFill>
                  <a:srgbClr val="D8CFC2"/>
                </a:solidFill>
                <a:latin typeface="Calibri"/>
              </a:rPr>
              <a:t>   MED   ·   5.3 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109728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spcAft>
                <a:spcPts val="200"/>
              </a:spcAft>
            </a:pPr>
            <a:r>
              <a:rPr sz="1300" b="0">
                <a:solidFill>
                  <a:srgbClr val="D8CFC2"/>
                </a:solidFill>
                <a:latin typeface="Calibri"/>
              </a:rPr>
              <a:t>Act 8 · Act 8: The Trap</a:t>
            </a:r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77240"/>
            <a:ext cx="6766560" cy="380619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4720590"/>
            <a:ext cx="6766560" cy="2011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B44A1E"/>
                </a:solidFill>
                <a:latin typeface="Calibri"/>
              </a:rPr>
              <a:t>VO</a:t>
            </a:r>
          </a:p>
          <a:p>
            <a:pPr>
              <a:spcAft>
                <a:spcPts val="200"/>
              </a:spcAft>
            </a:pPr>
            <a:r>
              <a:rPr sz="1800" b="0">
                <a:solidFill>
                  <a:srgbClr val="1E1B18"/>
                </a:solidFill>
                <a:latin typeface="Calibri"/>
              </a:rPr>
              <a:t>Ploughing, sowing, weeding, harvesting, grinding, storing and guarding. Every season, every year.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60920" y="777240"/>
            <a:ext cx="4526280" cy="58521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VISUAL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Rapid cycle of farming tasks with the same bent figure; 3D plough and grain sacks; ambient wind.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ON-SCREEN TEXT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—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ANIMATION NOTES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Fast cycle of tasks with the same bent figure: plough, sow, weed, harvest, grind; wind ambience.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2A2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600" b="1">
                <a:solidFill>
                  <a:srgbClr val="F6F1E8"/>
                </a:solidFill>
                <a:latin typeface="Calibri"/>
              </a:rPr>
              <a:t>AH 8.07</a:t>
            </a:r>
            <a:r>
              <a:rPr sz="1400" b="0">
                <a:solidFill>
                  <a:srgbClr val="D8CFC2"/>
                </a:solidFill>
                <a:latin typeface="Calibri"/>
              </a:rPr>
              <a:t>   CU   ·   7.5 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109728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spcAft>
                <a:spcPts val="200"/>
              </a:spcAft>
            </a:pPr>
            <a:r>
              <a:rPr sz="1300" b="0">
                <a:solidFill>
                  <a:srgbClr val="D8CFC2"/>
                </a:solidFill>
                <a:latin typeface="Calibri"/>
              </a:rPr>
              <a:t>Act 8 · Act 8: The Trap</a:t>
            </a:r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77240"/>
            <a:ext cx="6766560" cy="380619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4720590"/>
            <a:ext cx="6766560" cy="2011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B44A1E"/>
                </a:solidFill>
                <a:latin typeface="Calibri"/>
              </a:rPr>
              <a:t>VO</a:t>
            </a:r>
          </a:p>
          <a:p>
            <a:pPr>
              <a:spcAft>
                <a:spcPts val="200"/>
              </a:spcAft>
            </a:pPr>
            <a:r>
              <a:rPr sz="1800" b="0">
                <a:solidFill>
                  <a:srgbClr val="1E1B18"/>
                </a:solidFill>
                <a:latin typeface="Calibri"/>
              </a:rPr>
              <a:t>Remember the second skeleton? The decay, the worn spine, the shorter life. This is where it came from.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60920" y="777240"/>
            <a:ext cx="4526280" cy="58521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VISUAL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Skeleton B fades in over the bent farmer.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ON-SCREEN TEXT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—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ANIMATION NOTES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Skeleton B fades in over the bent farmer (double exposure).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2A2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600" b="1">
                <a:solidFill>
                  <a:srgbClr val="F6F1E8"/>
                </a:solidFill>
                <a:latin typeface="Calibri"/>
              </a:rPr>
              <a:t>AH 8.08</a:t>
            </a:r>
            <a:r>
              <a:rPr sz="1400" b="0">
                <a:solidFill>
                  <a:srgbClr val="D8CFC2"/>
                </a:solidFill>
                <a:latin typeface="Calibri"/>
              </a:rPr>
              <a:t>   WIDE   ·   8.3 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109728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spcAft>
                <a:spcPts val="200"/>
              </a:spcAft>
            </a:pPr>
            <a:r>
              <a:rPr sz="1300" b="0">
                <a:solidFill>
                  <a:srgbClr val="D8CFC2"/>
                </a:solidFill>
                <a:latin typeface="Calibri"/>
              </a:rPr>
              <a:t>Act 8 · Act 8: The Trap</a:t>
            </a:r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77240"/>
            <a:ext cx="6766560" cy="380619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4720590"/>
            <a:ext cx="6766560" cy="2011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B44A1E"/>
                </a:solidFill>
                <a:latin typeface="Calibri"/>
              </a:rPr>
              <a:t>VO</a:t>
            </a:r>
          </a:p>
          <a:p>
            <a:pPr>
              <a:spcAft>
                <a:spcPts val="200"/>
              </a:spcAft>
            </a:pPr>
            <a:r>
              <a:rPr sz="1800" b="0">
                <a:solidFill>
                  <a:srgbClr val="1E1B18"/>
                </a:solidFill>
                <a:latin typeface="Calibri"/>
              </a:rPr>
              <a:t>Villages became towns. Towns needed potters, weavers and traders. Then cities, and with them kings, soldiers, priests and tax collectors.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60920" y="777240"/>
            <a:ext cx="4526280" cy="58521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VISUAL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A painted village grows in time-lapse into a walled city; figures appear in turn.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ON-SCREEN TEXT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—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ANIMATION NOTES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Time-lapse: huts become houses become a walled city; potters, a king, soldiers, a tax collector appear in turn.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2A2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600" b="1">
                <a:solidFill>
                  <a:srgbClr val="F6F1E8"/>
                </a:solidFill>
                <a:latin typeface="Calibri"/>
              </a:rPr>
              <a:t>AH 8.09</a:t>
            </a:r>
            <a:r>
              <a:rPr sz="1400" b="0">
                <a:solidFill>
                  <a:srgbClr val="D8CFC2"/>
                </a:solidFill>
                <a:latin typeface="Calibri"/>
              </a:rPr>
              <a:t>   CU   ·   10.2 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109728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spcAft>
                <a:spcPts val="200"/>
              </a:spcAft>
            </a:pPr>
            <a:r>
              <a:rPr sz="1300" b="0">
                <a:solidFill>
                  <a:srgbClr val="D8CFC2"/>
                </a:solidFill>
                <a:latin typeface="Calibri"/>
              </a:rPr>
              <a:t>Act 8 · Act 8: The Trap</a:t>
            </a:r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77240"/>
            <a:ext cx="6766560" cy="380619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4720590"/>
            <a:ext cx="6766560" cy="2011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B44A1E"/>
                </a:solidFill>
                <a:latin typeface="Calibri"/>
              </a:rPr>
              <a:t>VO</a:t>
            </a:r>
          </a:p>
          <a:p>
            <a:pPr>
              <a:spcAft>
                <a:spcPts val="200"/>
              </a:spcAft>
            </a:pPr>
            <a:r>
              <a:rPr sz="1800" b="0">
                <a:solidFill>
                  <a:srgbClr val="1E1B18"/>
                </a:solidFill>
                <a:latin typeface="Calibri"/>
              </a:rPr>
              <a:t>And something new arrived in human history: hours that belonged to someone else, sold in exchange for food you no longer knew how to find.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60920" y="777240"/>
            <a:ext cx="4526280" cy="58521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VISUAL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A coin is placed in a farmer's hand; his hours clock is handed to a tax collector.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ON-SCREEN TEXT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YOUR HOURS, SOLD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ANIMATION NOTES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A coin drops into the farmer's hand; his hours clock floats across to the tax collector.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2A2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600" b="1">
                <a:solidFill>
                  <a:srgbClr val="F6F1E8"/>
                </a:solidFill>
                <a:latin typeface="Calibri"/>
              </a:rPr>
              <a:t>AH 8.10</a:t>
            </a:r>
            <a:r>
              <a:rPr sz="1400" b="0">
                <a:solidFill>
                  <a:srgbClr val="D8CFC2"/>
                </a:solidFill>
                <a:latin typeface="Calibri"/>
              </a:rPr>
              <a:t>   MED   ·   10.6 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109728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spcAft>
                <a:spcPts val="200"/>
              </a:spcAft>
            </a:pPr>
            <a:r>
              <a:rPr sz="1300" b="0">
                <a:solidFill>
                  <a:srgbClr val="D8CFC2"/>
                </a:solidFill>
                <a:latin typeface="Calibri"/>
              </a:rPr>
              <a:t>Act 8 · Act 8: The Trap</a:t>
            </a:r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77240"/>
            <a:ext cx="6766560" cy="380619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4720590"/>
            <a:ext cx="6766560" cy="2011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B44A1E"/>
                </a:solidFill>
                <a:latin typeface="Calibri"/>
              </a:rPr>
              <a:t>VO</a:t>
            </a:r>
          </a:p>
          <a:p>
            <a:pPr>
              <a:spcAft>
                <a:spcPts val="200"/>
              </a:spcAft>
            </a:pPr>
            <a:r>
              <a:rPr sz="1800" b="0">
                <a:solidFill>
                  <a:srgbClr val="1E1B18"/>
                </a:solidFill>
                <a:latin typeface="Calibri"/>
              </a:rPr>
              <a:t>Nobody stole our time in one night. It was traded away slowly, over hundreds of generations, in a deal none of us got to vote 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60920" y="777240"/>
            <a:ext cx="4526280" cy="58521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VISUAL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Generations pass: the same field, faces change, the city wall grows behind.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ON-SCREEN TEXT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—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ANIMATION NOTES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Generations pass in place: the same field, faces change, the city wall grows behind them.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0"/>
            <a:ext cx="12191695" cy="1371600"/>
          </a:xfrm>
          <a:prstGeom prst="rect">
            <a:avLst/>
          </a:prstGeom>
          <a:solidFill>
            <a:srgbClr val="2A2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880360"/>
            <a:ext cx="1069848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3200" b="1">
                <a:solidFill>
                  <a:srgbClr val="F6F1E8"/>
                </a:solidFill>
                <a:latin typeface="Calibri"/>
              </a:rPr>
              <a:t>ACT 9 · ACT 9: THE FINISH 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520440"/>
            <a:ext cx="1069848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600" b="0">
                <a:solidFill>
                  <a:srgbClr val="D8CFC2"/>
                </a:solidFill>
                <a:latin typeface="Calibri"/>
              </a:rPr>
              <a:t>9 frames · 0:59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2A2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600" b="1">
                <a:solidFill>
                  <a:srgbClr val="F6F1E8"/>
                </a:solidFill>
                <a:latin typeface="Calibri"/>
              </a:rPr>
              <a:t>AH 9.01</a:t>
            </a:r>
            <a:r>
              <a:rPr sz="1400" b="0">
                <a:solidFill>
                  <a:srgbClr val="D8CFC2"/>
                </a:solidFill>
                <a:latin typeface="Calibri"/>
              </a:rPr>
              <a:t>   CU   ·   5.7 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109728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spcAft>
                <a:spcPts val="200"/>
              </a:spcAft>
            </a:pPr>
            <a:r>
              <a:rPr sz="1300" b="0">
                <a:solidFill>
                  <a:srgbClr val="D8CFC2"/>
                </a:solidFill>
                <a:latin typeface="Calibri"/>
              </a:rPr>
              <a:t>Act 9 · Act 9: The Finish Line</a:t>
            </a:r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77240"/>
            <a:ext cx="6766560" cy="380619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4720590"/>
            <a:ext cx="6766560" cy="2011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B44A1E"/>
                </a:solidFill>
                <a:latin typeface="Calibri"/>
              </a:rPr>
              <a:t>VO</a:t>
            </a:r>
          </a:p>
          <a:p>
            <a:pPr>
              <a:spcAft>
                <a:spcPts val="200"/>
              </a:spcAft>
            </a:pPr>
            <a:r>
              <a:rPr sz="1800" b="0">
                <a:solidFill>
                  <a:srgbClr val="1E1B18"/>
                </a:solidFill>
                <a:latin typeface="Calibri"/>
              </a:rPr>
              <a:t>And the alarm that woke you this morning is just the latest payment.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60920" y="777240"/>
            <a:ext cx="4526280" cy="58521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VISUAL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The modern phone alarm again, 6:00, cold light.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ON-SCREEN TEXT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6:00 AM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ANIMATION NOTES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Back to the phone alarm, cold light; it rings (alarm SFX, shorter).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2A2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600" b="1">
                <a:solidFill>
                  <a:srgbClr val="F6F1E8"/>
                </a:solidFill>
                <a:latin typeface="Calibri"/>
              </a:rPr>
              <a:t>AH 9.02</a:t>
            </a:r>
            <a:r>
              <a:rPr sz="1400" b="0">
                <a:solidFill>
                  <a:srgbClr val="D8CFC2"/>
                </a:solidFill>
                <a:latin typeface="Calibri"/>
              </a:rPr>
              <a:t>   WIDE   ·   9.4 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109728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spcAft>
                <a:spcPts val="200"/>
              </a:spcAft>
            </a:pPr>
            <a:r>
              <a:rPr sz="1300" b="0">
                <a:solidFill>
                  <a:srgbClr val="D8CFC2"/>
                </a:solidFill>
                <a:latin typeface="Calibri"/>
              </a:rPr>
              <a:t>Act 9 · Act 9: The Finish Line</a:t>
            </a:r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77240"/>
            <a:ext cx="6766560" cy="380619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4720590"/>
            <a:ext cx="6766560" cy="2011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B44A1E"/>
                </a:solidFill>
                <a:latin typeface="Calibri"/>
              </a:rPr>
              <a:t>VO</a:t>
            </a:r>
          </a:p>
          <a:p>
            <a:pPr>
              <a:spcAft>
                <a:spcPts val="200"/>
              </a:spcAft>
            </a:pPr>
            <a:r>
              <a:rPr sz="1800" b="0">
                <a:solidFill>
                  <a:srgbClr val="1E1B18"/>
                </a:solidFill>
                <a:latin typeface="Calibri"/>
              </a:rPr>
              <a:t>For most of human history, finding food took part of the week. Afternoons went to craft, beauty and friendship. Nights went to stories.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60920" y="777240"/>
            <a:ext cx="4526280" cy="58521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VISUAL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Recap panorama: hunt, shells and flute, the fire.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ON-SCREEN TEXT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—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ANIMATION NOTES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Recap panorama; quick parallax pan across hunt, shells and flute, the fire.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2A2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600" b="1">
                <a:solidFill>
                  <a:srgbClr val="F6F1E8"/>
                </a:solidFill>
                <a:latin typeface="Calibri"/>
              </a:rPr>
              <a:t>AH 9.03</a:t>
            </a:r>
            <a:r>
              <a:rPr sz="1400" b="0">
                <a:solidFill>
                  <a:srgbClr val="D8CFC2"/>
                </a:solidFill>
                <a:latin typeface="Calibri"/>
              </a:rPr>
              <a:t>   MED   ·   5.7 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109728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spcAft>
                <a:spcPts val="200"/>
              </a:spcAft>
            </a:pPr>
            <a:r>
              <a:rPr sz="1300" b="0">
                <a:solidFill>
                  <a:srgbClr val="D8CFC2"/>
                </a:solidFill>
                <a:latin typeface="Calibri"/>
              </a:rPr>
              <a:t>Act 9 · Act 9: The Finish Line</a:t>
            </a:r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77240"/>
            <a:ext cx="6766560" cy="380619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4720590"/>
            <a:ext cx="6766560" cy="2011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B44A1E"/>
                </a:solidFill>
                <a:latin typeface="Calibri"/>
              </a:rPr>
              <a:t>VO</a:t>
            </a:r>
          </a:p>
          <a:p>
            <a:pPr>
              <a:spcAft>
                <a:spcPts val="200"/>
              </a:spcAft>
            </a:pPr>
            <a:r>
              <a:rPr sz="1800" b="0">
                <a:solidFill>
                  <a:srgbClr val="1E1B18"/>
                </a:solidFill>
                <a:latin typeface="Calibri"/>
              </a:rPr>
              <a:t>You will spend something like ninety thousand hours of your life at work.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60920" y="777240"/>
            <a:ext cx="4526280" cy="58521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VISUAL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Office tower at night, windows lit; the number counts up.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ON-SCREEN TEXT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~90,000 HOURS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ANIMATION NOTES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Office tower at night, windows lit; the number counts up.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2A2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600" b="1">
                <a:solidFill>
                  <a:srgbClr val="F6F1E8"/>
                </a:solidFill>
                <a:latin typeface="Calibri"/>
              </a:rPr>
              <a:t>AH 9.04</a:t>
            </a:r>
            <a:r>
              <a:rPr sz="1400" b="0">
                <a:solidFill>
                  <a:srgbClr val="D8CFC2"/>
                </a:solidFill>
                <a:latin typeface="Calibri"/>
              </a:rPr>
              <a:t>   MED   ·   7.2 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109728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spcAft>
                <a:spcPts val="200"/>
              </a:spcAft>
            </a:pPr>
            <a:r>
              <a:rPr sz="1300" b="0">
                <a:solidFill>
                  <a:srgbClr val="D8CFC2"/>
                </a:solidFill>
                <a:latin typeface="Calibri"/>
              </a:rPr>
              <a:t>Act 9 · Act 9: The Finish Line</a:t>
            </a:r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77240"/>
            <a:ext cx="6766560" cy="380619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4720590"/>
            <a:ext cx="6766560" cy="2011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B44A1E"/>
                </a:solidFill>
                <a:latin typeface="Calibri"/>
              </a:rPr>
              <a:t>VO</a:t>
            </a:r>
          </a:p>
          <a:p>
            <a:pPr>
              <a:spcAft>
                <a:spcPts val="200"/>
              </a:spcAft>
            </a:pPr>
            <a:r>
              <a:rPr sz="1800" b="0">
                <a:solidFill>
                  <a:srgbClr val="1E1B18"/>
                </a:solidFill>
                <a:latin typeface="Calibri"/>
              </a:rPr>
              <a:t>We make art if there's anything left after the job. They made it on an ordinary afternoon.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60920" y="777240"/>
            <a:ext cx="4526280" cy="58521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VISUAL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Split: tired worker sketching at midnight / the shell necklace being made in daylight.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ON-SCREEN TEXT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—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ANIMATION NOTES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Split: tired worker sketching at midnight / the necklace being made in daylight.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2A2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600" b="1">
                <a:solidFill>
                  <a:srgbClr val="F6F1E8"/>
                </a:solidFill>
                <a:latin typeface="Calibri"/>
              </a:rPr>
              <a:t>AH 9.05</a:t>
            </a:r>
            <a:r>
              <a:rPr sz="1400" b="0">
                <a:solidFill>
                  <a:srgbClr val="D8CFC2"/>
                </a:solidFill>
                <a:latin typeface="Calibri"/>
              </a:rPr>
              <a:t>   MED   ·   7.5 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109728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spcAft>
                <a:spcPts val="200"/>
              </a:spcAft>
            </a:pPr>
            <a:r>
              <a:rPr sz="1300" b="0">
                <a:solidFill>
                  <a:srgbClr val="D8CFC2"/>
                </a:solidFill>
                <a:latin typeface="Calibri"/>
              </a:rPr>
              <a:t>Act 9 · Act 9: The Finish Line</a:t>
            </a:r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77240"/>
            <a:ext cx="6766560" cy="380619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4720590"/>
            <a:ext cx="6766560" cy="2011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B44A1E"/>
                </a:solidFill>
                <a:latin typeface="Calibri"/>
              </a:rPr>
              <a:t>VO</a:t>
            </a:r>
          </a:p>
          <a:p>
            <a:pPr>
              <a:spcAft>
                <a:spcPts val="200"/>
              </a:spcAft>
            </a:pPr>
            <a:r>
              <a:rPr sz="1800" b="0">
                <a:solidFill>
                  <a:srgbClr val="1E1B18"/>
                </a:solidFill>
                <a:latin typeface="Calibri"/>
              </a:rPr>
              <a:t>We network to get ahead. They spent hours with the people they loved, and it counted as survival.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60920" y="777240"/>
            <a:ext cx="4526280" cy="58521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VISUAL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Split: business card exchange / grooming and laughing in the shade.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ON-SCREEN TEXT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—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ANIMATION NOTES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Split: two suits swap business cards / friends grooming and laughing in the shade.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2A2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600" b="1">
                <a:solidFill>
                  <a:srgbClr val="F6F1E8"/>
                </a:solidFill>
                <a:latin typeface="Calibri"/>
              </a:rPr>
              <a:t>AH 9.06</a:t>
            </a:r>
            <a:r>
              <a:rPr sz="1400" b="0">
                <a:solidFill>
                  <a:srgbClr val="D8CFC2"/>
                </a:solidFill>
                <a:latin typeface="Calibri"/>
              </a:rPr>
              <a:t>   CU   ·   6.0 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109728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spcAft>
                <a:spcPts val="200"/>
              </a:spcAft>
            </a:pPr>
            <a:r>
              <a:rPr sz="1300" b="0">
                <a:solidFill>
                  <a:srgbClr val="D8CFC2"/>
                </a:solidFill>
                <a:latin typeface="Calibri"/>
              </a:rPr>
              <a:t>Act 9 · Act 9: The Finish Line</a:t>
            </a:r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77240"/>
            <a:ext cx="6766560" cy="380619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4720590"/>
            <a:ext cx="6766560" cy="2011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B44A1E"/>
                </a:solidFill>
                <a:latin typeface="Calibri"/>
              </a:rPr>
              <a:t>VO</a:t>
            </a:r>
          </a:p>
          <a:p>
            <a:pPr>
              <a:spcAft>
                <a:spcPts val="200"/>
              </a:spcAft>
            </a:pPr>
            <a:r>
              <a:rPr sz="1800" b="0">
                <a:solidFill>
                  <a:srgbClr val="1E1B18"/>
                </a:solidFill>
                <a:latin typeface="Calibri"/>
              </a:rPr>
              <a:t>We chase a finish line called retirement, where we finally get our time back.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60920" y="777240"/>
            <a:ext cx="4526280" cy="58521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VISUAL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A finish-line ribbon far down a long road of desks.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ON-SCREEN TEXT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RETIREMENT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ANIMATION NOTES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A road of desks recedes to a finish-line ribbon far away.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2A2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600" b="1">
                <a:solidFill>
                  <a:srgbClr val="F6F1E8"/>
                </a:solidFill>
                <a:latin typeface="Calibri"/>
              </a:rPr>
              <a:t>AH 9.07</a:t>
            </a:r>
            <a:r>
              <a:rPr sz="1400" b="0">
                <a:solidFill>
                  <a:srgbClr val="D8CFC2"/>
                </a:solidFill>
                <a:latin typeface="Calibri"/>
              </a:rPr>
              <a:t>   WIDE   ·   4.2 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109728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spcAft>
                <a:spcPts val="200"/>
              </a:spcAft>
            </a:pPr>
            <a:r>
              <a:rPr sz="1300" b="0">
                <a:solidFill>
                  <a:srgbClr val="D8CFC2"/>
                </a:solidFill>
                <a:latin typeface="Calibri"/>
              </a:rPr>
              <a:t>Act 9 · Act 9: The Finish Line</a:t>
            </a:r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77240"/>
            <a:ext cx="6766560" cy="380619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4720590"/>
            <a:ext cx="6766560" cy="2011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B44A1E"/>
                </a:solidFill>
                <a:latin typeface="Calibri"/>
              </a:rPr>
              <a:t>VO</a:t>
            </a:r>
          </a:p>
          <a:p>
            <a:pPr>
              <a:spcAft>
                <a:spcPts val="200"/>
              </a:spcAft>
            </a:pPr>
            <a:r>
              <a:rPr sz="1800" b="0">
                <a:solidFill>
                  <a:srgbClr val="1E1B18"/>
                </a:solidFill>
                <a:latin typeface="Calibri"/>
              </a:rPr>
              <a:t>In one way, they were already standing on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60920" y="777240"/>
            <a:ext cx="4526280" cy="58521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VISUAL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Pull back: the hunter sits on the finish line by his fire, relaxed.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ON-SCREEN TEXT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—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ANIMATION NOTES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Pull back: the hunter is already sitting on the finish line by his fire, relaxed.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2A2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600" b="1">
                <a:solidFill>
                  <a:srgbClr val="F6F1E8"/>
                </a:solidFill>
                <a:latin typeface="Calibri"/>
              </a:rPr>
              <a:t>AH 9.08</a:t>
            </a:r>
            <a:r>
              <a:rPr sz="1400" b="0">
                <a:solidFill>
                  <a:srgbClr val="D8CFC2"/>
                </a:solidFill>
                <a:latin typeface="Calibri"/>
              </a:rPr>
              <a:t>   CU   ·   6.4 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109728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spcAft>
                <a:spcPts val="200"/>
              </a:spcAft>
            </a:pPr>
            <a:r>
              <a:rPr sz="1300" b="0">
                <a:solidFill>
                  <a:srgbClr val="D8CFC2"/>
                </a:solidFill>
                <a:latin typeface="Calibri"/>
              </a:rPr>
              <a:t>Act 9 · Act 9: The Finish Line</a:t>
            </a:r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77240"/>
            <a:ext cx="6766560" cy="380619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4720590"/>
            <a:ext cx="6766560" cy="2011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B44A1E"/>
                </a:solidFill>
                <a:latin typeface="Calibri"/>
              </a:rPr>
              <a:t>VO</a:t>
            </a:r>
          </a:p>
          <a:p>
            <a:pPr>
              <a:spcAft>
                <a:spcPts val="200"/>
              </a:spcAft>
            </a:pPr>
            <a:r>
              <a:rPr sz="1800" b="0">
                <a:solidFill>
                  <a:srgbClr val="1E1B18"/>
                </a:solidFill>
                <a:latin typeface="Calibri"/>
              </a:rPr>
              <a:t>They woke up without an alarm, and asked the question you rarely get to ask.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60920" y="777240"/>
            <a:ext cx="4526280" cy="58521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VISUAL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Dawn again; the hunter stretches, looks out across the plain.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ON-SCREEN TEXT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WHAT SHOULD I DO TODAY?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ANIMATION NOTES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Dawn again; he stretches and looks out; the card from the cold open returns (bookend).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2A2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600" b="1">
                <a:solidFill>
                  <a:srgbClr val="F6F1E8"/>
                </a:solidFill>
                <a:latin typeface="Calibri"/>
              </a:rPr>
              <a:t>AH 9.09</a:t>
            </a:r>
            <a:r>
              <a:rPr sz="1400" b="0">
                <a:solidFill>
                  <a:srgbClr val="D8CFC2"/>
                </a:solidFill>
                <a:latin typeface="Calibri"/>
              </a:rPr>
              <a:t>   WIDE   ·   7.2 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109728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spcAft>
                <a:spcPts val="200"/>
              </a:spcAft>
            </a:pPr>
            <a:r>
              <a:rPr sz="1300" b="0">
                <a:solidFill>
                  <a:srgbClr val="D8CFC2"/>
                </a:solidFill>
                <a:latin typeface="Calibri"/>
              </a:rPr>
              <a:t>Act 9 · Act 9: The Finish Line</a:t>
            </a:r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77240"/>
            <a:ext cx="6766560" cy="380619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4720590"/>
            <a:ext cx="6766560" cy="20116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B44A1E"/>
                </a:solidFill>
                <a:latin typeface="Calibri"/>
              </a:rPr>
              <a:t>VO</a:t>
            </a:r>
          </a:p>
          <a:p>
            <a:pPr>
              <a:spcAft>
                <a:spcPts val="200"/>
              </a:spcAft>
            </a:pPr>
            <a:r>
              <a:rPr sz="1800" b="0">
                <a:solidFill>
                  <a:srgbClr val="1E1B18"/>
                </a:solidFill>
                <a:latin typeface="Calibri"/>
              </a:rPr>
              <a:t>If this changed how you see your own day, watch next how farming built the first cities.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60920" y="777240"/>
            <a:ext cx="4526280" cy="58521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VISUAL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End card over the fire with the channel name.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ON-SCREEN TEXT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STROMHELL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B44A1E"/>
                </a:solidFill>
                <a:latin typeface="Calibri"/>
              </a:rPr>
              <a:t>ANIMATION NOTES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1E1B18"/>
                </a:solidFill>
                <a:latin typeface="Calibri"/>
              </a:rPr>
              <a:t>End card over the fire; channel name; music resolves.</a:t>
            </a:r>
          </a:p>
          <a:p>
            <a:pPr>
              <a:spcAft>
                <a:spcPts val="200"/>
              </a:spcAft>
            </a:pPr>
            <a:r>
              <a:rPr sz="600" b="0">
                <a:solidFill>
                  <a:srgbClr val="1E1B18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