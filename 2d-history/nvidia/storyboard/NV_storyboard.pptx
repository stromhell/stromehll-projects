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A man who washed dishes at Denny's as a teenager now runs the first company in history worth five trillion dollars.</a:t>
            </a:r>
          </a:p>
          <a:p/>
          <a:p>
            <a:r>
              <a:t>Visual: A teenage Jensen at a steaming dish sink; the steam clears into a $5T counter.</a:t>
            </a:r>
          </a:p>
          <a:p/>
          <a:p>
            <a:r>
              <a:t>On-screen: -</a:t>
            </a:r>
          </a:p>
          <a:p/>
          <a:p>
            <a:r>
              <a:t>Animation: Steam rises from the sink as the boy scrubs (looping arm); the steam clears and becomes the $5T counter rolling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It started in 1993, in a booth at a Denny's in San Jose, where three engineers drank refill coffee and argued about a chip that didn't exist yet.</a:t>
            </a:r>
          </a:p>
          <a:p/>
          <a:p>
            <a:r>
              <a:t>Visual: Night exterior of a roadside diner; inside, three men in a vinyl booth with coffee mugs and a notepad.</a:t>
            </a:r>
          </a:p>
          <a:p/>
          <a:p>
            <a:r>
              <a:t>On-screen: SAN JOSE · 1993</a:t>
            </a:r>
          </a:p>
          <a:p/>
          <a:p>
            <a:r>
              <a:t>Animation: Night exterior of the diner, neon flicker; push through the window to three men in the booth with mugs.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Within a few years, their company built the wrong chip, lost almost everything, and came within about a month of running out of money.</a:t>
            </a:r>
          </a:p>
          <a:p/>
          <a:p>
            <a:r>
              <a:t>Visual: Days-of-cash counter drops fast toward zero; office lights dim one by one.</a:t>
            </a:r>
          </a:p>
          <a:p/>
          <a:p>
            <a:r>
              <a:t>On-screen: DAYS OF CASH: 30</a:t>
            </a:r>
          </a:p>
          <a:p/>
          <a:p>
            <a:r>
              <a:t>Animation: Counter drops fast; office lights switch off one by one toward camera.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The chip that nearly killed it is the reason it won. And the bet that made it a giant earned almost nothing for six years.</a:t>
            </a:r>
          </a:p>
          <a:p/>
          <a:p>
            <a:r>
              <a:t>Visual: Market-value counter rockets past Apple and Microsoft tiles to $5T.</a:t>
            </a:r>
          </a:p>
          <a:p/>
          <a:p>
            <a:r>
              <a:t>On-screen: $5,000,000,000,000</a:t>
            </a:r>
          </a:p>
          <a:p/>
          <a:p>
            <a:r>
              <a:t>Animation: Market value bar rockets past the Apple and Microsoft tiles; counter lands on $5T.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This is the story of Nvidia, and of Jensen Huang, a man who later said his will to survive exceeded almost everybody else's will to kill him.</a:t>
            </a:r>
          </a:p>
          <a:p/>
          <a:p>
            <a:r>
              <a:t>Visual: Push into Jensen in his black leather jacket, backlit by a server hall.</a:t>
            </a:r>
          </a:p>
          <a:p/>
          <a:p>
            <a:r>
              <a:t>On-screen: -</a:t>
            </a:r>
          </a:p>
          <a:p/>
          <a:p>
            <a:r>
              <a:t>Animation: Backlit by server lights; slow push in on Jensen in the leather jacket.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</a:t>
            </a:r>
          </a:p>
          <a:p/>
          <a:p>
            <a:r>
              <a:t>Visual: Title over a single glowing chip on a dark table.</a:t>
            </a:r>
          </a:p>
          <a:p/>
          <a:p>
            <a:r>
              <a:t>On-screen: THE WRONG CHIP</a:t>
            </a:r>
          </a:p>
          <a:p/>
          <a:p>
            <a:r>
              <a:t>Animation: A single chip glows on a dark table; title scales in; deep hit.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Jensen Huang was born in Taiwan in 1963. His family later moved to Thailand.</a:t>
            </a:r>
          </a:p>
          <a:p/>
          <a:p>
            <a:r>
              <a:t>Visual: Parchment map: Tainan pin, then an arrow to Bangkok.</a:t>
            </a:r>
          </a:p>
          <a:p/>
          <a:p>
            <a:r>
              <a:t>On-screen: TAIWAN · 1963</a:t>
            </a:r>
          </a:p>
          <a:p/>
          <a:p>
            <a:r>
              <a:t>Animation: Pin drops on Tainan; a dotted arrow draws to Bangkok.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When he was nine, his parents sent him and his older brother to America, to stay with an uncle and get a good education.</a:t>
            </a:r>
          </a:p>
          <a:p/>
          <a:p>
            <a:r>
              <a:t>Visual: Airport departure: two small boys with one suitcase each, parents waving.</a:t>
            </a:r>
          </a:p>
          <a:p/>
          <a:p>
            <a:r>
              <a:t>On-screen: -</a:t>
            </a:r>
          </a:p>
          <a:p/>
          <a:p>
            <a:r>
              <a:t>Animation: Two small boys with suitcases walk to the gate; parents wave (arm loops).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The uncle enrolled them at a school in rural Kentucky that he thought was a prestigious boarding school.</a:t>
            </a:r>
          </a:p>
          <a:p/>
          <a:p>
            <a:r>
              <a:t>Visual: Map of the USA, pin on Oneida, Kentucky; hills and a winding road.</a:t>
            </a:r>
          </a:p>
          <a:p/>
          <a:p>
            <a:r>
              <a:t>On-screen: ONEIDA, KENTUCKY</a:t>
            </a:r>
          </a:p>
          <a:p/>
          <a:p>
            <a:r>
              <a:t>Animation: US map; pin on Oneida; a winding road draws through the hills.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It was the Oneida Baptist Institute, a strict school that also took in troubled teenagers.</a:t>
            </a:r>
          </a:p>
          <a:p/>
          <a:p>
            <a:r>
              <a:t>Visual: Painted brick dormitory in the hills, grey sky; older teenage boys in the yard.</a:t>
            </a:r>
          </a:p>
          <a:p/>
          <a:p>
            <a:r>
              <a:t>On-screen: ONEIDA BAPTIST INSTITUTE</a:t>
            </a:r>
          </a:p>
          <a:p/>
          <a:p>
            <a:r>
              <a:t>Animation: Grey sky; brick dorm; older boys loiter and turn their heads toward the camera.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Jensen was the youngest boy in the dorm. His daily job was cleaning the bathrooms.</a:t>
            </a:r>
          </a:p>
          <a:p/>
          <a:p>
            <a:r>
              <a:t>Visual: Small Jensen with a mop and bucket in a long tiled washroom.</a:t>
            </a:r>
          </a:p>
          <a:p/>
          <a:p>
            <a:r>
              <a:t>On-screen: CHORE: BATHROOMS</a:t>
            </a:r>
          </a:p>
          <a:p/>
          <a:p>
            <a:r>
              <a:t>Animation: Small Jensen mops a long tiled floor (mop sweep loop); echoey drips.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He has said he didn't complain, and that it taught him to just get on with the work in front of him.</a:t>
            </a:r>
          </a:p>
          <a:p/>
          <a:p>
            <a:r>
              <a:t>Visual: Close on his determined face as he finishes the floor.</a:t>
            </a:r>
          </a:p>
          <a:p/>
          <a:p>
            <a:r>
              <a:t>On-screen: -</a:t>
            </a:r>
          </a:p>
          <a:p/>
          <a:p>
            <a:r>
              <a:t>Animation: Push in on his determined face as he finishes; a breath.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His parents eventually joined them in Oregon. As a teenager he worked at Denny's, washing dishes and waiting tables.</a:t>
            </a:r>
          </a:p>
          <a:p/>
          <a:p>
            <a:r>
              <a:t>Visual: Map arrow from Kentucky to Oregon; the Denny's kitchen.</a:t>
            </a:r>
          </a:p>
          <a:p/>
          <a:p>
            <a:r>
              <a:t>On-screen: OREGON</a:t>
            </a:r>
          </a:p>
          <a:p/>
          <a:p>
            <a:r>
              <a:t>Animation: Arrow draws from Kentucky to Oregon; dissolve into the Denny's kitchen.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He studied electrical engineering at Oregon State, then designed chips at AMD and LSI Logic, and took a master's degree at Stanford at night.</a:t>
            </a:r>
          </a:p>
          <a:p/>
          <a:p>
            <a:r>
              <a:t>Visual: Montage: college lab, AMD and LSI office badges, a Stanford library desk at night.</a:t>
            </a:r>
          </a:p>
          <a:p/>
          <a:p>
            <a:r>
              <a:t>On-screen: OREGON STATE · AMD · LSI · STANFORD</a:t>
            </a:r>
          </a:p>
          <a:p/>
          <a:p>
            <a:r>
              <a:t>Animation: Fast montage, 1.5 s each: college lab, badges flip in, library desk at night.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By the early nineties, Jensen and two engineers from Sun Microsystems, Chris Malachowsky and Curtis Priem, shared an idea.</a:t>
            </a:r>
          </a:p>
          <a:p/>
          <a:p>
            <a:r>
              <a:t>Visual: The three founders in the Denny's booth; name tags pop beside each.</a:t>
            </a:r>
          </a:p>
          <a:p/>
          <a:p>
            <a:r>
              <a:t>On-screen: HUANG · MALACHOWSKY · PRIEM</a:t>
            </a:r>
          </a:p>
          <a:p/>
          <a:p>
            <a:r>
              <a:t>Animation: Name tags pop beside each founder as named; mugs steam.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Video games were moving to 3D, and ordinary computer processors couldn't keep up. Someone would build a chip just for graphics.</a:t>
            </a:r>
          </a:p>
          <a:p/>
          <a:p>
            <a:r>
              <a:t>Visual: A flat 2D game sprite on an old monitor morphs into a clunky 3D shape that stutters.</a:t>
            </a:r>
          </a:p>
          <a:p/>
          <a:p>
            <a:r>
              <a:t>On-screen: -</a:t>
            </a:r>
          </a:p>
          <a:p/>
          <a:p>
            <a:r>
              <a:t>Animation: A flat 2D sprite morphs into a clunky 3D shape that stutters (frame skips).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They founded Nvidia in April 1993, with about forty thousand dollars between them.</a:t>
            </a:r>
          </a:p>
          <a:p/>
          <a:p>
            <a:r>
              <a:t>Visual: Incorporation papers on the diner table next to the coffee.</a:t>
            </a:r>
          </a:p>
          <a:p/>
          <a:p>
            <a:r>
              <a:t>On-screen: NVIDIA · APRIL 1993</a:t>
            </a:r>
          </a:p>
          <a:p/>
          <a:p>
            <a:r>
              <a:t>Animation: Papers slide onto the table next to the coffee; a pen signs.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Their first chip, the NV1, came out in 1995. It tried to do everything at once: graphics, sound and game controller support on one card.</a:t>
            </a:r>
          </a:p>
          <a:p/>
          <a:p>
            <a:r>
              <a:t>Visual: 3D NV1 card rotates on a workbench, components labeled.</a:t>
            </a:r>
          </a:p>
          <a:p/>
          <a:p>
            <a:r>
              <a:t>On-screen: NV1 · 1995</a:t>
            </a:r>
          </a:p>
          <a:p/>
          <a:p>
            <a:r>
              <a:t>Animation: The NV1 card rotates on the bench; part labels draw on with leader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It also drew 3D shapes in an unusual way, using curved surfaces called quadratic patches.</a:t>
            </a:r>
          </a:p>
          <a:p/>
          <a:p>
            <a:r>
              <a:t>Visual: On a monitor, a 3D model built from smooth curved patches.</a:t>
            </a:r>
          </a:p>
          <a:p/>
          <a:p>
            <a:r>
              <a:t>On-screen: CURVES</a:t>
            </a:r>
          </a:p>
          <a:p/>
          <a:p>
            <a:r>
              <a:t>Animation: A model builds from smooth curved patches on the monitor.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Then Microsoft released DirectX, the standard most PC games would be built on. And DirectX was built around triangles.</a:t>
            </a:r>
          </a:p>
          <a:p/>
          <a:p>
            <a:r>
              <a:t>Visual: A wall of game boxes all showing triangle meshes; the curved model looks out of place.</a:t>
            </a:r>
          </a:p>
          <a:p/>
          <a:p>
            <a:r>
              <a:t>On-screen: DIRECTX = TRIANGLES</a:t>
            </a:r>
          </a:p>
          <a:p/>
          <a:p>
            <a:r>
              <a:t>Animation: A wall of triangle-mesh game boxes; the curved model slides in and looks out of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Nvidia had bet the company on the opposite approach. Jensen later said they built the wrong thing with great confidence.</a:t>
            </a:r>
          </a:p>
          <a:p/>
          <a:p>
            <a:r>
              <a:t>Visual: The NV1 card on a shelf gathering dust; returns piled in boxes.</a:t>
            </a:r>
          </a:p>
          <a:p/>
          <a:p>
            <a:r>
              <a:t>On-screen: -</a:t>
            </a:r>
          </a:p>
          <a:p/>
          <a:p>
            <a:r>
              <a:t>Animation: Dust settles on the shelved card; return boxes stack up with thuds.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The NV1 sold badly. Money was running out.</a:t>
            </a:r>
          </a:p>
          <a:p/>
          <a:p>
            <a:r>
              <a:t>Visual: Days-of-cash counter tumbles.</a:t>
            </a:r>
          </a:p>
          <a:p/>
          <a:p>
            <a:r>
              <a:t>On-screen: DAYS OF CASH: FALLING</a:t>
            </a:r>
          </a:p>
          <a:p/>
          <a:p>
            <a:r>
              <a:t>Animation: Counter tumbles; low drone.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Nvidia had one lifeline: a contract with Sega to build the graphics chip for its next game console.</a:t>
            </a:r>
          </a:p>
          <a:p/>
          <a:p>
            <a:r>
              <a:t>Visual: A signed contract on a desk with SEGA in plain letters.</a:t>
            </a:r>
          </a:p>
          <a:p/>
          <a:p>
            <a:r>
              <a:t>On-screen: THE SEGA CONTRACT</a:t>
            </a:r>
          </a:p>
          <a:p/>
          <a:p>
            <a:r>
              <a:t>Animation: Signed contract slides onto the desk; light warms.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But that chip was based on the same curved-surface design, the one the rest of the industry was abandoning.</a:t>
            </a:r>
          </a:p>
          <a:p/>
          <a:p>
            <a:r>
              <a:t>Visual: Engineers stare at a whiteboard with a curved model crossed out.</a:t>
            </a:r>
          </a:p>
          <a:p/>
          <a:p>
            <a:r>
              <a:t>On-screen: -</a:t>
            </a:r>
          </a:p>
          <a:p/>
          <a:p>
            <a:r>
              <a:t>Animation: Engineers stare at the whiteboard; the curved model gets crossed out with a marker squeak.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If they finished it, they'd spend a year building something dead. If they quit, they'd lose their only paying customer.</a:t>
            </a:r>
          </a:p>
          <a:p/>
          <a:p>
            <a:r>
              <a:t>Visual: Jensen alone in a dark office, the counter glowing near zero.</a:t>
            </a:r>
          </a:p>
          <a:p/>
          <a:p>
            <a:r>
              <a:t>On-screen: -</a:t>
            </a:r>
          </a:p>
          <a:p/>
          <a:p>
            <a:r>
              <a:t>Animation: Dark office; only the counter glows near zero; slow push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So Jensen flew to Japan and did something unusual. He told Sega's chief executive, Shoichiro Irimajiri, that Nvidia's approach was wrong, and that Sega should find another partner.</a:t>
            </a:r>
          </a:p>
          <a:p/>
          <a:p>
            <a:r>
              <a:t>Visual: Tokyo boardroom, rain on tall windows; Jensen bows before Irimajiri.</a:t>
            </a:r>
          </a:p>
          <a:p/>
          <a:p>
            <a:r>
              <a:t>On-screen: TOKYO</a:t>
            </a:r>
          </a:p>
          <a:p/>
          <a:p>
            <a:r>
              <a:t>Animation: Rain on tall windows; Jensen bows slowly; Irimajiri watches.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Then he asked for the rest of the money anyway. As an investment, not a payment, because without it Nvidia would go under.</a:t>
            </a:r>
          </a:p>
          <a:p/>
          <a:p>
            <a:r>
              <a:t>Visual: A cheque-shaped card reading $5,000,000 floats between them.</a:t>
            </a:r>
          </a:p>
          <a:p/>
          <a:p>
            <a:r>
              <a:t>On-screen: $5 MILLION</a:t>
            </a:r>
          </a:p>
          <a:p/>
          <a:p>
            <a:r>
              <a:t>Animation: The cheque card floats up between them and turns.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Irimajiri agreed. Jensen has said the only reason was that Irimajiri liked him.</a:t>
            </a:r>
          </a:p>
          <a:p/>
          <a:p>
            <a:r>
              <a:t>Visual: Irimajiri nods slowly; a faint smile.</a:t>
            </a:r>
          </a:p>
          <a:p/>
          <a:p>
            <a:r>
              <a:t>On-screen: -</a:t>
            </a:r>
          </a:p>
          <a:p/>
          <a:p>
            <a:r>
              <a:t>Animation: Irimajiri nods slowly; a faint smile.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That five million dollars bought Nvidia about six months.</a:t>
            </a:r>
          </a:p>
          <a:p/>
          <a:p>
            <a:r>
              <a:t>Visual: Days-of-cash counter jumps up to ~180, then begins ticking down again.</a:t>
            </a:r>
          </a:p>
          <a:p/>
          <a:p>
            <a:r>
              <a:t>On-screen: +6 MONTHS</a:t>
            </a:r>
          </a:p>
          <a:p/>
          <a:p>
            <a:r>
              <a:t>Animation: Counter jumps up to about 180 with a lift, then starts ticking down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Nvidia laid off much of its staff and threw everything at one new chip, built around triangles and DirectX.</a:t>
            </a:r>
          </a:p>
          <a:p/>
          <a:p>
            <a:r>
              <a:t>Visual: Half-empty office; remaining engineers hunched over boards late at night.</a:t>
            </a:r>
          </a:p>
          <a:p/>
          <a:p>
            <a:r>
              <a:t>On-screen: -</a:t>
            </a:r>
          </a:p>
          <a:p/>
          <a:p>
            <a:r>
              <a:t>Animation: Half-empty office at night; heads bent over boards; a clock ticks.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To save time they bought an emulator, a machine that let them test the design in software before any real chip existed.</a:t>
            </a:r>
          </a:p>
          <a:p/>
          <a:p>
            <a:r>
              <a:t>Visual: A big 3D emulator box hums in the corner, cables everywhere.</a:t>
            </a:r>
          </a:p>
          <a:p/>
          <a:p>
            <a:r>
              <a:t>On-screen: EMULATOR</a:t>
            </a:r>
          </a:p>
          <a:p/>
          <a:p>
            <a:r>
              <a:t>Animation: Big emulator hums in the corner; cables sway; LEDs blink.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They had roughly a month of payroll left when the chip went to the factory.</a:t>
            </a:r>
          </a:p>
          <a:p/>
          <a:p>
            <a:r>
              <a:t>Visual: Days-of-cash counter at 30.</a:t>
            </a:r>
          </a:p>
          <a:p/>
          <a:p>
            <a:r>
              <a:t>On-screen: 30 DAYS</a:t>
            </a:r>
          </a:p>
          <a:p/>
          <a:p>
            <a:r>
              <a:t>Animation: Counter sits at 30 in red; heartbeat SFX.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It was called the RIVA 128, released in 1997. And this time it worked.</a:t>
            </a:r>
          </a:p>
          <a:p/>
          <a:p>
            <a:r>
              <a:t>Visual: 3D RIVA 128 chip lifts off its board, light sweeping across it.</a:t>
            </a:r>
          </a:p>
          <a:p/>
          <a:p>
            <a:r>
              <a:t>On-screen: RIVA 128 · 1997</a:t>
            </a:r>
          </a:p>
          <a:p/>
          <a:p>
            <a:r>
              <a:t>Animation: The chip lifts off its board in 3D; a light sweep crosses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It sold about a million units in its first four months.</a:t>
            </a:r>
          </a:p>
          <a:p/>
          <a:p>
            <a:r>
              <a:t>Visual: A stack of chip boxes grows to 1,000,000.</a:t>
            </a:r>
          </a:p>
          <a:p/>
          <a:p>
            <a:r>
              <a:t>On-screen: 1,000,000 IN 4 MONTHS</a:t>
            </a:r>
          </a:p>
          <a:p/>
          <a:p>
            <a:r>
              <a:t>Animation: Boxes stack up fast; counter to 1,000,000.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For years afterwards, Jensen opened staff meetings with the same line: our company is thirty days from going out of business.</a:t>
            </a:r>
          </a:p>
          <a:p/>
          <a:p>
            <a:r>
              <a:t>Visual: Jensen at a whiteboard; behind him the words 'THIRTY DAYS'.</a:t>
            </a:r>
          </a:p>
          <a:p/>
          <a:p>
            <a:r>
              <a:t>On-screen: '30 DAYS FROM GOING OUT OF BUSINESS'</a:t>
            </a:r>
          </a:p>
          <a:p/>
          <a:p>
            <a:r>
              <a:t>Animation: Jensen taps the whiteboard; the words write themselves behind him.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In 1999, Nvidia went public, and launched the GeForce 256.</a:t>
            </a:r>
          </a:p>
          <a:p/>
          <a:p>
            <a:r>
              <a:t>Visual: Stock exchange ticker with NVDA; a gaming PC opens to reveal the card.</a:t>
            </a:r>
          </a:p>
          <a:p/>
          <a:p>
            <a:r>
              <a:t>On-screen: 1999</a:t>
            </a:r>
          </a:p>
          <a:p/>
          <a:p>
            <a:r>
              <a:t>Animation: Ticker scrolls NVDA; the PC side panel swings open to reveal the card.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It marketed the chip with a new name: the GPU, the graphics processing unit.</a:t>
            </a:r>
          </a:p>
          <a:p/>
          <a:p>
            <a:r>
              <a:t>Visual: Callout card with the three letters.</a:t>
            </a:r>
          </a:p>
          <a:p/>
          <a:p>
            <a:r>
              <a:t>On-screen: GPU</a:t>
            </a:r>
          </a:p>
          <a:p/>
          <a:p>
            <a:r>
              <a:t>Animation: Callout card; the three letters stamp in one at a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The GeForce took over 3D calculations that used to fall on the computer's main processor. Games got smoother, lighting got better, worlds got bigger.</a:t>
            </a:r>
          </a:p>
          <a:p/>
          <a:p>
            <a:r>
              <a:t>Visual: Side by side game frame: blocky 1998 scene vs richer 1999 scene.</a:t>
            </a:r>
          </a:p>
          <a:p/>
          <a:p>
            <a:r>
              <a:t>On-screen: -</a:t>
            </a:r>
          </a:p>
          <a:p/>
          <a:p>
            <a:r>
              <a:t>Animation: Split wipe: blocky scene vs richer scene.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By the early 2000s, Nvidia was the leading name in PC graphics. Gamers, game studios and film effects houses all ran on it.</a:t>
            </a:r>
          </a:p>
          <a:p/>
          <a:p>
            <a:r>
              <a:t>Visual: Montage: LAN party, game studio desks, a VFX artist's screen.</a:t>
            </a:r>
          </a:p>
          <a:p/>
          <a:p>
            <a:r>
              <a:t>On-screen: -</a:t>
            </a:r>
          </a:p>
          <a:p/>
          <a:p>
            <a:r>
              <a:t>Animation: Fast montage: LAN party, studio desks, VFX screen; each 1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Nvidia also won the deal to supply the graphics chip for Microsoft's first Xbox in 2001.</a:t>
            </a:r>
          </a:p>
          <a:p/>
          <a:p>
            <a:r>
              <a:t>Visual: Painted living room with a big black console under a TV.</a:t>
            </a:r>
          </a:p>
          <a:p/>
          <a:p>
            <a:r>
              <a:t>On-screen: 2001</a:t>
            </a:r>
          </a:p>
          <a:p/>
          <a:p>
            <a:r>
              <a:t>Animation: Living room; the console sits under the TV; game light flickers on the walls.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Nvidia won partly through speed. Jensen pushed the team to ship a new generation of chips roughly every six months, while rivals took a year or more.</a:t>
            </a:r>
          </a:p>
          <a:p/>
          <a:p>
            <a:r>
              <a:t>Visual: A calendar flips; new chip boxes pop out every six months on Nvidia's side, slower on the rival's side.</a:t>
            </a:r>
          </a:p>
          <a:p/>
          <a:p>
            <a:r>
              <a:t>On-screen: EVERY 6 MONTHS</a:t>
            </a:r>
          </a:p>
          <a:p/>
          <a:p>
            <a:r>
              <a:t>Animation: Calendar flips; new chip boxes pop out on Nvidia's side twice as often as the rival's.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Its biggest rival, 3dfx, the maker of the Voodoo cards that gamers had loved, couldn't keep up.</a:t>
            </a:r>
          </a:p>
          <a:p/>
          <a:p>
            <a:r>
              <a:t>Visual: A rival office with VOODOO posters goes dark, one light at a time.</a:t>
            </a:r>
          </a:p>
          <a:p/>
          <a:p>
            <a:r>
              <a:t>On-screen: 3DFX</a:t>
            </a:r>
          </a:p>
          <a:p/>
          <a:p>
            <a:r>
              <a:t>Animation: Rival office lights go dark one at a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At the end of 2000, Nvidia bought what was left of 3dfx. Five years after the NV1 flop, Nvidia was the company others were trying to catch.</a:t>
            </a:r>
          </a:p>
          <a:p/>
          <a:p>
            <a:r>
              <a:t>Visual: Nvidia staff carry boxes labeled 3DFX PATENTS into their office.</a:t>
            </a:r>
          </a:p>
          <a:p/>
          <a:p>
            <a:r>
              <a:t>On-screen: 2000</a:t>
            </a:r>
          </a:p>
          <a:p/>
          <a:p>
            <a:r>
              <a:t>Animation: Staff carry 3DFX PATENTS boxes in (carry walk cycles).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Here's the difference that changed everything. A normal processor is like one very smart worker doing tasks one after another, very fast.</a:t>
            </a:r>
          </a:p>
          <a:p/>
          <a:p>
            <a:r>
              <a:t>Visual: One ink figure works through a stack of papers at speed.</a:t>
            </a:r>
          </a:p>
          <a:p/>
          <a:p>
            <a:r>
              <a:t>On-screen: CPU</a:t>
            </a:r>
          </a:p>
          <a:p/>
          <a:p>
            <a:r>
              <a:t>Animation: One figure stamps through a paper stack at speed.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A GPU is like thousands of simple workers, each doing one small calculation at the same time.</a:t>
            </a:r>
          </a:p>
          <a:p/>
          <a:p>
            <a:r>
              <a:t>Visual: Pull back: a vast hall of tiny figures each stamping one sheet at once.</a:t>
            </a:r>
          </a:p>
          <a:p/>
          <a:p>
            <a:r>
              <a:t>On-screen: GPU</a:t>
            </a:r>
          </a:p>
          <a:p/>
          <a:p>
            <a:r>
              <a:t>Animation: Pull back to reveal a vast hall of tiny figures stamping at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For graphics, that's perfect: every pixel can be worked on at once. But lots of other problems look the same. Weather. Chemistry. Physics.</a:t>
            </a:r>
          </a:p>
          <a:p/>
          <a:p>
            <a:r>
              <a:t>Visual: The hall's papers turn into weather maps, molecules, fluid swirls.</a:t>
            </a:r>
          </a:p>
          <a:p/>
          <a:p>
            <a:r>
              <a:t>On-screen: -</a:t>
            </a:r>
          </a:p>
          <a:p/>
          <a:p>
            <a:r>
              <a:t>Animation: The papers turn into weather maps, molecules and fluid swirls.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In 2006 Nvidia announced CUDA, software that let scientists program its graphics chips for any kind of calculation.</a:t>
            </a:r>
          </a:p>
          <a:p/>
          <a:p>
            <a:r>
              <a:t>Visual: Code on a dark screen with the word CUDA.</a:t>
            </a:r>
          </a:p>
          <a:p/>
          <a:p>
            <a:r>
              <a:t>On-screen: CUDA · 2006</a:t>
            </a:r>
          </a:p>
          <a:p/>
          <a:p>
            <a:r>
              <a:t>Animation: Code types onto a dark screen; CUDA glows.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It was expensive. Every chip had to carry extra hardware for it, and for years, hardly anyone paid for it.</a:t>
            </a:r>
          </a:p>
          <a:p/>
          <a:p>
            <a:r>
              <a:t>Visual: A finance chart with costs climbing and a flat CUDA revenue line; worried executives.</a:t>
            </a:r>
          </a:p>
          <a:p/>
          <a:p>
            <a:r>
              <a:t>On-screen: -</a:t>
            </a:r>
          </a:p>
          <a:p/>
          <a:p>
            <a:r>
              <a:t>Animation: Costs climb, revenue line flat; executives glance at each 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Wall Street didn't like it. Nvidia's share price fell hard after 2008. Jensen kept funding CUDA anyway, and gave it to universities.</a:t>
            </a:r>
          </a:p>
          <a:p/>
          <a:p>
            <a:r>
              <a:t>Visual: Stock line falls; Jensen hands a box of GPUs to a professor.</a:t>
            </a:r>
          </a:p>
          <a:p/>
          <a:p>
            <a:r>
              <a:t>On-screen: -</a:t>
            </a:r>
          </a:p>
          <a:p/>
          <a:p>
            <a:r>
              <a:t>Animation: Stock line falls behind him; Jensen hands a box of GPUs to a professor.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In 2008 things got worse. A manufacturing defect in some laptop chips forced Nvidia to set aside about two hundred million dollars, and the financial crisis hit at the same time.</a:t>
            </a:r>
          </a:p>
          <a:p/>
          <a:p>
            <a:r>
              <a:t>Visual: A pile of returned laptops; a ledger with a red -$196M entry.</a:t>
            </a:r>
          </a:p>
          <a:p/>
          <a:p>
            <a:r>
              <a:t>On-screen: 2008</a:t>
            </a:r>
          </a:p>
          <a:p/>
          <a:p>
            <a:r>
              <a:t>Animation: Returned laptops pile up; red ledger entry writes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From its 2007 peak, the stock lost more than three quarters of its value. Investors asked why Nvidia was spending so much on a product almost nobody used.</a:t>
            </a:r>
          </a:p>
          <a:p/>
          <a:p>
            <a:r>
              <a:t>Visual: Share price line drops from a peak to a deep valley.</a:t>
            </a:r>
          </a:p>
          <a:p/>
          <a:p>
            <a:r>
              <a:t>On-screen: -80%</a:t>
            </a:r>
          </a:p>
          <a:p/>
          <a:p>
            <a:r>
              <a:t>Animation: Price line drops from the peak into a deep valley.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He was betting that somewhere, some researcher would find a job only this kind of chip could do.</a:t>
            </a:r>
          </a:p>
          <a:p/>
          <a:p>
            <a:r>
              <a:t>Visual: A university lab at night, one student working under a desk lamp.</a:t>
            </a:r>
          </a:p>
          <a:p/>
          <a:p>
            <a:r>
              <a:t>On-screen: -</a:t>
            </a:r>
          </a:p>
          <a:p/>
          <a:p>
            <a:r>
              <a:t>Animation: University lab at night; one student under a lamp; quiet.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In 2012, that job arrived. It came from the University of Toronto.</a:t>
            </a:r>
          </a:p>
          <a:p/>
          <a:p>
            <a:r>
              <a:t>Visual: Snowy Toronto campus at night; a lit window.</a:t>
            </a:r>
          </a:p>
          <a:p/>
          <a:p>
            <a:r>
              <a:t>On-screen: TORONTO · 2012</a:t>
            </a:r>
          </a:p>
          <a:p/>
          <a:p>
            <a:r>
              <a:t>Animation: Snow falls; one lit window; slow push.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A contest called ImageNet asked computer programs to recognise objects in more than a million photos.</a:t>
            </a:r>
          </a:p>
          <a:p/>
          <a:p>
            <a:r>
              <a:t>Visual: A grid of photos: cats, cars, mushrooms, boats, each with a guessing label.</a:t>
            </a:r>
          </a:p>
          <a:p/>
          <a:p>
            <a:r>
              <a:t>On-screen: IMAGENET</a:t>
            </a:r>
          </a:p>
          <a:p/>
          <a:p>
            <a:r>
              <a:t>Animation: Photo grid pops in; guessing labels flicker between options.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Most teams hand-designed the features the computer should look for. Edges, textures, shapes.</a:t>
            </a:r>
          </a:p>
          <a:p/>
          <a:p>
            <a:r>
              <a:t>Visual: Researchers drawing edge and texture filters on a chalkboard.</a:t>
            </a:r>
          </a:p>
          <a:p/>
          <a:p>
            <a:r>
              <a:t>On-screen: -</a:t>
            </a:r>
          </a:p>
          <a:p/>
          <a:p>
            <a:r>
              <a:t>Animation: Filters draw on the chalkboard as she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Alex Krizhevsky, Ilya Sutskever and Geoffrey Hinton did something different. They built a deep neural network and let it learn from the data itself.</a:t>
            </a:r>
          </a:p>
          <a:p/>
          <a:p>
            <a:r>
              <a:t>Visual: Three ink figures at a desk; a layered network diagram grows behind them.</a:t>
            </a:r>
          </a:p>
          <a:p/>
          <a:p>
            <a:r>
              <a:t>On-screen: KRIZHEVSKY · SUTSKEVER · HINTON</a:t>
            </a:r>
          </a:p>
          <a:p/>
          <a:p>
            <a:r>
              <a:t>Animation: A layered network diagram grows layer by layer behind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Training it took an enormous number of small calculations at once. They ran it on two Nvidia gaming cards, in a bedroom.</a:t>
            </a:r>
          </a:p>
          <a:p/>
          <a:p>
            <a:r>
              <a:t>Visual: Two 3D GeForce GTX 580 cards side by side in a PC, fans spinning.</a:t>
            </a:r>
          </a:p>
          <a:p/>
          <a:p>
            <a:r>
              <a:t>On-screen: 2 × GTX 580</a:t>
            </a:r>
          </a:p>
          <a:p/>
          <a:p>
            <a:r>
              <a:t>Animation: Two cards in a PC, fans spinning, slight rotation.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The best rival entry got about twenty-six percent of its top answers wrong. Their network, AlexNet, got about fifteen percent wrong.</a:t>
            </a:r>
          </a:p>
          <a:p/>
          <a:p>
            <a:r>
              <a:t>Visual: Bar chart: 26.2% vs 15.3% error.</a:t>
            </a:r>
          </a:p>
          <a:p/>
          <a:p>
            <a:r>
              <a:t>On-screen: 26.2% vs 15.3%</a:t>
            </a:r>
          </a:p>
          <a:p/>
          <a:p>
            <a:r>
              <a:t>Animation: Two error bars grow; the AlexNet bar stops much lower; hit.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In a field where progress came in tiny steps, it was a leap. And it ran on Nvidia.</a:t>
            </a:r>
          </a:p>
          <a:p/>
          <a:p>
            <a:r>
              <a:t>Visual: The two cards glow; the counter changes from DAYS OF CASH to MARKET VALUE.</a:t>
            </a:r>
          </a:p>
          <a:p/>
          <a:p>
            <a:r>
              <a:t>On-screen: -</a:t>
            </a:r>
          </a:p>
          <a:p/>
          <a:p>
            <a:r>
              <a:t>Animation: Cards glow; the counter label flips and starts climbing.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Within a few years, almost every serious AI lab was buying Nvidia chips. The hobby nobody wanted had found its customer.</a:t>
            </a:r>
          </a:p>
          <a:p/>
          <a:p>
            <a:r>
              <a:t>Visual: Labeled buildings light up one by one: GOOGLE, MICROSOFT, META, STANFORD, MIT.</a:t>
            </a:r>
          </a:p>
          <a:p/>
          <a:p>
            <a:r>
              <a:t>On-screen: -</a:t>
            </a:r>
          </a:p>
          <a:p/>
          <a:p>
            <a:r>
              <a:t>Animation: Buildings light up one by one as named.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Jensen moved fast. Nvidia began building whole AI computers, not just cards.</a:t>
            </a:r>
          </a:p>
          <a:p/>
          <a:p>
            <a:r>
              <a:t>Visual: 3D DGX-1 box, gold front panel, on a pedestal.</a:t>
            </a:r>
          </a:p>
          <a:p/>
          <a:p>
            <a:r>
              <a:t>On-screen: DGX-1</a:t>
            </a:r>
          </a:p>
          <a:p/>
          <a:p>
            <a:r>
              <a:t>Animation: The DGX-1 rises on a pedestal; gold panel shines.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In 2016 he personally delivered the first one to a small non-profit lab in San Francisco called OpenAI. He signed it: to the future of computing and humanity.</a:t>
            </a:r>
          </a:p>
          <a:p/>
          <a:p>
            <a:r>
              <a:t>Visual: Jensen carries the box through an office door; staff gather; a marker signature on the lid.</a:t>
            </a:r>
          </a:p>
          <a:p/>
          <a:p>
            <a:r>
              <a:t>On-screen: OPENAI · 2016</a:t>
            </a:r>
          </a:p>
          <a:p/>
          <a:p>
            <a:r>
              <a:t>Animation: Jensen carries the box in; staff gather; a marker signature draws on the lid.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Nvidia designs its chips, but doesn't make them. Most are manufactured by TSMC in Taiwan.</a:t>
            </a:r>
          </a:p>
          <a:p/>
          <a:p>
            <a:r>
              <a:t>Visual: Painted TSMC fab in Hsinchu, clean-room workers in white suits.</a:t>
            </a:r>
          </a:p>
          <a:p/>
          <a:p>
            <a:r>
              <a:t>On-screen: TSMC · TAIWAN</a:t>
            </a:r>
          </a:p>
          <a:p/>
          <a:p>
            <a:r>
              <a:t>Animation: Clean-room workers in white suits move slowly; yellow light.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In 2020, Jensen tried to buy Arm, the British company whose chip designs sit inside almost every smartphone, for forty billion dollars.</a:t>
            </a:r>
          </a:p>
          <a:p/>
          <a:p>
            <a:r>
              <a:t>Visual: A deal card '$40B' between NVIDIA and ARM text tiles; a phone opens to show an Arm core.</a:t>
            </a:r>
          </a:p>
          <a:p/>
          <a:p>
            <a:r>
              <a:t>On-screen: $40 BILLION</a:t>
            </a:r>
          </a:p>
          <a:p/>
          <a:p>
            <a:r>
              <a:t>Animation: Deal card slides between the tiles; the phone opens to show an Arm 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The rest of the industry objected. Regulators in America, Britain and Europe opened investigations, and the US Federal Trade Commission sued to block it.</a:t>
            </a:r>
          </a:p>
          <a:p/>
          <a:p>
            <a:r>
              <a:t>Visual: Three government buildings, each stamping a document.</a:t>
            </a:r>
          </a:p>
          <a:p/>
          <a:p>
            <a:r>
              <a:t>On-screen: FTC · UK · EU</a:t>
            </a:r>
          </a:p>
          <a:p/>
          <a:p>
            <a:r>
              <a:t>Animation: Three buildings each stamp a document (three stamp hits).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In 2022, Nvidia gave up on the deal.</a:t>
            </a:r>
          </a:p>
          <a:p/>
          <a:p>
            <a:r>
              <a:t>Visual: The deal card tears in half.</a:t>
            </a:r>
          </a:p>
          <a:p/>
          <a:p>
            <a:r>
              <a:t>On-screen: DEAL OFF · 2022</a:t>
            </a:r>
          </a:p>
          <a:p/>
          <a:p>
            <a:r>
              <a:t>Animation: The deal card tears in half; paper rip SFX.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That same year, the US government banned Nvidia from selling its top AI chips, the A100 and H100, to China.</a:t>
            </a:r>
          </a:p>
          <a:p/>
          <a:p>
            <a:r>
              <a:t>Visual: A Washington memo stamped 'EXPORT CONTROL'; crates of chips stopped at a port.</a:t>
            </a:r>
          </a:p>
          <a:p/>
          <a:p>
            <a:r>
              <a:t>On-screen: 2022</a:t>
            </a:r>
          </a:p>
          <a:p/>
          <a:p>
            <a:r>
              <a:t>Animation: Memo stamped; crates stop at the port; a barrier drops.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Nvidia designed slower versions to fit inside the rules, like the H800. In 2023, Washington tightened the rules and those were blocked too.</a:t>
            </a:r>
          </a:p>
          <a:p/>
          <a:p>
            <a:r>
              <a:t>Visual: A modified chip slides through a gate, then a second gate slams shut.</a:t>
            </a:r>
          </a:p>
          <a:p/>
          <a:p>
            <a:r>
              <a:t>On-screen: H800 BLOCKED · 2023</a:t>
            </a:r>
          </a:p>
          <a:p/>
          <a:p>
            <a:r>
              <a:t>Animation: A modified chip slides through the first gate; the second gate slams shut.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Nvidia was no longer just a chip company. It had become part of a technology contest between the world's two biggest powers.</a:t>
            </a:r>
          </a:p>
          <a:p/>
          <a:p>
            <a:r>
              <a:t>Visual: A chessboard with US and China pieces; the GPU sits in the middle as a piece.</a:t>
            </a:r>
          </a:p>
          <a:p/>
          <a:p>
            <a:r>
              <a:t>On-screen: -</a:t>
            </a:r>
          </a:p>
          <a:p/>
          <a:p>
            <a:r>
              <a:t>Animation: Chessboard; pieces slide; the GPU sits in the middle as a piece.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Then, in late 2022, ChatGPT launched, and every tech company on Earth wanted to build its own AI.</a:t>
            </a:r>
          </a:p>
          <a:p/>
          <a:p>
            <a:r>
              <a:t>Visual: A chat window glows on a laptop; crowds of companies rush toward a server hall.</a:t>
            </a:r>
          </a:p>
          <a:p/>
          <a:p>
            <a:r>
              <a:t>On-screen: LATE 2022</a:t>
            </a:r>
          </a:p>
          <a:p/>
          <a:p>
            <a:r>
              <a:t>Animation: A chat window glows; crowds of company tiles rush toward the server hall.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Training those models takes vast data centres full of GPUs. Nvidia's chips, and its CUDA software, were the standard.</a:t>
            </a:r>
          </a:p>
          <a:p/>
          <a:p>
            <a:r>
              <a:t>Visual: Endless rows of server racks with green lights.</a:t>
            </a:r>
          </a:p>
          <a:p/>
          <a:p>
            <a:r>
              <a:t>On-screen: -</a:t>
            </a:r>
          </a:p>
          <a:p/>
          <a:p>
            <a:r>
              <a:t>Animation: Endless racks with green lights; slow push down the aisle.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Seventeen years of CUDA meant that most AI code was already written for Nvidia. Switching to a rival chip wasn't just buying new hardware; it meant rewriting software.</a:t>
            </a:r>
          </a:p>
          <a:p/>
          <a:p>
            <a:r>
              <a:t>Visual: A huge library of code books all stamped CUDA; a rival chip sits alone with an empty shelf.</a:t>
            </a:r>
          </a:p>
          <a:p/>
          <a:p>
            <a:r>
              <a:t>On-screen: THE CUDA MOAT</a:t>
            </a:r>
          </a:p>
          <a:p/>
          <a:p>
            <a:r>
              <a:t>Animation: Library of code books stamped CUDA; the rival chip sits by an empty shelf.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Nvidia's value climbed in leaps. One trillion dollars in 2023. Three trillion in 2024. Four trillion in July 2025.</a:t>
            </a:r>
          </a:p>
          <a:p/>
          <a:p>
            <a:r>
              <a:t>Visual: Staircase chart with labeled steps $1T, $3T, $4T.</a:t>
            </a:r>
          </a:p>
          <a:p/>
          <a:p>
            <a:r>
              <a:t>On-screen: $1T · $3T · $4T</a:t>
            </a:r>
          </a:p>
          <a:p/>
          <a:p>
            <a:r>
              <a:t>Animation: A staircase draws step by step with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Its newer Blackwell chips were sold out long before the factories could make enough of them.</a:t>
            </a:r>
          </a:p>
          <a:p/>
          <a:p>
            <a:r>
              <a:t>Visual: 3D Blackwell board on a pedestal; an order queue scrolls beside it.</a:t>
            </a:r>
          </a:p>
          <a:p/>
          <a:p>
            <a:r>
              <a:t>On-screen: BLACKWELL</a:t>
            </a:r>
          </a:p>
          <a:p/>
          <a:p>
            <a:r>
              <a:t>Animation: Board rotates on a pedestal; the order queue scrolls.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On the twenty-ninth of October 2025, Nvidia became the first company ever worth five trillion dollars.</a:t>
            </a:r>
          </a:p>
          <a:p/>
          <a:p>
            <a:r>
              <a:t>Visual: Market-value counter lands on $5T; confetti of tiny chips.</a:t>
            </a:r>
          </a:p>
          <a:p/>
          <a:p>
            <a:r>
              <a:t>On-screen: 29 OCT 2025 · $5T</a:t>
            </a:r>
          </a:p>
          <a:p/>
          <a:p>
            <a:r>
              <a:t>Animation: Counter lands on $5T; tiny chip confetti falls.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From a diner booth, a dead-end chip, a favour from Sega, a chip finished with thirty days of cash, and a science project nobody paid for.</a:t>
            </a:r>
          </a:p>
          <a:p/>
          <a:p>
            <a:r>
              <a:t>Visual: Recap strip: Denny's booth, NV1, Tokyo bow, RIVA 128, Toronto lab.</a:t>
            </a:r>
          </a:p>
          <a:p/>
          <a:p>
            <a:r>
              <a:t>On-screen: -</a:t>
            </a:r>
          </a:p>
          <a:p/>
          <a:p>
            <a:r>
              <a:t>Animation: Recap strip slides past: booth, NV1, Tokyo bow, RIVA 128, Toronto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Every one of those bets looked mad at the time. Jensen kept making them.</a:t>
            </a:r>
          </a:p>
          <a:p/>
          <a:p>
            <a:r>
              <a:t>Visual: Jensen walks into a vast server hall, leather jacket, alone.</a:t>
            </a:r>
          </a:p>
          <a:p/>
          <a:p>
            <a:r>
              <a:t>On-screen: -</a:t>
            </a:r>
          </a:p>
          <a:p/>
          <a:p>
            <a:r>
              <a:t>Animation: Jensen walks alone into the hall (walk cycle); camera follows.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He still runs the company his own way. He has around sixty people reporting directly to him, few one-on-one meetings, and he still talks about the company as if it could die tomorrow.</a:t>
            </a:r>
          </a:p>
          <a:p/>
          <a:p>
            <a:r>
              <a:t>Visual: Jensen in a large open meeting with dozens of staff around a long table.</a:t>
            </a:r>
          </a:p>
          <a:p/>
          <a:p>
            <a:r>
              <a:t>On-screen: -</a:t>
            </a:r>
          </a:p>
          <a:p/>
          <a:p>
            <a:r>
              <a:t>Animation: Open meeting; staff around a long table; he gestures; heads turn.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If you want to see who ends up owning a slice of a company like this, watch our story on BlackRock next.</a:t>
            </a:r>
          </a:p>
          <a:p/>
          <a:p>
            <a:r>
              <a:t>Visual: End card with the channel name.</a:t>
            </a:r>
          </a:p>
          <a:p/>
          <a:p>
            <a:r>
              <a:t>On-screen: STROMHELL</a:t>
            </a:r>
          </a:p>
          <a:p/>
          <a:p>
            <a:r>
              <a:t>Animation: End card; music resolves.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2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notesSlide" Target="../notesSlides/notesSlide2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notesSlide" Target="../notesSlides/notesSlide2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notesSlide" Target="../notesSlides/notesSlide30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notesSlide" Target="../notesSlides/notesSlide3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notesSlide" Target="../notesSlides/notesSlide3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notesSlide" Target="../notesSlides/notesSlide3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notesSlide" Target="../notesSlides/notesSlide34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notesSlide" Target="../notesSlides/notesSlide35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Relationship Id="rId3" Type="http://schemas.openxmlformats.org/officeDocument/2006/relationships/notesSlide" Target="../notesSlides/notesSlide3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Relationship Id="rId3" Type="http://schemas.openxmlformats.org/officeDocument/2006/relationships/notesSlide" Target="../notesSlides/notesSlide3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notesSlide" Target="../notesSlides/notesSlide38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Relationship Id="rId3" Type="http://schemas.openxmlformats.org/officeDocument/2006/relationships/notesSlide" Target="../notesSlides/notesSlide39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Relationship Id="rId3" Type="http://schemas.openxmlformats.org/officeDocument/2006/relationships/notesSlide" Target="../notesSlides/notesSlide40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openxmlformats.org/officeDocument/2006/relationships/notesSlide" Target="../notesSlides/notesSlide4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notesSlide" Target="../notesSlides/notesSlide4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Relationship Id="rId3" Type="http://schemas.openxmlformats.org/officeDocument/2006/relationships/notesSlide" Target="../notesSlides/notesSlide43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Relationship Id="rId3" Type="http://schemas.openxmlformats.org/officeDocument/2006/relationships/notesSlide" Target="../notesSlides/notesSlide44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Relationship Id="rId3" Type="http://schemas.openxmlformats.org/officeDocument/2006/relationships/notesSlide" Target="../notesSlides/notesSlide45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Relationship Id="rId3" Type="http://schemas.openxmlformats.org/officeDocument/2006/relationships/notesSlide" Target="../notesSlides/notesSlide46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Relationship Id="rId3" Type="http://schemas.openxmlformats.org/officeDocument/2006/relationships/notesSlide" Target="../notesSlides/notesSlide4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Relationship Id="rId3" Type="http://schemas.openxmlformats.org/officeDocument/2006/relationships/notesSlide" Target="../notesSlides/notesSlide48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Relationship Id="rId3" Type="http://schemas.openxmlformats.org/officeDocument/2006/relationships/notesSlide" Target="../notesSlides/notesSlide49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Relationship Id="rId3" Type="http://schemas.openxmlformats.org/officeDocument/2006/relationships/notesSlide" Target="../notesSlides/notesSlide50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Relationship Id="rId3" Type="http://schemas.openxmlformats.org/officeDocument/2006/relationships/notesSlide" Target="../notesSlides/notesSlide5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notesSlide" Target="../notesSlides/notesSlide5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Relationship Id="rId3" Type="http://schemas.openxmlformats.org/officeDocument/2006/relationships/notesSlide" Target="../notesSlides/notesSlide53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Relationship Id="rId3" Type="http://schemas.openxmlformats.org/officeDocument/2006/relationships/notesSlide" Target="../notesSlides/notesSlide54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Relationship Id="rId3" Type="http://schemas.openxmlformats.org/officeDocument/2006/relationships/notesSlide" Target="../notesSlides/notesSlide55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Relationship Id="rId3" Type="http://schemas.openxmlformats.org/officeDocument/2006/relationships/notesSlide" Target="../notesSlides/notesSlide56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Relationship Id="rId3" Type="http://schemas.openxmlformats.org/officeDocument/2006/relationships/notesSlide" Target="../notesSlides/notesSlide5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jpg"/><Relationship Id="rId3" Type="http://schemas.openxmlformats.org/officeDocument/2006/relationships/notesSlide" Target="../notesSlides/notesSlide58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Relationship Id="rId3" Type="http://schemas.openxmlformats.org/officeDocument/2006/relationships/notesSlide" Target="../notesSlides/notesSlide59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jpg"/><Relationship Id="rId3" Type="http://schemas.openxmlformats.org/officeDocument/2006/relationships/notesSlide" Target="../notesSlides/notesSlide60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jpg"/><Relationship Id="rId3" Type="http://schemas.openxmlformats.org/officeDocument/2006/relationships/notesSlide" Target="../notesSlides/notesSlide6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jpg"/><Relationship Id="rId3" Type="http://schemas.openxmlformats.org/officeDocument/2006/relationships/notesSlide" Target="../notesSlides/notesSlide6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jpg"/><Relationship Id="rId3" Type="http://schemas.openxmlformats.org/officeDocument/2006/relationships/notesSlide" Target="../notesSlides/notesSlide6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jpg"/><Relationship Id="rId3" Type="http://schemas.openxmlformats.org/officeDocument/2006/relationships/notesSlide" Target="../notesSlides/notesSlide6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jpg"/><Relationship Id="rId3" Type="http://schemas.openxmlformats.org/officeDocument/2006/relationships/notesSlide" Target="../notesSlides/notesSlide6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Relationship Id="rId3" Type="http://schemas.openxmlformats.org/officeDocument/2006/relationships/notesSlide" Target="../notesSlides/notesSlide6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jpg"/><Relationship Id="rId3" Type="http://schemas.openxmlformats.org/officeDocument/2006/relationships/notesSlide" Target="../notesSlides/notesSlide6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jpg"/><Relationship Id="rId3" Type="http://schemas.openxmlformats.org/officeDocument/2006/relationships/notesSlide" Target="../notesSlides/notesSlide6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jpg"/><Relationship Id="rId3" Type="http://schemas.openxmlformats.org/officeDocument/2006/relationships/notesSlide" Target="../notesSlides/notesSlide6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jpg"/><Relationship Id="rId3" Type="http://schemas.openxmlformats.org/officeDocument/2006/relationships/notesSlide" Target="../notesSlides/notesSlide70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jpg"/><Relationship Id="rId3" Type="http://schemas.openxmlformats.org/officeDocument/2006/relationships/notesSlide" Target="../notesSlides/notesSlide71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jpg"/><Relationship Id="rId3" Type="http://schemas.openxmlformats.org/officeDocument/2006/relationships/notesSlide" Target="../notesSlides/notesSlide72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jpg"/><Relationship Id="rId3" Type="http://schemas.openxmlformats.org/officeDocument/2006/relationships/notesSlide" Target="../notesSlides/notesSlide73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jpg"/><Relationship Id="rId3" Type="http://schemas.openxmlformats.org/officeDocument/2006/relationships/notesSlide" Target="../notesSlides/notesSlide74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jpg"/><Relationship Id="rId3" Type="http://schemas.openxmlformats.org/officeDocument/2006/relationships/notesSlide" Target="../notesSlides/notesSlide75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jpg"/><Relationship Id="rId3" Type="http://schemas.openxmlformats.org/officeDocument/2006/relationships/notesSlide" Target="../notesSlides/notesSlide76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Relationship Id="rId3" Type="http://schemas.openxmlformats.org/officeDocument/2006/relationships/notesSlide" Target="../notesSlides/notesSlide7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jpg"/><Relationship Id="rId3" Type="http://schemas.openxmlformats.org/officeDocument/2006/relationships/notesSlide" Target="../notesSlides/notesSlide78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jpg"/><Relationship Id="rId3" Type="http://schemas.openxmlformats.org/officeDocument/2006/relationships/notesSlide" Target="../notesSlides/notesSlide7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B44A1E"/>
                </a:solidFill>
                <a:latin typeface="Calibri"/>
              </a:rPr>
              <a:t>STORYBOARD · NV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4000" b="1">
                <a:solidFill>
                  <a:srgbClr val="1E1B18"/>
                </a:solidFill>
                <a:latin typeface="Calibri"/>
              </a:rPr>
              <a:t>How Jensen Huang Actually Built Nvidia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69848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0">
                <a:solidFill>
                  <a:srgbClr val="6B635A"/>
                </a:solidFill>
                <a:latin typeface="Calibri"/>
              </a:rPr>
              <a:t>Working title: He Built the Wrong Chip and Still Built the World's Most Valuable Company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1E1B18"/>
                </a:solidFill>
                <a:latin typeface="Calibri"/>
              </a:rPr>
              <a:t>79 frames · 10 acts · 1537 words · runtime 10:42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698480" cy="23774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1E1B18"/>
                </a:solidFill>
                <a:latin typeface="Calibri"/>
              </a:rPr>
              <a:t>Running device: </a:t>
            </a:r>
            <a:r>
              <a:rPr sz="1300" b="0">
                <a:solidFill>
                  <a:srgbClr val="1E1B18"/>
                </a:solidFill>
                <a:latin typeface="Calibri"/>
              </a:rPr>
              <a:t>A 'DAYS OF CASH LEFT' counter in the corner that keeps nearly hitting zero (NV1 flop, Sega deal, RIVA 128), then flips into a market-value counter that climbs to $5 trillion.</a:t>
            </a:r>
          </a:p>
          <a:p>
            <a:pPr>
              <a:spcAft>
                <a:spcPts val="200"/>
              </a:spcAft>
            </a:pPr>
            <a:r>
              <a:rPr sz="1300" b="1">
                <a:solidFill>
                  <a:srgbClr val="1E1B18"/>
                </a:solidFill>
                <a:latin typeface="Calibri"/>
              </a:rPr>
              <a:t>Style: </a:t>
            </a:r>
            <a:r>
              <a:rPr sz="1300" b="0">
                <a:solidFill>
                  <a:srgbClr val="1E1B18"/>
                </a:solidFill>
                <a:latin typeface="Calibri"/>
              </a:rPr>
              <a:t>Calm serious tech-history documentary in the house 2D style. Painted plates: 1970s Kentucky boarding school, a 1990s Denny's booth under fluorescent light, a cramped early-90s office, a Tokyo boardroom, server halls glowing green. Chips as 3D props (NV1 board, RIVA 128, GeForce 256, H100). Real people as round-headed ink characters; company names as plain text, no logos.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880360"/>
            <a:ext cx="10698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3200" b="1">
                <a:solidFill>
                  <a:srgbClr val="F6F1E8"/>
                </a:solidFill>
                <a:latin typeface="Calibri"/>
              </a:rPr>
              <a:t>ACT 0 · COLD OPEN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2044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0">
                <a:solidFill>
                  <a:srgbClr val="D8CFC2"/>
                </a:solidFill>
                <a:latin typeface="Calibri"/>
              </a:rPr>
              <a:t>6 frames · 0:54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NV 0.01</a:t>
            </a:r>
            <a:r>
              <a:rPr sz="1400" b="0">
                <a:solidFill>
                  <a:srgbClr val="D8CFC2"/>
                </a:solidFill>
                <a:latin typeface="Calibri"/>
              </a:rPr>
              <a:t>   CU   ·   8.7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0 · Cold open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A man who washed dishes at Denny's as a teenager now runs the first company in history worth five trillion dollars.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A teenage Jensen at a steaming dish sink; the steam clears into a $5T counter.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—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Steam rises from the sink as the boy scrubs (looping arm); the steam clears and becomes the $5T counter rolling up.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NV 0.02</a:t>
            </a:r>
            <a:r>
              <a:rPr sz="1400" b="0">
                <a:solidFill>
                  <a:srgbClr val="D8CFC2"/>
                </a:solidFill>
                <a:latin typeface="Calibri"/>
              </a:rPr>
              <a:t>   MED   ·   11.3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0 · Cold open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It started in 1993, in a booth at a Denny's in San Jose, where three engineers drank refill coffee and argued about a chip that didn't exist yet.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Night exterior of a roadside diner; inside, three men in a vinyl booth with coffee mugs and a notepad.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SAN JOSE · 1993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Night exterior of the diner, neon flicker; push through the window to three men in the booth with mugs.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NV 0.03</a:t>
            </a:r>
            <a:r>
              <a:rPr sz="1400" b="0">
                <a:solidFill>
                  <a:srgbClr val="D8CFC2"/>
                </a:solidFill>
                <a:latin typeface="Calibri"/>
              </a:rPr>
              <a:t>   MED   ·   9.8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0 · Cold open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Within a few years, their company built the wrong chip, lost almost everything, and came within about a month of running out of money.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Days-of-cash counter drops fast toward zero; office lights dim one by one.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DAYS OF CASH: 30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Counter drops fast; office lights switch off one by one toward camera.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NV 0.04</a:t>
            </a:r>
            <a:r>
              <a:rPr sz="1400" b="0">
                <a:solidFill>
                  <a:srgbClr val="D8CFC2"/>
                </a:solidFill>
                <a:latin typeface="Calibri"/>
              </a:rPr>
              <a:t>   CHART   ·   10.2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0 · Cold open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The chip that nearly killed it is the reason it won. And the bet that made it a giant earned almost nothing for six years.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Market-value counter rockets past Apple and Microsoft tiles to $5T.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$5,000,000,000,000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Market value bar rockets past the Apple and Microsoft tiles; counter lands on $5T.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NV 0.05</a:t>
            </a:r>
            <a:r>
              <a:rPr sz="1400" b="0">
                <a:solidFill>
                  <a:srgbClr val="D8CFC2"/>
                </a:solidFill>
                <a:latin typeface="Calibri"/>
              </a:rPr>
              <a:t>   CU   ·   10.9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0 · Cold open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This is the story of Nvidia, and of Jensen Huang, a man who later said his will to survive exceeded almost everybody else's will to kill him.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Push into Jensen in his black leather jacket, backlit by a server hall.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—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Backlit by server lights; slow push in on Jensen in the leather jacket.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NV 0.06</a:t>
            </a:r>
            <a:r>
              <a:rPr sz="1400" b="0">
                <a:solidFill>
                  <a:srgbClr val="D8CFC2"/>
                </a:solidFill>
                <a:latin typeface="Calibri"/>
              </a:rPr>
              <a:t>   TITLE   ·   4.0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0 · Cold open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Title over a single glowing chip on a dark table.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THE WRONG CHIP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A single chip glows on a dark table; title scales in; deep hit.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880360"/>
            <a:ext cx="10698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3200" b="1">
                <a:solidFill>
                  <a:srgbClr val="F6F1E8"/>
                </a:solidFill>
                <a:latin typeface="Calibri"/>
              </a:rPr>
              <a:t>ACT 1 · ACT 1: THE BOY AT ONEIDA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2044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0">
                <a:solidFill>
                  <a:srgbClr val="D8CFC2"/>
                </a:solidFill>
                <a:latin typeface="Calibri"/>
              </a:rPr>
              <a:t>8 frames · 1:02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NV 1.01</a:t>
            </a:r>
            <a:r>
              <a:rPr sz="1400" b="0">
                <a:solidFill>
                  <a:srgbClr val="D8CFC2"/>
                </a:solidFill>
                <a:latin typeface="Calibri"/>
              </a:rPr>
              <a:t>   MAP   ·   6.0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1 · Act 1: The Boy at Oneida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Jensen Huang was born in Taiwan in 1963. His family later moved to Thailand.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Parchment map: Tainan pin, then an arrow to Bangkok.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TAIWAN · 1963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Pin drops on Tainan; a dotted arrow draws to Bangkok.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NV 1.02</a:t>
            </a:r>
            <a:r>
              <a:rPr sz="1400" b="0">
                <a:solidFill>
                  <a:srgbClr val="D8CFC2"/>
                </a:solidFill>
                <a:latin typeface="Calibri"/>
              </a:rPr>
              <a:t>   MED   ·   9.8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1 · Act 1: The Boy at Oneida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When he was nine, his parents sent him and his older brother to America, to stay with an uncle and get a good education.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Airport departure: two small boys with one suitcase each, parents waving.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—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Two small boys with suitcases walk to the gate; parents wave (arm loops).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NV 1.03</a:t>
            </a:r>
            <a:r>
              <a:rPr sz="1400" b="0">
                <a:solidFill>
                  <a:srgbClr val="D8CFC2"/>
                </a:solidFill>
                <a:latin typeface="Calibri"/>
              </a:rPr>
              <a:t>   MAP   ·   7.5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1 · Act 1: The Boy at Oneida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The uncle enrolled them at a school in rural Kentucky that he thought was a prestigious boarding school.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Map of the USA, pin on Oneida, Kentucky; hills and a winding road.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ONEIDA, KENTUCKY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US map; pin on Oneida; a winding road draws through the hills.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NV 1.04</a:t>
            </a:r>
            <a:r>
              <a:rPr sz="1400" b="0">
                <a:solidFill>
                  <a:srgbClr val="D8CFC2"/>
                </a:solidFill>
                <a:latin typeface="Calibri"/>
              </a:rPr>
              <a:t>   WIDE   ·   6.4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1 · Act 1: The Boy at Oneida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It was the Oneida Baptist Institute, a strict school that also took in troubled teenagers.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Painted brick dormitory in the hills, grey sky; older teenage boys in the yard.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ONEIDA BAPTIST INSTITUTE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Grey sky; brick dorm; older boys loiter and turn their heads toward the camera.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NV 1.05</a:t>
            </a:r>
            <a:r>
              <a:rPr sz="1400" b="0">
                <a:solidFill>
                  <a:srgbClr val="D8CFC2"/>
                </a:solidFill>
                <a:latin typeface="Calibri"/>
              </a:rPr>
              <a:t>   MED   ·   6.4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1 · Act 1: The Boy at Oneida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Jensen was the youngest boy in the dorm. His daily job was cleaning the bathrooms.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Small Jensen with a mop and bucket in a long tiled washroom.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CHORE: BATHROOMS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Small Jensen mops a long tiled floor (mop sweep loop); echoey drips.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NV 1.06</a:t>
            </a:r>
            <a:r>
              <a:rPr sz="1400" b="0">
                <a:solidFill>
                  <a:srgbClr val="D8CFC2"/>
                </a:solidFill>
                <a:latin typeface="Calibri"/>
              </a:rPr>
              <a:t>   CU   ·   9.1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1 · Act 1: The Boy at Oneida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He has said he didn't complain, and that it taught him to just get on with the work in front of him.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Close on his determined face as he finishes the floor.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—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Push in on his determined face as he finishes; a breath.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NV 1.07</a:t>
            </a:r>
            <a:r>
              <a:rPr sz="1400" b="0">
                <a:solidFill>
                  <a:srgbClr val="D8CFC2"/>
                </a:solidFill>
                <a:latin typeface="Calibri"/>
              </a:rPr>
              <a:t>   MAP   ·   7.9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1 · Act 1: The Boy at Oneida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His parents eventually joined them in Oregon. As a teenager he worked at Denny's, washing dishes and waiting tables.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Map arrow from Kentucky to Oregon; the Denny's kitchen.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OREGON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Arrow draws from Kentucky to Oregon; dissolve into the Denny's kitchen.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NV 1.08</a:t>
            </a:r>
            <a:r>
              <a:rPr sz="1400" b="0">
                <a:solidFill>
                  <a:srgbClr val="D8CFC2"/>
                </a:solidFill>
                <a:latin typeface="Calibri"/>
              </a:rPr>
              <a:t>   MED   ·   9.8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1 · Act 1: The Boy at Oneida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He studied electrical engineering at Oregon State, then designed chips at AMD and LSI Logic, and took a master's degree at Stanford at night.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Montage: college lab, AMD and LSI office badges, a Stanford library desk at night.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OREGON STATE · AMD · LSI · STANFORD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Fast montage, 1.5 s each: college lab, badges flip in, library desk at night.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880360"/>
            <a:ext cx="10698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3200" b="1">
                <a:solidFill>
                  <a:srgbClr val="F6F1E8"/>
                </a:solidFill>
                <a:latin typeface="Calibri"/>
              </a:rPr>
              <a:t>ACT 2 · ACT 2: THE WRONG CHIP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2044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0">
                <a:solidFill>
                  <a:srgbClr val="D8CFC2"/>
                </a:solidFill>
                <a:latin typeface="Calibri"/>
              </a:rPr>
              <a:t>8 frames · 0:58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NV 2.01</a:t>
            </a:r>
            <a:r>
              <a:rPr sz="1400" b="0">
                <a:solidFill>
                  <a:srgbClr val="D8CFC2"/>
                </a:solidFill>
                <a:latin typeface="Calibri"/>
              </a:rPr>
              <a:t>   MED   ·   7.9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2 · Act 2: The Wrong Chip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By the early nineties, Jensen and two engineers from Sun Microsystems, Chris Malachowsky and Curtis Priem, shared an idea.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The three founders in the Denny's booth; name tags pop beside each.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HUANG · MALACHOWSKY · PRIEM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Name tags pop beside each founder as named; mugs steam.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NV 2.02</a:t>
            </a:r>
            <a:r>
              <a:rPr sz="1400" b="0">
                <a:solidFill>
                  <a:srgbClr val="D8CFC2"/>
                </a:solidFill>
                <a:latin typeface="Calibri"/>
              </a:rPr>
              <a:t>   CU   ·   8.7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2 · Act 2: The Wrong Chip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Video games were moving to 3D, and ordinary computer processors couldn't keep up. Someone would build a chip just for graphics.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A flat 2D game sprite on an old monitor morphs into a clunky 3D shape that stutters.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—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A flat 2D sprite morphs into a clunky 3D shape that stutters (frame skips).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NV 2.03</a:t>
            </a:r>
            <a:r>
              <a:rPr sz="1400" b="0">
                <a:solidFill>
                  <a:srgbClr val="D8CFC2"/>
                </a:solidFill>
                <a:latin typeface="Calibri"/>
              </a:rPr>
              <a:t>   CARD   ·   5.7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2 · Act 2: The Wrong Chip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They founded Nvidia in April 1993, with about forty thousand dollars between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Incorporation papers on the diner table next to the coffee.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NVIDIA · APRIL 1993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Papers slide onto the table next to the coffee; a pen signs.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NV 2.04</a:t>
            </a:r>
            <a:r>
              <a:rPr sz="1400" b="0">
                <a:solidFill>
                  <a:srgbClr val="D8CFC2"/>
                </a:solidFill>
                <a:latin typeface="Calibri"/>
              </a:rPr>
              <a:t>   PROP3D   ·   10.2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2 · Act 2: The Wrong Chip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Their first chip, the NV1, came out in 1995. It tried to do everything at once: graphics, sound and game controller support on one card.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3D NV1 card rotates on a workbench, components labeled.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NV1 · 1995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The NV1 card rotates on the bench; part labels draw on with leader lines.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NV 2.05</a:t>
            </a:r>
            <a:r>
              <a:rPr sz="1400" b="0">
                <a:solidFill>
                  <a:srgbClr val="D8CFC2"/>
                </a:solidFill>
                <a:latin typeface="Calibri"/>
              </a:rPr>
              <a:t>   MED   ·   6.4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2 · Act 2: The Wrong Chip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It also drew 3D shapes in an unusual way, using curved surfaces called quadratic patches.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On a monitor, a 3D model built from smooth curved patches.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CURVES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A model builds from smooth curved patches on the monitor.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NV 2.06</a:t>
            </a:r>
            <a:r>
              <a:rPr sz="1400" b="0">
                <a:solidFill>
                  <a:srgbClr val="D8CFC2"/>
                </a:solidFill>
                <a:latin typeface="Calibri"/>
              </a:rPr>
              <a:t>   MED   ·   7.9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2 · Act 2: The Wrong Chip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Then Microsoft released DirectX, the standard most PC games would be built on. And DirectX was built around triangles.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A wall of game boxes all showing triangle meshes; the curved model looks out of place.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DIRECTX = TRIANGLES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A wall of triangle-mesh game boxes; the curved model slides in and looks out of place.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NV 2.07</a:t>
            </a:r>
            <a:r>
              <a:rPr sz="1400" b="0">
                <a:solidFill>
                  <a:srgbClr val="D8CFC2"/>
                </a:solidFill>
                <a:latin typeface="Calibri"/>
              </a:rPr>
              <a:t>   CU   ·   8.3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2 · Act 2: The Wrong Chip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Nvidia had bet the company on the opposite approach. Jensen later said they built the wrong thing with great confidence.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The NV1 card on a shelf gathering dust; returns piled in boxes.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—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Dust settles on the shelved card; return boxes stack up with thuds.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NV 2.08</a:t>
            </a:r>
            <a:r>
              <a:rPr sz="1400" b="0">
                <a:solidFill>
                  <a:srgbClr val="D8CFC2"/>
                </a:solidFill>
                <a:latin typeface="Calibri"/>
              </a:rPr>
              <a:t>   CHART   ·   3.8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2 · Act 2: The Wrong Chip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The NV1 sold badly. Money was running 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Days-of-cash counter tumbles.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DAYS OF CASH: FALLING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Counter tumbles; low drone.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880360"/>
            <a:ext cx="10698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3200" b="1">
                <a:solidFill>
                  <a:srgbClr val="F6F1E8"/>
                </a:solidFill>
                <a:latin typeface="Calibri"/>
              </a:rPr>
              <a:t>ACT 3 · ACT 3: THE SEGA CALL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2044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0">
                <a:solidFill>
                  <a:srgbClr val="D8CFC2"/>
                </a:solidFill>
                <a:latin typeface="Calibri"/>
              </a:rPr>
              <a:t>7 frames · 0:54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NV 3.01</a:t>
            </a:r>
            <a:r>
              <a:rPr sz="1400" b="0">
                <a:solidFill>
                  <a:srgbClr val="D8CFC2"/>
                </a:solidFill>
                <a:latin typeface="Calibri"/>
              </a:rPr>
              <a:t>   MED   ·   7.5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3 · Act 3: The Sega Call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Nvidia had one lifeline: a contract with Sega to build the graphics chip for its next game console.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A signed contract on a desk with SEGA in plain letters.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THE SEGA CONTRACT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Signed contract slides onto the desk; light warms.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NV 3.02</a:t>
            </a:r>
            <a:r>
              <a:rPr sz="1400" b="0">
                <a:solidFill>
                  <a:srgbClr val="D8CFC2"/>
                </a:solidFill>
                <a:latin typeface="Calibri"/>
              </a:rPr>
              <a:t>   MED   ·   7.9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3 · Act 3: The Sega Call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But that chip was based on the same curved-surface design, the one the rest of the industry was abandoning.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Engineers stare at a whiteboard with a curved model crossed out.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—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Engineers stare at the whiteboard; the curved model gets crossed out with a marker squeak.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NV 3.03</a:t>
            </a:r>
            <a:r>
              <a:rPr sz="1400" b="0">
                <a:solidFill>
                  <a:srgbClr val="D8CFC2"/>
                </a:solidFill>
                <a:latin typeface="Calibri"/>
              </a:rPr>
              <a:t>   CU   ·   8.3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3 · Act 3: The Sega Call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If they finished it, they'd spend a year building something dead. If they quit, they'd lose their only paying customer.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Jensen alone in a dark office, the counter glowing near zero.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—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Dark office; only the counter glows near zero; slow push in.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NV 3.04</a:t>
            </a:r>
            <a:r>
              <a:rPr sz="1400" b="0">
                <a:solidFill>
                  <a:srgbClr val="D8CFC2"/>
                </a:solidFill>
                <a:latin typeface="Calibri"/>
              </a:rPr>
              <a:t>   WIDE   ·   11.3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3 · Act 3: The Sega Call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So Jensen flew to Japan and did something unusual. He told Sega's chief executive, Shoichiro Irimajiri, that Nvidia's approach was wrong, and that Sega should find another partner.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Tokyo boardroom, rain on tall windows; Jensen bows before Irimajiri.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TOKYO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Rain on tall windows; Jensen bows slowly; Irimajiri watches.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NV 3.05</a:t>
            </a:r>
            <a:r>
              <a:rPr sz="1400" b="0">
                <a:solidFill>
                  <a:srgbClr val="D8CFC2"/>
                </a:solidFill>
                <a:latin typeface="Calibri"/>
              </a:rPr>
              <a:t>   MED   ·   9.4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3 · Act 3: The Sega Call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Then he asked for the rest of the money anyway. As an investment, not a payment, because without it Nvidia would go under.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A cheque-shaped card reading $5,000,000 floats between them.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$5 MILLION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The cheque card floats up between them and turns.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NV 3.06</a:t>
            </a:r>
            <a:r>
              <a:rPr sz="1400" b="0">
                <a:solidFill>
                  <a:srgbClr val="D8CFC2"/>
                </a:solidFill>
                <a:latin typeface="Calibri"/>
              </a:rPr>
              <a:t>   CU   ·   5.7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3 · Act 3: The Sega Call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Irimajiri agreed. Jensen has said the only reason was that Irimajiri liked him.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Irimajiri nods slowly; a faint smile.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—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Irimajiri nods slowly; a faint smile.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NV 3.07</a:t>
            </a:r>
            <a:r>
              <a:rPr sz="1400" b="0">
                <a:solidFill>
                  <a:srgbClr val="D8CFC2"/>
                </a:solidFill>
                <a:latin typeface="Calibri"/>
              </a:rPr>
              <a:t>   CHART   ·   4.2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3 · Act 3: The Sega Call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That five million dollars bought Nvidia about six months.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Days-of-cash counter jumps up to ~180, then begins ticking down again.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+6 MONTHS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Counter jumps up to about 180 with a lift, then starts ticking down again.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880360"/>
            <a:ext cx="10698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3200" b="1">
                <a:solidFill>
                  <a:srgbClr val="F6F1E8"/>
                </a:solidFill>
                <a:latin typeface="Calibri"/>
              </a:rPr>
              <a:t>ACT 4 · ACT 4: THIRTY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2044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0">
                <a:solidFill>
                  <a:srgbClr val="D8CFC2"/>
                </a:solidFill>
                <a:latin typeface="Calibri"/>
              </a:rPr>
              <a:t>6 frames · 0:43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NV 4.01</a:t>
            </a:r>
            <a:r>
              <a:rPr sz="1400" b="0">
                <a:solidFill>
                  <a:srgbClr val="D8CFC2"/>
                </a:solidFill>
                <a:latin typeface="Calibri"/>
              </a:rPr>
              <a:t>   MED   ·   7.9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4 · Act 4: Thirty Days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Nvidia laid off much of its staff and threw everything at one new chip, built around triangles and DirectX.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Half-empty office; remaining engineers hunched over boards late at night.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—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Half-empty office at night; heads bent over boards; a clock ticks.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NV 4.02</a:t>
            </a:r>
            <a:r>
              <a:rPr sz="1400" b="0">
                <a:solidFill>
                  <a:srgbClr val="D8CFC2"/>
                </a:solidFill>
                <a:latin typeface="Calibri"/>
              </a:rPr>
              <a:t>   MED   ·   9.1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4 · Act 4: Thirty Days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To save time they bought an emulator, a machine that let them test the design in software before any real chip existed.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A big 3D emulator box hums in the corner, cables everywhere.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EMULATOR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Big emulator hums in the corner; cables sway; LEDs blink.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NV 4.03</a:t>
            </a:r>
            <a:r>
              <a:rPr sz="1400" b="0">
                <a:solidFill>
                  <a:srgbClr val="D8CFC2"/>
                </a:solidFill>
                <a:latin typeface="Calibri"/>
              </a:rPr>
              <a:t>   CU   ·   6.4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4 · Act 4: Thirty Days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They had roughly a month of payroll left when the chip went to the factory.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Days-of-cash counter at 30.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30 DAYS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Counter sits at 30 in red; heartbeat SFX.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NV 4.04</a:t>
            </a:r>
            <a:r>
              <a:rPr sz="1400" b="0">
                <a:solidFill>
                  <a:srgbClr val="D8CFC2"/>
                </a:solidFill>
                <a:latin typeface="Calibri"/>
              </a:rPr>
              <a:t>   PROP3D   ·   6.0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4 · Act 4: Thirty Days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It was called the RIVA 128, released in 1997. And this time it worked.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3D RIVA 128 chip lifts off its board, light sweeping across it.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RIVA 128 · 1997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The chip lifts off its board in 3D; a light sweep crosses it.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NV 4.05</a:t>
            </a:r>
            <a:r>
              <a:rPr sz="1400" b="0">
                <a:solidFill>
                  <a:srgbClr val="D8CFC2"/>
                </a:solidFill>
                <a:latin typeface="Calibri"/>
              </a:rPr>
              <a:t>   CHART   ·   4.9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4 · Act 4: Thirty Days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It sold about a million units in its first four months.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A stack of chip boxes grows to 1,000,000.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1,000,000 IN 4 MONTHS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Boxes stack up fast; counter to 1,000,000.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NV 4.06</a:t>
            </a:r>
            <a:r>
              <a:rPr sz="1400" b="0">
                <a:solidFill>
                  <a:srgbClr val="D8CFC2"/>
                </a:solidFill>
                <a:latin typeface="Calibri"/>
              </a:rPr>
              <a:t>   CU   ·   8.7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4 · Act 4: Thirty Days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For years afterwards, Jensen opened staff meetings with the same line: our company is thirty days from going out of business.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Jensen at a whiteboard; behind him the words 'THIRTY DAYS'.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'30 DAYS FROM GOING OUT OF BUSINESS'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Jensen taps the whiteboard; the words write themselves behind him.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880360"/>
            <a:ext cx="10698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3200" b="1">
                <a:solidFill>
                  <a:srgbClr val="F6F1E8"/>
                </a:solidFill>
                <a:latin typeface="Calibri"/>
              </a:rPr>
              <a:t>ACT 5 · ACT 5: THE GPU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2044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0">
                <a:solidFill>
                  <a:srgbClr val="D8CFC2"/>
                </a:solidFill>
                <a:latin typeface="Calibri"/>
              </a:rPr>
              <a:t>8 frames · 1:05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NV 5.01</a:t>
            </a:r>
            <a:r>
              <a:rPr sz="1400" b="0">
                <a:solidFill>
                  <a:srgbClr val="D8CFC2"/>
                </a:solidFill>
                <a:latin typeface="Calibri"/>
              </a:rPr>
              <a:t>   MED   ·   4.5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5 · Act 5: The GPU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In 1999, Nvidia went public, and launched the GeForce 256.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Stock exchange ticker with NVDA; a gaming PC opens to reveal the card.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1999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Ticker scrolls NVDA; the PC side panel swings open to reveal the card.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NV 5.02</a:t>
            </a:r>
            <a:r>
              <a:rPr sz="1400" b="0">
                <a:solidFill>
                  <a:srgbClr val="D8CFC2"/>
                </a:solidFill>
                <a:latin typeface="Calibri"/>
              </a:rPr>
              <a:t>   CARD   ·   6.0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5 · Act 5: The GPU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It marketed the chip with a new name: the GPU, the graphics processing unit.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Callout card with the three letters.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GPU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Callout card; the three letters stamp in one at a time.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NV 5.03</a:t>
            </a:r>
            <a:r>
              <a:rPr sz="1400" b="0">
                <a:solidFill>
                  <a:srgbClr val="D8CFC2"/>
                </a:solidFill>
                <a:latin typeface="Calibri"/>
              </a:rPr>
              <a:t>   CU   ·   9.8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5 · Act 5: The GPU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The GeForce took over 3D calculations that used to fall on the computer's main processor. Games got smoother, lighting got better, worlds got bigger.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Side by side game frame: blocky 1998 scene vs richer 1999 scene.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—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Split wipe: blocky scene vs richer scene.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NV 5.04</a:t>
            </a:r>
            <a:r>
              <a:rPr sz="1400" b="0">
                <a:solidFill>
                  <a:srgbClr val="D8CFC2"/>
                </a:solidFill>
                <a:latin typeface="Calibri"/>
              </a:rPr>
              <a:t>   WIDE   ·   9.4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5 · Act 5: The GPU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By the early 2000s, Nvidia was the leading name in PC graphics. Gamers, game studios and film effects houses all ran on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Montage: LAN party, game studio desks, a VFX artist's screen.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—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Fast montage: LAN party, studio desks, VFX screen; each 1 s.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NV 5.05</a:t>
            </a:r>
            <a:r>
              <a:rPr sz="1400" b="0">
                <a:solidFill>
                  <a:srgbClr val="D8CFC2"/>
                </a:solidFill>
                <a:latin typeface="Calibri"/>
              </a:rPr>
              <a:t>   MED   ·   6.8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5 · Act 5: The GPU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Nvidia also won the deal to supply the graphics chip for Microsoft's first Xbox in 2001.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Painted living room with a big black console under a TV.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2001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Living room; the console sits under the TV; game light flickers on the walls.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NV 5.06</a:t>
            </a:r>
            <a:r>
              <a:rPr sz="1400" b="0">
                <a:solidFill>
                  <a:srgbClr val="D8CFC2"/>
                </a:solidFill>
                <a:latin typeface="Calibri"/>
              </a:rPr>
              <a:t>   MED   ·   10.9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5 · Act 5: The GPU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Nvidia won partly through speed. Jensen pushed the team to ship a new generation of chips roughly every six months, while rivals took a year or more.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A calendar flips; new chip boxes pop out every six months on Nvidia's side, slower on the rival's side.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EVERY 6 MONTHS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Calendar flips; new chip boxes pop out on Nvidia's side twice as often as the rival's.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NV 5.07</a:t>
            </a:r>
            <a:r>
              <a:rPr sz="1400" b="0">
                <a:solidFill>
                  <a:srgbClr val="D8CFC2"/>
                </a:solidFill>
                <a:latin typeface="Calibri"/>
              </a:rPr>
              <a:t>   MED   ·   7.2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5 · Act 5: The GPU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Its biggest rival, 3dfx, the maker of the Voodoo cards that gamers had loved, couldn't keep up.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A rival office with VOODOO posters goes dark, one light at a time.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3DFX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Rival office lights go dark one at a time.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NV 5.08</a:t>
            </a:r>
            <a:r>
              <a:rPr sz="1400" b="0">
                <a:solidFill>
                  <a:srgbClr val="D8CFC2"/>
                </a:solidFill>
                <a:latin typeface="Calibri"/>
              </a:rPr>
              <a:t>   CU   ·   10.9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5 · Act 5: The GPU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At the end of 2000, Nvidia bought what was left of 3dfx. Five years after the NV1 flop, Nvidia was the company others were trying to catch.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Nvidia staff carry boxes labeled 3DFX PATENTS into their office.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2000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Staff carry 3DFX PATENTS boxes in (carry walk cycles).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880360"/>
            <a:ext cx="10698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3200" b="1">
                <a:solidFill>
                  <a:srgbClr val="F6F1E8"/>
                </a:solidFill>
                <a:latin typeface="Calibri"/>
              </a:rPr>
              <a:t>ACT 6 · ACT 6: TEN THOUSAND INTERNS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2044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0">
                <a:solidFill>
                  <a:srgbClr val="D8CFC2"/>
                </a:solidFill>
                <a:latin typeface="Calibri"/>
              </a:rPr>
              <a:t>9 frames · 1:21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NV 6.01</a:t>
            </a:r>
            <a:r>
              <a:rPr sz="1400" b="0">
                <a:solidFill>
                  <a:srgbClr val="D8CFC2"/>
                </a:solidFill>
                <a:latin typeface="Calibri"/>
              </a:rPr>
              <a:t>   CHART   ·   9.1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6 · Act 6: Ten Thousand Interns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Here's the difference that changed everything. A normal processor is like one very smart worker doing tasks one after another, very fast.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One ink figure works through a stack of papers at speed.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CPU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One figure stamps through a paper stack at speed.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NV 6.02</a:t>
            </a:r>
            <a:r>
              <a:rPr sz="1400" b="0">
                <a:solidFill>
                  <a:srgbClr val="D8CFC2"/>
                </a:solidFill>
                <a:latin typeface="Calibri"/>
              </a:rPr>
              <a:t>   CHART   ·   7.2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6 · Act 6: Ten Thousand Interns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A GPU is like thousands of simple workers, each doing one small calculation at the same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Pull back: a vast hall of tiny figures each stamping one sheet at once.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GPU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Pull back to reveal a vast hall of tiny figures stamping at once.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NV 6.03</a:t>
            </a:r>
            <a:r>
              <a:rPr sz="1400" b="0">
                <a:solidFill>
                  <a:srgbClr val="D8CFC2"/>
                </a:solidFill>
                <a:latin typeface="Calibri"/>
              </a:rPr>
              <a:t>   MED   ·   9.4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6 · Act 6: Ten Thousand Interns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For graphics, that's perfect: every pixel can be worked on at once. But lots of other problems look the same. Weather. Chemistry. Physics.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The hall's papers turn into weather maps, molecules, fluid swirls.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—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The papers turn into weather maps, molecules and fluid swirls.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NV 6.04</a:t>
            </a:r>
            <a:r>
              <a:rPr sz="1400" b="0">
                <a:solidFill>
                  <a:srgbClr val="D8CFC2"/>
                </a:solidFill>
                <a:latin typeface="Calibri"/>
              </a:rPr>
              <a:t>   CARD   ·   7.5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6 · Act 6: Ten Thousand Interns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In 2006 Nvidia announced CUDA, software that let scientists program its graphics chips for any kind of calculation.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Code on a dark screen with the word CUDA.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CUDA · 2006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Code types onto a dark screen; CUDA glows.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NV 6.05</a:t>
            </a:r>
            <a:r>
              <a:rPr sz="1400" b="0">
                <a:solidFill>
                  <a:srgbClr val="D8CFC2"/>
                </a:solidFill>
                <a:latin typeface="Calibri"/>
              </a:rPr>
              <a:t>   MED   ·   8.3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6 · Act 6: Ten Thousand Interns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It was expensive. Every chip had to carry extra hardware for it, and for years, hardly anyone paid for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A finance chart with costs climbing and a flat CUDA revenue line; worried executives.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—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Costs climb, revenue line flat; executives glance at each other.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NV 6.06</a:t>
            </a:r>
            <a:r>
              <a:rPr sz="1400" b="0">
                <a:solidFill>
                  <a:srgbClr val="D8CFC2"/>
                </a:solidFill>
                <a:latin typeface="Calibri"/>
              </a:rPr>
              <a:t>   CU   ·   9.1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6 · Act 6: Ten Thousand Interns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Wall Street didn't like it. Nvidia's share price fell hard after 2008. Jensen kept funding CUDA anyway, and gave it to universities.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Stock line falls; Jensen hands a box of GPUs to a professor.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—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Stock line falls behind him; Jensen hands a box of GPUs to a professor.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NV 6.07</a:t>
            </a:r>
            <a:r>
              <a:rPr sz="1400" b="0">
                <a:solidFill>
                  <a:srgbClr val="D8CFC2"/>
                </a:solidFill>
                <a:latin typeface="Calibri"/>
              </a:rPr>
              <a:t>   MED   ·   12.4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6 · Act 6: Ten Thousand Interns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In 2008 things got worse. A manufacturing defect in some laptop chips forced Nvidia to set aside about two hundred million dollars, and the financial crisis hit at the same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A pile of returned laptops; a ledger with a red -$196M entry.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2008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Returned laptops pile up; red ledger entry writes in.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NV 6.08</a:t>
            </a:r>
            <a:r>
              <a:rPr sz="1400" b="0">
                <a:solidFill>
                  <a:srgbClr val="D8CFC2"/>
                </a:solidFill>
                <a:latin typeface="Calibri"/>
              </a:rPr>
              <a:t>   CHART   ·   11.3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6 · Act 6: Ten Thousand Interns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From its 2007 peak, the stock lost more than three quarters of its value. Investors asked why Nvidia was spending so much on a product almost nobody used.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Share price line drops from a peak to a deep valley.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-80%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Price line drops from the peak into a deep valley.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NV 6.09</a:t>
            </a:r>
            <a:r>
              <a:rPr sz="1400" b="0">
                <a:solidFill>
                  <a:srgbClr val="D8CFC2"/>
                </a:solidFill>
                <a:latin typeface="Calibri"/>
              </a:rPr>
              <a:t>   WIDE   ·   7.5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6 · Act 6: Ten Thousand Interns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He was betting that somewhere, some researcher would find a job only this kind of chip could 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A university lab at night, one student working under a desk lamp.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—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University lab at night; one student under a lamp; quiet.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880360"/>
            <a:ext cx="10698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3200" b="1">
                <a:solidFill>
                  <a:srgbClr val="F6F1E8"/>
                </a:solidFill>
                <a:latin typeface="Calibri"/>
              </a:rPr>
              <a:t>ACT 7 · ACT 7: THE TORONTO MOMENT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2044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0">
                <a:solidFill>
                  <a:srgbClr val="D8CFC2"/>
                </a:solidFill>
                <a:latin typeface="Calibri"/>
              </a:rPr>
              <a:t>10 frames · 1:18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NV 7.01</a:t>
            </a:r>
            <a:r>
              <a:rPr sz="1400" b="0">
                <a:solidFill>
                  <a:srgbClr val="D8CFC2"/>
                </a:solidFill>
                <a:latin typeface="Calibri"/>
              </a:rPr>
              <a:t>   MED   ·   5.3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7 · Act 7: The Toronto Moment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In 2012, that job arrived. It came from the University of Toronto.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Snowy Toronto campus at night; a lit window.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TORONTO · 2012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Snow falls; one lit window; slow push.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NV 7.02</a:t>
            </a:r>
            <a:r>
              <a:rPr sz="1400" b="0">
                <a:solidFill>
                  <a:srgbClr val="D8CFC2"/>
                </a:solidFill>
                <a:latin typeface="Calibri"/>
              </a:rPr>
              <a:t>   MED   ·   6.8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7 · Act 7: The Toronto Moment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A contest called ImageNet asked computer programs to recognise objects in more than a million photos.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A grid of photos: cats, cars, mushrooms, boats, each with a guessing label.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IMAGENET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Photo grid pops in; guessing labels flicker between options.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NV 7.03</a:t>
            </a:r>
            <a:r>
              <a:rPr sz="1400" b="0">
                <a:solidFill>
                  <a:srgbClr val="D8CFC2"/>
                </a:solidFill>
                <a:latin typeface="Calibri"/>
              </a:rPr>
              <a:t>   MED   ·   5.7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7 · Act 7: The Toronto Moment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Most teams hand-designed the features the computer should look for. Edges, textures, shapes.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Researchers drawing edge and texture filters on a chalkboard.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—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Filters draw on the chalkboard as she points.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NV 7.04</a:t>
            </a:r>
            <a:r>
              <a:rPr sz="1400" b="0">
                <a:solidFill>
                  <a:srgbClr val="D8CFC2"/>
                </a:solidFill>
                <a:latin typeface="Calibri"/>
              </a:rPr>
              <a:t>   CU   ·   9.8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7 · Act 7: The Toronto Moment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Alex Krizhevsky, Ilya Sutskever and Geoffrey Hinton did something different. They built a deep neural network and let it learn from the data itself.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Three ink figures at a desk; a layered network diagram grows behind them.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KRIZHEVSKY · SUTSKEVER · HINTON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A layered network diagram grows layer by layer behind them.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NV 7.05</a:t>
            </a:r>
            <a:r>
              <a:rPr sz="1400" b="0">
                <a:solidFill>
                  <a:srgbClr val="D8CFC2"/>
                </a:solidFill>
                <a:latin typeface="Calibri"/>
              </a:rPr>
              <a:t>   PROP3D   ·   9.1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7 · Act 7: The Toronto Moment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Training it took an enormous number of small calculations at once. They ran it on two Nvidia gaming cards, in a bedroom.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Two 3D GeForce GTX 580 cards side by side in a PC, fans spinning.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2 × GTX 580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Two cards in a PC, fans spinning, slight rotation.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NV 7.06</a:t>
            </a:r>
            <a:r>
              <a:rPr sz="1400" b="0">
                <a:solidFill>
                  <a:srgbClr val="D8CFC2"/>
                </a:solidFill>
                <a:latin typeface="Calibri"/>
              </a:rPr>
              <a:t>   CHART   ·   8.7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7 · Act 7: The Toronto Moment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The best rival entry got about twenty-six percent of its top answers wrong. Their network, AlexNet, got about fifteen percent wrong.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Bar chart: 26.2% vs 15.3% error.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26.2% vs 15.3%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Two error bars grow; the AlexNet bar stops much lower; hit.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NV 7.07</a:t>
            </a:r>
            <a:r>
              <a:rPr sz="1400" b="0">
                <a:solidFill>
                  <a:srgbClr val="D8CFC2"/>
                </a:solidFill>
                <a:latin typeface="Calibri"/>
              </a:rPr>
              <a:t>   CU   ·   7.5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7 · Act 7: The Toronto Moment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In a field where progress came in tiny steps, it was a leap. And it ran on Nvidia.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The two cards glow; the counter changes from DAYS OF CASH to MARKET VALUE.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—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Cards glow; the counter label flips and starts climbing.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NV 7.08</a:t>
            </a:r>
            <a:r>
              <a:rPr sz="1400" b="0">
                <a:solidFill>
                  <a:srgbClr val="D8CFC2"/>
                </a:solidFill>
                <a:latin typeface="Calibri"/>
              </a:rPr>
              <a:t>   WIDE   ·   8.7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7 · Act 7: The Toronto Moment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Within a few years, almost every serious AI lab was buying Nvidia chips. The hobby nobody wanted had found its customer.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Labeled buildings light up one by one: GOOGLE, MICROSOFT, META, STANFORD, MIT.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—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Buildings light up one by one as named.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NV 7.09</a:t>
            </a:r>
            <a:r>
              <a:rPr sz="1400" b="0">
                <a:solidFill>
                  <a:srgbClr val="D8CFC2"/>
                </a:solidFill>
                <a:latin typeface="Calibri"/>
              </a:rPr>
              <a:t>   MED   ·   5.3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7 · Act 7: The Toronto Moment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Jensen moved fast. Nvidia began building whole AI computers, not just cards.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3D DGX-1 box, gold front panel, on a pedestal.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DGX-1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The DGX-1 rises on a pedestal; gold panel shines.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NV 7.10</a:t>
            </a:r>
            <a:r>
              <a:rPr sz="1400" b="0">
                <a:solidFill>
                  <a:srgbClr val="D8CFC2"/>
                </a:solidFill>
                <a:latin typeface="Calibri"/>
              </a:rPr>
              <a:t>   CU   ·   11.3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7 · Act 7: The Toronto Moment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In 2016 he personally delivered the first one to a small non-profit lab in San Francisco called OpenAI. He signed it: to the future of computing and humanity.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Jensen carries the box through an office door; staff gather; a marker signature on the lid.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OPENAI · 2016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Jensen carries the box in; staff gather; a marker signature draws on the lid.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880360"/>
            <a:ext cx="10698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3200" b="1">
                <a:solidFill>
                  <a:srgbClr val="F6F1E8"/>
                </a:solidFill>
                <a:latin typeface="Calibri"/>
              </a:rPr>
              <a:t>ACT 8 · ACT 8: THE FIGHTS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2044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0">
                <a:solidFill>
                  <a:srgbClr val="D8CFC2"/>
                </a:solidFill>
                <a:latin typeface="Calibri"/>
              </a:rPr>
              <a:t>7 frames · 0:55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NV 8.01</a:t>
            </a:r>
            <a:r>
              <a:rPr sz="1400" b="0">
                <a:solidFill>
                  <a:srgbClr val="D8CFC2"/>
                </a:solidFill>
                <a:latin typeface="Calibri"/>
              </a:rPr>
              <a:t>   MED   ·   6.4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8 · Act 8: The Fights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Nvidia designs its chips, but doesn't make them. Most are manufactured by TSMC in Taiwan.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Painted TSMC fab in Hsinchu, clean-room workers in white suits.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TSMC · TAIWAN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Clean-room workers in white suits move slowly; yellow light.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NV 8.02</a:t>
            </a:r>
            <a:r>
              <a:rPr sz="1400" b="0">
                <a:solidFill>
                  <a:srgbClr val="D8CFC2"/>
                </a:solidFill>
                <a:latin typeface="Calibri"/>
              </a:rPr>
              <a:t>   MED   ·   9.1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8 · Act 8: The Fights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In 2020, Jensen tried to buy Arm, the British company whose chip designs sit inside almost every smartphone, for forty billion dollars.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A deal card '$40B' between NVIDIA and ARM text tiles; a phone opens to show an Arm core.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$40 BILLION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Deal card slides between the tiles; the phone opens to show an Arm core.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NV 8.03</a:t>
            </a:r>
            <a:r>
              <a:rPr sz="1400" b="0">
                <a:solidFill>
                  <a:srgbClr val="D8CFC2"/>
                </a:solidFill>
                <a:latin typeface="Calibri"/>
              </a:rPr>
              <a:t>   MED   ·   9.8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8 · Act 8: The Fights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The rest of the industry objected. Regulators in America, Britain and Europe opened investigations, and the US Federal Trade Commission sued to block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Three government buildings, each stamping a document.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FTC · UK · EU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Three buildings each stamp a document (three stamp hits).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NV 8.04</a:t>
            </a:r>
            <a:r>
              <a:rPr sz="1400" b="0">
                <a:solidFill>
                  <a:srgbClr val="D8CFC2"/>
                </a:solidFill>
                <a:latin typeface="Calibri"/>
              </a:rPr>
              <a:t>   CU   ·   3.8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8 · Act 8: The Fights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In 2022, Nvidia gave up on the deal.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The deal card tears in half.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DEAL OFF · 2022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The deal card tears in half; paper rip SFX.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NV 8.05</a:t>
            </a:r>
            <a:r>
              <a:rPr sz="1400" b="0">
                <a:solidFill>
                  <a:srgbClr val="D8CFC2"/>
                </a:solidFill>
                <a:latin typeface="Calibri"/>
              </a:rPr>
              <a:t>   MED   ·   8.3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8 · Act 8: The Fights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That same year, the US government banned Nvidia from selling its top AI chips, the A100 and H100, to China.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A Washington memo stamped 'EXPORT CONTROL'; crates of chips stopped at a port.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2022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Memo stamped; crates stop at the port; a barrier drops.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NV 8.06</a:t>
            </a:r>
            <a:r>
              <a:rPr sz="1400" b="0">
                <a:solidFill>
                  <a:srgbClr val="D8CFC2"/>
                </a:solidFill>
                <a:latin typeface="Calibri"/>
              </a:rPr>
              <a:t>   MED   ·   9.4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8 · Act 8: The Fights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Nvidia designed slower versions to fit inside the rules, like the H800. In 2023, Washington tightened the rules and those were blocked too.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A modified chip slides through a gate, then a second gate slams shut.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H800 BLOCKED · 2023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A modified chip slides through the first gate; the second gate slams shut.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NV 8.07</a:t>
            </a:r>
            <a:r>
              <a:rPr sz="1400" b="0">
                <a:solidFill>
                  <a:srgbClr val="D8CFC2"/>
                </a:solidFill>
                <a:latin typeface="Calibri"/>
              </a:rPr>
              <a:t>   CU   ·   9.1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8 · Act 8: The Fights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Nvidia was no longer just a chip company. It had become part of a technology contest between the world's two biggest powers.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A chessboard with US and China pieces; the GPU sits in the middle as a piece.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—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Chessboard; pieces slide; the GPU sits in the middle as a piece.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880360"/>
            <a:ext cx="10698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3200" b="1">
                <a:solidFill>
                  <a:srgbClr val="F6F1E8"/>
                </a:solidFill>
                <a:latin typeface="Calibri"/>
              </a:rPr>
              <a:t>ACT 9 · ACT 9: FIVE TRILLION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2044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0">
                <a:solidFill>
                  <a:srgbClr val="D8CFC2"/>
                </a:solidFill>
                <a:latin typeface="Calibri"/>
              </a:rPr>
              <a:t>10 frames · 1:27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NV 9.01</a:t>
            </a:r>
            <a:r>
              <a:rPr sz="1400" b="0">
                <a:solidFill>
                  <a:srgbClr val="D8CFC2"/>
                </a:solidFill>
                <a:latin typeface="Calibri"/>
              </a:rPr>
              <a:t>   WIDE   ·   7.5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9 · Act 9: Five Trillion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Then, in late 2022, ChatGPT launched, and every tech company on Earth wanted to build its own AI.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A chat window glows on a laptop; crowds of companies rush toward a server hall.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LATE 2022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A chat window glows; crowds of company tiles rush toward the server hall.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NV 9.02</a:t>
            </a:r>
            <a:r>
              <a:rPr sz="1400" b="0">
                <a:solidFill>
                  <a:srgbClr val="D8CFC2"/>
                </a:solidFill>
                <a:latin typeface="Calibri"/>
              </a:rPr>
              <a:t>   MED   ·   7.9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9 · Act 9: Five Trillion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Training those models takes vast data centres full of GPUs. Nvidia's chips, and its CUDA software, were the standard.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Endless rows of server racks with green lights.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—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Endless racks with green lights; slow push down the aisle.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NV 9.03</a:t>
            </a:r>
            <a:r>
              <a:rPr sz="1400" b="0">
                <a:solidFill>
                  <a:srgbClr val="D8CFC2"/>
                </a:solidFill>
                <a:latin typeface="Calibri"/>
              </a:rPr>
              <a:t>   CU   ·   11.3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9 · Act 9: Five Trillion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Seventeen years of CUDA meant that most AI code was already written for Nvidia. Switching to a rival chip wasn't just buying new hardware; it meant rewriting software.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A huge library of code books all stamped CUDA; a rival chip sits alone with an empty shelf.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THE CUDA MOAT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Library of code books stamped CUDA; the rival chip sits by an empty shelf.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NV 9.04</a:t>
            </a:r>
            <a:r>
              <a:rPr sz="1400" b="0">
                <a:solidFill>
                  <a:srgbClr val="D8CFC2"/>
                </a:solidFill>
                <a:latin typeface="Calibri"/>
              </a:rPr>
              <a:t>   CHART   ·   7.9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9 · Act 9: Five Trillion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Nvidia's value climbed in leaps. One trillion dollars in 2023. Three trillion in 2024. Four trillion in July 2025.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Staircase chart with labeled steps $1T, $3T, $4T.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$1T · $3T · $4T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A staircase draws step by step with labels.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NV 9.05</a:t>
            </a:r>
            <a:r>
              <a:rPr sz="1400" b="0">
                <a:solidFill>
                  <a:srgbClr val="D8CFC2"/>
                </a:solidFill>
                <a:latin typeface="Calibri"/>
              </a:rPr>
              <a:t>   PROP3D   ·   6.8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9 · Act 9: Five Trillion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Its newer Blackwell chips were sold out long before the factories could make enough of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3D Blackwell board on a pedestal; an order queue scrolls beside it.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BLACKWELL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Board rotates on a pedestal; the order queue scrolls.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NV 9.06</a:t>
            </a:r>
            <a:r>
              <a:rPr sz="1400" b="0">
                <a:solidFill>
                  <a:srgbClr val="D8CFC2"/>
                </a:solidFill>
                <a:latin typeface="Calibri"/>
              </a:rPr>
              <a:t>   CHART   ·   6.8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9 · Act 9: Five Trillion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On the twenty-ninth of October 2025, Nvidia became the first company ever worth five trillion dollars.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Market-value counter lands on $5T; confetti of tiny chips.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29 OCT 2025 · $5T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Counter lands on $5T; tiny chip confetti falls.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NV 9.07</a:t>
            </a:r>
            <a:r>
              <a:rPr sz="1400" b="0">
                <a:solidFill>
                  <a:srgbClr val="D8CFC2"/>
                </a:solidFill>
                <a:latin typeface="Calibri"/>
              </a:rPr>
              <a:t>   MED   ·   10.6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9 · Act 9: Five Trillion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From a diner booth, a dead-end chip, a favour from Sega, a chip finished with thirty days of cash, and a science project nobody paid for.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Recap strip: Denny's booth, NV1, Tokyo bow, RIVA 128, Toronto lab.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—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Recap strip slides past: booth, NV1, Tokyo bow, RIVA 128, Toronto lab.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NV 9.08</a:t>
            </a:r>
            <a:r>
              <a:rPr sz="1400" b="0">
                <a:solidFill>
                  <a:srgbClr val="D8CFC2"/>
                </a:solidFill>
                <a:latin typeface="Calibri"/>
              </a:rPr>
              <a:t>   CU   ·   6.0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9 · Act 9: Five Trillion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Every one of those bets looked mad at the time. Jensen kept making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Jensen walks into a vast server hall, leather jacket, alone.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—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Jensen walks alone into the hall (walk cycle); camera follows.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NV 9.09</a:t>
            </a:r>
            <a:r>
              <a:rPr sz="1400" b="0">
                <a:solidFill>
                  <a:srgbClr val="D8CFC2"/>
                </a:solidFill>
                <a:latin typeface="Calibri"/>
              </a:rPr>
              <a:t>   MED   ·   13.2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9 · Act 9: Five Trillion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He still runs the company his own way. He has around sixty people reporting directly to him, few one-on-one meetings, and he still talks about the company as if it could die tomorrow.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Jensen in a large open meeting with dozens of staff around a long table.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—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Open meeting; staff around a long table; he gestures; heads turn.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NV 9.10</a:t>
            </a:r>
            <a:r>
              <a:rPr sz="1400" b="0">
                <a:solidFill>
                  <a:srgbClr val="D8CFC2"/>
                </a:solidFill>
                <a:latin typeface="Calibri"/>
              </a:rPr>
              <a:t>   WIDE   ·   9.1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9 · Act 9: Five Trillion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If you want to see who ends up owning a slice of a company like this, watch our story on BlackRock next.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End card with the channel name.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STROMHELL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End card; music resolves.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